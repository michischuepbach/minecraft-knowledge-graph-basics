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8" r:id="rId4"/>
    <p:sldId id="258" r:id="rId5"/>
    <p:sldId id="259" r:id="rId6"/>
    <p:sldId id="269" r:id="rId7"/>
    <p:sldId id="273" r:id="rId8"/>
    <p:sldId id="270" r:id="rId9"/>
    <p:sldId id="263" r:id="rId10"/>
    <p:sldId id="264" r:id="rId11"/>
    <p:sldId id="271" r:id="rId12"/>
    <p:sldId id="27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1356" autoAdjust="0"/>
  </p:normalViewPr>
  <p:slideViewPr>
    <p:cSldViewPr snapToGrid="0" snapToObjects="1">
      <p:cViewPr varScale="1">
        <p:scale>
          <a:sx n="90" d="100"/>
          <a:sy n="90" d="100"/>
        </p:scale>
        <p:origin x="135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1504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8546341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2457685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34095" y="8686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Segoe UI"/>
              </a:defRPr>
            </a:pPr>
            <a:r>
              <a:t>17. September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691640"/>
            <a:ext cx="2926080" cy="347472"/>
          </a:xfrm>
          <a:prstGeom prst="roundRect">
            <a:avLst/>
          </a:prstGeom>
          <a:solidFill>
            <a:srgbClr val="1E293B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284C7"/>
                </a:solidFill>
                <a:latin typeface="Segoe UI"/>
              </a:defRPr>
            </a:pPr>
            <a:r>
              <a:t>W3C RECOMMENDATION 2009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685800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8FAFC"/>
                </a:solidFill>
                <a:latin typeface="Segoe UI"/>
              </a:defRPr>
            </a:pPr>
            <a:r>
              <a:t>W3C SKOS</a:t>
            </a:r>
          </a:p>
          <a:p>
            <a:pPr>
              <a:defRPr sz="2400">
                <a:solidFill>
                  <a:srgbClr val="0284C7"/>
                </a:solidFill>
                <a:latin typeface="Segoe UI"/>
              </a:defRPr>
            </a:pPr>
            <a:r>
              <a:t>Simple Knowledge Organization System</a:t>
            </a:r>
          </a:p>
          <a:p>
            <a:pPr>
              <a:spcBef>
                <a:spcPts val="800"/>
              </a:spcBef>
              <a:defRPr sz="1400">
                <a:solidFill>
                  <a:srgbClr val="64748B"/>
                </a:solidFill>
                <a:latin typeface="Calibri"/>
              </a:defRPr>
            </a:pPr>
            <a:r>
              <a:t>Kontrollierte Vokabulare &amp; Inventar-Taxonomien verständlich modelliert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7052" y="3657600"/>
            <a:ext cx="27432" cy="731519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595360" y="2286000"/>
            <a:ext cx="1371600" cy="38404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284C7"/>
                </a:solidFill>
                <a:latin typeface="Consolas"/>
              </a:defRPr>
            </a:pPr>
            <a:r>
              <a:t>mcskos:Item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3383280"/>
            <a:ext cx="1371600" cy="38404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59669"/>
                </a:solidFill>
                <a:latin typeface="Consolas"/>
              </a:defRPr>
            </a:pPr>
            <a:r>
              <a:t>Tool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64040" y="3390900"/>
            <a:ext cx="1371600" cy="38404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D97706"/>
                </a:solidFill>
                <a:latin typeface="Consolas"/>
              </a:defRPr>
            </a:pPr>
            <a:r>
              <a:t>Block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4389120"/>
            <a:ext cx="1371600" cy="38404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9333EA"/>
                </a:solidFill>
                <a:latin typeface="Consolas"/>
              </a:defRPr>
            </a:pPr>
            <a:r>
              <a:t>Weapon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074920"/>
            <a:ext cx="10362895" cy="1005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43000" y="521208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8FAFC"/>
                </a:solidFill>
                <a:latin typeface="Calibri"/>
              </a:defRPr>
            </a:pPr>
            <a:r>
              <a:t>Michael Schüpbach  |  Bundesamt für Landwirtschaft (BLW) – Team B3</a:t>
            </a:r>
          </a:p>
          <a:p>
            <a:pPr>
              <a:defRPr sz="1050">
                <a:solidFill>
                  <a:srgbClr val="64748B"/>
                </a:solidFill>
                <a:latin typeface="Calibri"/>
              </a:defRPr>
            </a:pPr>
            <a:r>
              <a:t>Repository: minecraft-knowledge-graph-basics  |  Standard: W3C SKOS Reference 2009</a:t>
            </a: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98849108-0061-8636-CB86-357385E8ED12}"/>
              </a:ext>
            </a:extLst>
          </p:cNvPr>
          <p:cNvSpPr/>
          <p:nvPr/>
        </p:nvSpPr>
        <p:spPr>
          <a:xfrm>
            <a:off x="9773412" y="2660904"/>
            <a:ext cx="27432" cy="731519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1">
            <a:extLst>
              <a:ext uri="{FF2B5EF4-FFF2-40B4-BE49-F238E27FC236}">
                <a16:creationId xmlns:a16="http://schemas.microsoft.com/office/drawing/2014/main" id="{38D53F85-FCE2-20D3-7FB8-22E305F15796}"/>
              </a:ext>
            </a:extLst>
          </p:cNvPr>
          <p:cNvSpPr/>
          <p:nvPr/>
        </p:nvSpPr>
        <p:spPr>
          <a:xfrm>
            <a:off x="8917686" y="2651760"/>
            <a:ext cx="27432" cy="731519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4" name="TextBox 4"/>
          <p:cNvSpPr txBox="1"/>
          <p:nvPr/>
        </p:nvSpPr>
        <p:spPr>
          <a:xfrm>
            <a:off x="731520" y="329184"/>
            <a:ext cx="10728655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1000" b="1" dirty="0">
                <a:solidFill>
                  <a:srgbClr val="0284C7"/>
                </a:solidFill>
                <a:latin typeface="Segoe UI"/>
                <a:cs typeface="Segoe UI"/>
              </a:rPr>
              <a:t>W3C SKOS | MINECRAFT KNOWLEDGE GRAPH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1520" y="56692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2200" b="1" dirty="0">
                <a:solidFill>
                  <a:srgbClr val="0F172A"/>
                </a:solidFill>
                <a:latin typeface="Segoe UI"/>
                <a:cs typeface="Segoe UI"/>
              </a:rPr>
              <a:t>Motivation: Was ist wahr – und wo suchen Menschen?</a:t>
            </a:r>
          </a:p>
        </p:txBody>
      </p:sp>
      <p:sp>
        <p:nvSpPr>
          <p:cNvPr id="6" name="Shape 6"/>
          <p:cNvSpPr/>
          <p:nvPr/>
        </p:nvSpPr>
        <p:spPr>
          <a:xfrm>
            <a:off x="731520" y="1280160"/>
            <a:ext cx="5230368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284C7"/>
            </a:solidFill>
          </a:ln>
          <a:effectLst>
            <a:outerShdw blurRad="76200" dist="19050" dir="5400000" algn="t" rotWithShape="0">
              <a:srgbClr val="0F172A">
                <a:alpha val="12000"/>
              </a:srgbClr>
            </a:outerShdw>
          </a:effectLst>
        </p:spPr>
        <p:txBody>
          <a:bodyPr rtlCol="0" anchor="ctr"/>
          <a:lstStyle/>
          <a:p>
            <a:endParaRPr lang="de-CH"/>
          </a:p>
        </p:txBody>
      </p:sp>
      <p:sp>
        <p:nvSpPr>
          <p:cNvPr id="7" name="Shape 7"/>
          <p:cNvSpPr/>
          <p:nvPr/>
        </p:nvSpPr>
        <p:spPr>
          <a:xfrm>
            <a:off x="960120" y="1481328"/>
            <a:ext cx="868680" cy="420624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8" name="TextBox 8"/>
          <p:cNvSpPr txBox="1"/>
          <p:nvPr/>
        </p:nvSpPr>
        <p:spPr>
          <a:xfrm>
            <a:off x="960120" y="1481328"/>
            <a:ext cx="86868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1300" b="1" dirty="0">
                <a:solidFill>
                  <a:srgbClr val="FFFFFF"/>
                </a:solidFill>
                <a:latin typeface="Segoe UI"/>
                <a:cs typeface="Segoe UI"/>
              </a:rPr>
              <a:t>OWL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11680" y="1371600"/>
            <a:ext cx="3767328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de-CH" sz="1500" b="1" dirty="0">
                <a:solidFill>
                  <a:srgbClr val="0F172A"/>
                </a:solidFill>
                <a:latin typeface="Segoe UI"/>
                <a:cs typeface="Segoe UI"/>
              </a:rPr>
              <a:t>Was ist logisch wahr?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1150" b="0" dirty="0">
                <a:solidFill>
                  <a:srgbClr val="64748B"/>
                </a:solidFill>
                <a:latin typeface="Calibri"/>
                <a:cs typeface="Calibri"/>
              </a:rPr>
              <a:t>Maschinen ziehen aus Regeln neue Schlüsse</a:t>
            </a:r>
          </a:p>
        </p:txBody>
      </p:sp>
      <p:sp>
        <p:nvSpPr>
          <p:cNvPr id="10" name="Shape 10"/>
          <p:cNvSpPr/>
          <p:nvPr/>
        </p:nvSpPr>
        <p:spPr>
          <a:xfrm>
            <a:off x="6236208" y="1280160"/>
            <a:ext cx="5230368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59669"/>
            </a:solidFill>
          </a:ln>
          <a:effectLst>
            <a:outerShdw blurRad="76200" dist="19050" dir="5400000" algn="t" rotWithShape="0">
              <a:srgbClr val="0F172A">
                <a:alpha val="12000"/>
              </a:srgbClr>
            </a:outerShdw>
          </a:effectLst>
        </p:spPr>
        <p:txBody>
          <a:bodyPr rtlCol="0" anchor="ctr"/>
          <a:lstStyle/>
          <a:p>
            <a:endParaRPr lang="de-CH"/>
          </a:p>
        </p:txBody>
      </p:sp>
      <p:sp>
        <p:nvSpPr>
          <p:cNvPr id="11" name="Shape 11"/>
          <p:cNvSpPr/>
          <p:nvPr/>
        </p:nvSpPr>
        <p:spPr>
          <a:xfrm>
            <a:off x="6464808" y="1481328"/>
            <a:ext cx="868680" cy="420624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12" name="TextBox 12"/>
          <p:cNvSpPr txBox="1"/>
          <p:nvPr/>
        </p:nvSpPr>
        <p:spPr>
          <a:xfrm>
            <a:off x="6464808" y="1481328"/>
            <a:ext cx="86868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1300" b="1" dirty="0">
                <a:solidFill>
                  <a:srgbClr val="FFFFFF"/>
                </a:solidFill>
                <a:latin typeface="Segoe UI"/>
                <a:cs typeface="Segoe UI"/>
              </a:rPr>
              <a:t>SKOS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16368" y="1371600"/>
            <a:ext cx="3767328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de-CH" sz="1500" b="1" dirty="0">
                <a:solidFill>
                  <a:srgbClr val="0F172A"/>
                </a:solidFill>
                <a:latin typeface="Segoe UI"/>
                <a:cs typeface="Segoe UI"/>
              </a:rPr>
              <a:t>Wie finden Menschen es?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1150" b="0" dirty="0">
                <a:solidFill>
                  <a:srgbClr val="64748B"/>
                </a:solidFill>
                <a:latin typeface="Calibri"/>
                <a:cs typeface="Calibri"/>
              </a:rPr>
              <a:t>Menschen suchen, benennen und navigieren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31520" y="22402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1300" b="1" dirty="0">
                <a:solidFill>
                  <a:srgbClr val="0F172A"/>
                </a:solidFill>
                <a:latin typeface="Segoe UI"/>
                <a:cs typeface="Segoe UI"/>
              </a:rPr>
              <a:t>Dieselbe Einordnung, zwei Folgen:  </a:t>
            </a:r>
            <a:r>
              <a:rPr lang="de-CH" sz="1300" b="1" dirty="0">
                <a:solidFill>
                  <a:srgbClr val="0284C7"/>
                </a:solidFill>
                <a:latin typeface="Segoe UI"/>
                <a:cs typeface="Segoe UI"/>
              </a:rPr>
              <a:t>„Elytren gehören zur Rüstung“</a:t>
            </a:r>
          </a:p>
        </p:txBody>
      </p:sp>
      <p:sp>
        <p:nvSpPr>
          <p:cNvPr id="15" name="Shape 15"/>
          <p:cNvSpPr/>
          <p:nvPr/>
        </p:nvSpPr>
        <p:spPr>
          <a:xfrm>
            <a:off x="731520" y="2651760"/>
            <a:ext cx="5230368" cy="1965960"/>
          </a:xfrm>
          <a:prstGeom prst="roundRect">
            <a:avLst>
              <a:gd name="adj" fmla="val 6000"/>
            </a:avLst>
          </a:prstGeom>
          <a:solidFill>
            <a:srgbClr val="0A0F1E"/>
          </a:solidFill>
          <a:ln>
            <a:noFill/>
          </a:ln>
          <a:effectLst>
            <a:outerShdw blurRad="76200" dist="19050" dir="5400000" algn="t" rotWithShape="0">
              <a:srgbClr val="0F172A">
                <a:alpha val="12000"/>
              </a:srgbClr>
            </a:outerShdw>
          </a:effectLst>
        </p:spPr>
        <p:txBody>
          <a:bodyPr rtlCol="0" anchor="ctr"/>
          <a:lstStyle/>
          <a:p>
            <a:endParaRPr lang="de-CH"/>
          </a:p>
        </p:txBody>
      </p:sp>
      <p:sp>
        <p:nvSpPr>
          <p:cNvPr id="16" name="Oval 16"/>
          <p:cNvSpPr/>
          <p:nvPr/>
        </p:nvSpPr>
        <p:spPr>
          <a:xfrm>
            <a:off x="960120" y="2834640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17" name="Oval 17"/>
          <p:cNvSpPr/>
          <p:nvPr/>
        </p:nvSpPr>
        <p:spPr>
          <a:xfrm>
            <a:off x="1143000" y="2834640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18" name="Oval 18"/>
          <p:cNvSpPr/>
          <p:nvPr/>
        </p:nvSpPr>
        <p:spPr>
          <a:xfrm>
            <a:off x="1325880" y="283464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19" name="TextBox 19"/>
          <p:cNvSpPr txBox="1"/>
          <p:nvPr/>
        </p:nvSpPr>
        <p:spPr>
          <a:xfrm>
            <a:off x="1645920" y="2770632"/>
            <a:ext cx="408736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de-CH" sz="950" b="1" dirty="0">
                <a:solidFill>
                  <a:srgbClr val="94A3B8"/>
                </a:solidFill>
                <a:latin typeface="Consolas"/>
                <a:cs typeface="Consolas"/>
              </a:rPr>
              <a:t>OWL  |  KLASSEN &amp; AXIOME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05840" y="3127248"/>
            <a:ext cx="4773168" cy="1417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de-CH" sz="1150" b="0" dirty="0">
                <a:solidFill>
                  <a:srgbClr val="94A3B8"/>
                </a:solidFill>
                <a:latin typeface="Consolas"/>
                <a:cs typeface="Consolas"/>
              </a:rPr>
              <a:t># Regel: Jede Rüstung hat Schutzwert &gt; 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de-CH" sz="1150" b="0" dirty="0">
                <a:solidFill>
                  <a:srgbClr val="E2E8F0"/>
                </a:solidFill>
                <a:latin typeface="Consolas"/>
                <a:cs typeface="Consolas"/>
              </a:rPr>
              <a:t>:Ruestung rdfs:subClassOf :HatSchutzwert 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de-CH" sz="1150" b="0" dirty="0">
                <a:solidFill>
                  <a:srgbClr val="E2E8F0"/>
                </a:solidFill>
                <a:latin typeface="Consolas"/>
                <a:cs typeface="Consolas"/>
              </a:rPr>
              <a:t>:Elytren  rdfs:subClassOf :Ruestung 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de-CH" sz="1150" b="0" dirty="0">
                <a:solidFill>
                  <a:srgbClr val="E2E8F0"/>
                </a:solidFill>
                <a:latin typeface="Consolas"/>
                <a:cs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de-CH" sz="1150" b="0" dirty="0">
                <a:solidFill>
                  <a:srgbClr val="94A3B8"/>
                </a:solidFill>
                <a:latin typeface="Consolas"/>
                <a:cs typeface="Consolas"/>
              </a:rPr>
              <a:t># Reasoner folgert automatisch: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de-CH" sz="1150" b="0" dirty="0">
                <a:solidFill>
                  <a:srgbClr val="94A3B8"/>
                </a:solidFill>
                <a:latin typeface="Consolas"/>
                <a:cs typeface="Consolas"/>
              </a:rPr>
              <a:t># :Elytren rdfs:subClassOf :HatSchutzwert</a:t>
            </a:r>
          </a:p>
        </p:txBody>
      </p:sp>
      <p:sp>
        <p:nvSpPr>
          <p:cNvPr id="21" name="Shape 21"/>
          <p:cNvSpPr/>
          <p:nvPr/>
        </p:nvSpPr>
        <p:spPr>
          <a:xfrm>
            <a:off x="6236208" y="2651760"/>
            <a:ext cx="5230368" cy="1965960"/>
          </a:xfrm>
          <a:prstGeom prst="roundRect">
            <a:avLst>
              <a:gd name="adj" fmla="val 6000"/>
            </a:avLst>
          </a:prstGeom>
          <a:solidFill>
            <a:srgbClr val="0A0F1E"/>
          </a:solidFill>
          <a:ln>
            <a:noFill/>
          </a:ln>
          <a:effectLst>
            <a:outerShdw blurRad="76200" dist="19050" dir="5400000" algn="t" rotWithShape="0">
              <a:srgbClr val="0F172A">
                <a:alpha val="12000"/>
              </a:srgbClr>
            </a:outerShdw>
          </a:effectLst>
        </p:spPr>
        <p:txBody>
          <a:bodyPr rtlCol="0" anchor="ctr"/>
          <a:lstStyle/>
          <a:p>
            <a:endParaRPr lang="de-CH"/>
          </a:p>
        </p:txBody>
      </p:sp>
      <p:sp>
        <p:nvSpPr>
          <p:cNvPr id="22" name="Oval 22"/>
          <p:cNvSpPr/>
          <p:nvPr/>
        </p:nvSpPr>
        <p:spPr>
          <a:xfrm>
            <a:off x="6464808" y="2834640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23" name="Oval 23"/>
          <p:cNvSpPr/>
          <p:nvPr/>
        </p:nvSpPr>
        <p:spPr>
          <a:xfrm>
            <a:off x="6647688" y="2834640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24" name="Oval 24"/>
          <p:cNvSpPr/>
          <p:nvPr/>
        </p:nvSpPr>
        <p:spPr>
          <a:xfrm>
            <a:off x="6830568" y="283464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25" name="TextBox 25"/>
          <p:cNvSpPr txBox="1"/>
          <p:nvPr/>
        </p:nvSpPr>
        <p:spPr>
          <a:xfrm>
            <a:off x="7150608" y="2770632"/>
            <a:ext cx="408736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de-CH" sz="950" b="1" dirty="0">
                <a:solidFill>
                  <a:srgbClr val="94A3B8"/>
                </a:solidFill>
                <a:latin typeface="Consolas"/>
                <a:cs typeface="Consolas"/>
              </a:rPr>
              <a:t>SKOS  |  BEGRIFFE &amp; ORDNUNG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510528" y="3127248"/>
            <a:ext cx="4773168" cy="1417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de-CH" sz="1150" b="0" dirty="0">
                <a:solidFill>
                  <a:srgbClr val="94A3B8"/>
                </a:solidFill>
                <a:latin typeface="Consolas"/>
                <a:cs typeface="Consolas"/>
              </a:rPr>
              <a:t># Einordnung für das Inventar-Menü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de-CH" sz="1150" b="0" dirty="0">
                <a:solidFill>
                  <a:srgbClr val="E2E8F0"/>
                </a:solidFill>
                <a:latin typeface="Consolas"/>
                <a:cs typeface="Consolas"/>
              </a:rPr>
              <a:t>:Elytren skos:broader :Ruestung 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de-CH" sz="1150" b="0" dirty="0">
                <a:solidFill>
                  <a:srgbClr val="E2E8F0"/>
                </a:solidFill>
                <a:latin typeface="Consolas"/>
                <a:cs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de-CH" sz="1150" b="0" dirty="0">
                <a:solidFill>
                  <a:srgbClr val="94A3B8"/>
                </a:solidFill>
                <a:latin typeface="Consolas"/>
                <a:cs typeface="Consolas"/>
              </a:rPr>
              <a:t># Bedeutung: „ist enger gefasst als“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de-CH" sz="1150" b="0" dirty="0">
                <a:solidFill>
                  <a:srgbClr val="94A3B8"/>
                </a:solidFill>
                <a:latin typeface="Consolas"/>
                <a:cs typeface="Consolas"/>
              </a:rPr>
              <a:t># Keine Vererbung, keine Folgerung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de-CH" sz="1150" b="0" dirty="0">
                <a:solidFill>
                  <a:srgbClr val="94A3B8"/>
                </a:solidFill>
                <a:latin typeface="Consolas"/>
                <a:cs typeface="Consolas"/>
              </a:rPr>
              <a:t># → erscheint im Reiter „Rüstung“</a:t>
            </a:r>
          </a:p>
        </p:txBody>
      </p:sp>
      <p:sp>
        <p:nvSpPr>
          <p:cNvPr id="27" name="Shape 27"/>
          <p:cNvSpPr/>
          <p:nvPr/>
        </p:nvSpPr>
        <p:spPr>
          <a:xfrm>
            <a:off x="731520" y="4754880"/>
            <a:ext cx="5230368" cy="914400"/>
          </a:xfrm>
          <a:prstGeom prst="roundRect">
            <a:avLst>
              <a:gd name="adj" fmla="val 10000"/>
            </a:avLst>
          </a:prstGeom>
          <a:solidFill>
            <a:srgbClr val="FEF2F2"/>
          </a:solidFill>
          <a:ln w="15240">
            <a:solidFill>
              <a:srgbClr val="DC2626"/>
            </a:solidFill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28" name="TextBox 28"/>
          <p:cNvSpPr txBox="1"/>
          <p:nvPr/>
        </p:nvSpPr>
        <p:spPr>
          <a:xfrm>
            <a:off x="960120" y="4818888"/>
            <a:ext cx="4773168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de-CH" sz="1300" b="1" dirty="0">
                <a:solidFill>
                  <a:srgbClr val="DC2626"/>
                </a:solidFill>
                <a:latin typeface="Segoe UI"/>
                <a:cs typeface="Segoe UI"/>
              </a:rPr>
              <a:t>✗  Falsches Wissen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1150" b="0" dirty="0">
                <a:solidFill>
                  <a:srgbClr val="1E293B"/>
                </a:solidFill>
                <a:latin typeface="Calibri"/>
                <a:cs typeface="Calibri"/>
              </a:rPr>
              <a:t>Elytren hätten plötzlich Schutzwirkung. Im Spiel geben sie aber 0 Rüstungspunkte. Die Logik zwingt uns, den Katalog umzubauen.</a:t>
            </a:r>
          </a:p>
        </p:txBody>
      </p:sp>
      <p:sp>
        <p:nvSpPr>
          <p:cNvPr id="29" name="Shape 29"/>
          <p:cNvSpPr/>
          <p:nvPr/>
        </p:nvSpPr>
        <p:spPr>
          <a:xfrm>
            <a:off x="6236208" y="4754880"/>
            <a:ext cx="5230368" cy="91440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5240">
            <a:solidFill>
              <a:srgbClr val="059669"/>
            </a:solidFill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30" name="TextBox 30"/>
          <p:cNvSpPr txBox="1"/>
          <p:nvPr/>
        </p:nvSpPr>
        <p:spPr>
          <a:xfrm>
            <a:off x="6464808" y="4818888"/>
            <a:ext cx="4773168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de-CH" sz="1300" b="1" dirty="0">
                <a:solidFill>
                  <a:srgbClr val="059669"/>
                </a:solidFill>
                <a:latin typeface="Segoe UI"/>
                <a:cs typeface="Segoe UI"/>
              </a:rPr>
              <a:t>✔  Genau das, was das Menü braucht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1150" b="0" dirty="0">
                <a:solidFill>
                  <a:srgbClr val="1E293B"/>
                </a:solidFill>
                <a:latin typeface="Calibri"/>
                <a:cs typeface="Calibri"/>
              </a:rPr>
              <a:t>Elytren liegen dort, wo Spieler sie suchen. Es entstehen keine falschen Fakten, der Katalog bleibt, wie er ist.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4" name="TextBox 4"/>
          <p:cNvSpPr txBox="1"/>
          <p:nvPr/>
        </p:nvSpPr>
        <p:spPr>
          <a:xfrm>
            <a:off x="731520" y="329184"/>
            <a:ext cx="10728655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1000" b="1" dirty="0">
                <a:solidFill>
                  <a:srgbClr val="0284C7"/>
                </a:solidFill>
                <a:latin typeface="Segoe UI"/>
                <a:cs typeface="Segoe UI"/>
              </a:rPr>
              <a:t>W3C SKOS | MINECRAFT KNOWLEDGE GRAPH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1520" y="56692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2200" b="1" dirty="0">
                <a:solidFill>
                  <a:srgbClr val="0F172A"/>
                </a:solidFill>
                <a:latin typeface="Segoe UI"/>
                <a:cs typeface="Segoe UI"/>
              </a:rPr>
              <a:t>Wofür brauchen wir SKOS konkret?</a:t>
            </a:r>
          </a:p>
        </p:txBody>
      </p:sp>
      <p:sp>
        <p:nvSpPr>
          <p:cNvPr id="6" name="Shape 6"/>
          <p:cNvSpPr/>
          <p:nvPr/>
        </p:nvSpPr>
        <p:spPr>
          <a:xfrm>
            <a:off x="731520" y="1280160"/>
            <a:ext cx="329184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284C7"/>
            </a:solidFill>
          </a:ln>
          <a:effectLst>
            <a:outerShdw blurRad="76200" dist="19050" dir="5400000" algn="t" rotWithShape="0">
              <a:srgbClr val="0F172A">
                <a:alpha val="12000"/>
              </a:srgbClr>
            </a:outerShdw>
          </a:effectLst>
        </p:spPr>
        <p:txBody>
          <a:bodyPr rtlCol="0" anchor="ctr"/>
          <a:lstStyle/>
          <a:p>
            <a:endParaRPr lang="de-CH"/>
          </a:p>
        </p:txBody>
      </p:sp>
      <p:sp>
        <p:nvSpPr>
          <p:cNvPr id="7" name="Oval 7"/>
          <p:cNvSpPr/>
          <p:nvPr/>
        </p:nvSpPr>
        <p:spPr>
          <a:xfrm>
            <a:off x="1005840" y="1554480"/>
            <a:ext cx="502920" cy="50292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8" name="TextBox 8"/>
          <p:cNvSpPr txBox="1"/>
          <p:nvPr/>
        </p:nvSpPr>
        <p:spPr>
          <a:xfrm>
            <a:off x="1005840" y="15544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1600" b="1" dirty="0">
                <a:solidFill>
                  <a:srgbClr val="FFFFFF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45920" y="1554480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1400" b="1" dirty="0">
                <a:solidFill>
                  <a:srgbClr val="0F172A"/>
                </a:solidFill>
                <a:latin typeface="Segoe UI"/>
                <a:cs typeface="Segoe UI"/>
              </a:rPr>
              <a:t>Ein Begriff, viele Namen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05840" y="2194560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1200" b="0" dirty="0">
                <a:solidFill>
                  <a:srgbClr val="1E293B"/>
                </a:solidFill>
                <a:latin typeface="Calibri"/>
                <a:cs typeface="Calibri"/>
              </a:rPr>
              <a:t>Synonyme, Slang und alte Bezeichnungen führen zum selben Begriff: Auch „Kaktusgrün“ findet den Grünen Farbstoff.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05840" y="310896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1000" b="1" dirty="0">
                <a:solidFill>
                  <a:srgbClr val="0284C7"/>
                </a:solidFill>
                <a:latin typeface="Segoe UI"/>
                <a:cs typeface="Segoe UI"/>
              </a:rPr>
              <a:t>→ Folie Lexikalische Schicht</a:t>
            </a:r>
          </a:p>
        </p:txBody>
      </p:sp>
      <p:sp>
        <p:nvSpPr>
          <p:cNvPr id="12" name="Shape 12"/>
          <p:cNvSpPr/>
          <p:nvPr/>
        </p:nvSpPr>
        <p:spPr>
          <a:xfrm>
            <a:off x="4297680" y="1280160"/>
            <a:ext cx="329184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59669"/>
            </a:solidFill>
          </a:ln>
          <a:effectLst>
            <a:outerShdw blurRad="76200" dist="19050" dir="5400000" algn="t" rotWithShape="0">
              <a:srgbClr val="0F172A">
                <a:alpha val="12000"/>
              </a:srgbClr>
            </a:outerShdw>
          </a:effectLst>
        </p:spPr>
        <p:txBody>
          <a:bodyPr rtlCol="0" anchor="ctr"/>
          <a:lstStyle/>
          <a:p>
            <a:endParaRPr lang="de-CH"/>
          </a:p>
        </p:txBody>
      </p:sp>
      <p:sp>
        <p:nvSpPr>
          <p:cNvPr id="13" name="Oval 13"/>
          <p:cNvSpPr/>
          <p:nvPr/>
        </p:nvSpPr>
        <p:spPr>
          <a:xfrm>
            <a:off x="4572000" y="1554480"/>
            <a:ext cx="502920" cy="50292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14" name="TextBox 14"/>
          <p:cNvSpPr txBox="1"/>
          <p:nvPr/>
        </p:nvSpPr>
        <p:spPr>
          <a:xfrm>
            <a:off x="4572000" y="15544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1600" b="1" dirty="0">
                <a:solidFill>
                  <a:srgbClr val="FFFFFF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212080" y="1554480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1400" b="1" dirty="0">
                <a:solidFill>
                  <a:srgbClr val="0F172A"/>
                </a:solidFill>
                <a:latin typeface="Segoe UI"/>
                <a:cs typeface="Segoe UI"/>
              </a:rPr>
              <a:t>Menüs &amp; Filterbäume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572000" y="2194560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1200" b="0" dirty="0">
                <a:solidFill>
                  <a:srgbClr val="1E293B"/>
                </a:solidFill>
                <a:latin typeface="Calibri"/>
                <a:cs typeface="Calibri"/>
              </a:rPr>
              <a:t>Kategorien steuern Reiter und Navigation, ohne dass jede Einordnung ein logisches Gesetz sein muss.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572000" y="310896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1000" b="1" dirty="0">
                <a:solidFill>
                  <a:srgbClr val="059669"/>
                </a:solidFill>
                <a:latin typeface="Segoe UI"/>
                <a:cs typeface="Segoe UI"/>
              </a:rPr>
              <a:t>→ Folie Inventar-Menü</a:t>
            </a:r>
          </a:p>
        </p:txBody>
      </p:sp>
      <p:sp>
        <p:nvSpPr>
          <p:cNvPr id="18" name="Shape 18"/>
          <p:cNvSpPr/>
          <p:nvPr/>
        </p:nvSpPr>
        <p:spPr>
          <a:xfrm>
            <a:off x="731520" y="3794760"/>
            <a:ext cx="329184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97706"/>
            </a:solidFill>
          </a:ln>
          <a:effectLst>
            <a:outerShdw blurRad="76200" dist="19050" dir="5400000" algn="t" rotWithShape="0">
              <a:srgbClr val="0F172A">
                <a:alpha val="12000"/>
              </a:srgbClr>
            </a:outerShdw>
          </a:effectLst>
        </p:spPr>
        <p:txBody>
          <a:bodyPr rtlCol="0" anchor="ctr"/>
          <a:lstStyle/>
          <a:p>
            <a:endParaRPr lang="de-CH"/>
          </a:p>
        </p:txBody>
      </p:sp>
      <p:sp>
        <p:nvSpPr>
          <p:cNvPr id="19" name="Oval 19"/>
          <p:cNvSpPr/>
          <p:nvPr/>
        </p:nvSpPr>
        <p:spPr>
          <a:xfrm>
            <a:off x="1005840" y="4069080"/>
            <a:ext cx="502920" cy="50292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20" name="TextBox 20"/>
          <p:cNvSpPr txBox="1"/>
          <p:nvPr/>
        </p:nvSpPr>
        <p:spPr>
          <a:xfrm>
            <a:off x="1005840" y="40690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1600" b="1" dirty="0">
                <a:solidFill>
                  <a:srgbClr val="FFFFFF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45920" y="4069080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1400" b="1" dirty="0">
                <a:solidFill>
                  <a:srgbClr val="0F172A"/>
                </a:solidFill>
                <a:latin typeface="Segoe UI"/>
                <a:cs typeface="Segoe UI"/>
              </a:rPr>
              <a:t>Bestehende Listen übernehmen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05840" y="4709160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1200" b="0" dirty="0">
                <a:solidFill>
                  <a:srgbClr val="1E293B"/>
                </a:solidFill>
                <a:latin typeface="Calibri"/>
                <a:cs typeface="Calibri"/>
              </a:rPr>
              <a:t>Gewachsene Fachlisten und Thesauri lassen sich so abbilden, wie sie sind, ohne logischen Umbau.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05840" y="562356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1000" b="1" dirty="0">
                <a:solidFill>
                  <a:srgbClr val="D97706"/>
                </a:solidFill>
                <a:latin typeface="Segoe UI"/>
                <a:cs typeface="Segoe UI"/>
              </a:rPr>
              <a:t>→ Beispiel: AGROVOC</a:t>
            </a:r>
          </a:p>
        </p:txBody>
      </p:sp>
      <p:sp>
        <p:nvSpPr>
          <p:cNvPr id="24" name="Shape 24"/>
          <p:cNvSpPr/>
          <p:nvPr/>
        </p:nvSpPr>
        <p:spPr>
          <a:xfrm>
            <a:off x="4297680" y="3794760"/>
            <a:ext cx="329184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  <a:effectLst>
            <a:outerShdw blurRad="76200" dist="19050" dir="5400000" algn="t" rotWithShape="0">
              <a:srgbClr val="0F172A">
                <a:alpha val="12000"/>
              </a:srgbClr>
            </a:outerShdw>
          </a:effectLst>
        </p:spPr>
        <p:txBody>
          <a:bodyPr rtlCol="0" anchor="ctr"/>
          <a:lstStyle/>
          <a:p>
            <a:endParaRPr lang="de-CH"/>
          </a:p>
        </p:txBody>
      </p:sp>
      <p:sp>
        <p:nvSpPr>
          <p:cNvPr id="25" name="Oval 25"/>
          <p:cNvSpPr/>
          <p:nvPr/>
        </p:nvSpPr>
        <p:spPr>
          <a:xfrm>
            <a:off x="4572000" y="4069080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26" name="TextBox 26"/>
          <p:cNvSpPr txBox="1"/>
          <p:nvPr/>
        </p:nvSpPr>
        <p:spPr>
          <a:xfrm>
            <a:off x="4572000" y="40690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1600" b="1" dirty="0">
                <a:solidFill>
                  <a:srgbClr val="FFFFFF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212080" y="4069080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1400" b="1" dirty="0">
                <a:solidFill>
                  <a:srgbClr val="0F172A"/>
                </a:solidFill>
                <a:latin typeface="Segoe UI"/>
                <a:cs typeface="Segoe UI"/>
              </a:rPr>
              <a:t>Mehrsprachig &amp; vernetzt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572000" y="4709160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1200" b="0" dirty="0">
                <a:solidFill>
                  <a:srgbClr val="1E293B"/>
                </a:solidFill>
                <a:latin typeface="Calibri"/>
                <a:cs typeface="Calibri"/>
              </a:rPr>
              <a:t>Ein Begriff, viele Namen pro Sprache. Mappings verbinden unser Vokabular mit externen Katalogen.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572000" y="562356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1000" b="1" dirty="0">
                <a:solidFill>
                  <a:srgbClr val="7C3AED"/>
                </a:solidFill>
                <a:latin typeface="Segoe UI"/>
                <a:cs typeface="Segoe UI"/>
              </a:rPr>
              <a:t>→ Folie Sammlungen &amp; Vernetzung</a:t>
            </a:r>
          </a:p>
        </p:txBody>
      </p:sp>
      <p:sp>
        <p:nvSpPr>
          <p:cNvPr id="30" name="Shape 30"/>
          <p:cNvSpPr/>
          <p:nvPr/>
        </p:nvSpPr>
        <p:spPr>
          <a:xfrm>
            <a:off x="7863840" y="1280160"/>
            <a:ext cx="3596335" cy="278892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>
            <a:outerShdw blurRad="76200" dist="19050" dir="5400000" algn="t" rotWithShape="0">
              <a:srgbClr val="0F172A">
                <a:alpha val="12000"/>
              </a:srgbClr>
            </a:outerShdw>
          </a:effectLst>
        </p:spPr>
        <p:txBody>
          <a:bodyPr rtlCol="0" anchor="ctr"/>
          <a:lstStyle/>
          <a:p>
            <a:endParaRPr lang="de-CH"/>
          </a:p>
        </p:txBody>
      </p:sp>
      <p:sp>
        <p:nvSpPr>
          <p:cNvPr id="31" name="TextBox 31"/>
          <p:cNvSpPr txBox="1"/>
          <p:nvPr/>
        </p:nvSpPr>
        <p:spPr>
          <a:xfrm>
            <a:off x="8138160" y="1481328"/>
            <a:ext cx="3047695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1100" b="1" dirty="0">
                <a:solidFill>
                  <a:srgbClr val="7DD3FC"/>
                </a:solidFill>
                <a:latin typeface="Segoe UI"/>
                <a:cs typeface="Segoe UI"/>
              </a:rPr>
              <a:t>FAUSTREGEL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138160" y="1874520"/>
            <a:ext cx="2179015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1250" b="1" dirty="0">
                <a:solidFill>
                  <a:srgbClr val="FFFFFF"/>
                </a:solidFill>
                <a:latin typeface="Calibri"/>
                <a:cs typeface="Calibri"/>
              </a:rPr>
              <a:t>Soll eine Maschine daraus neues Wissen ableiten?</a:t>
            </a:r>
          </a:p>
        </p:txBody>
      </p:sp>
      <p:sp>
        <p:nvSpPr>
          <p:cNvPr id="33" name="Shape 33"/>
          <p:cNvSpPr/>
          <p:nvPr/>
        </p:nvSpPr>
        <p:spPr>
          <a:xfrm>
            <a:off x="10408615" y="2057400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34" name="TextBox 34"/>
          <p:cNvSpPr txBox="1"/>
          <p:nvPr/>
        </p:nvSpPr>
        <p:spPr>
          <a:xfrm>
            <a:off x="10408615" y="2057400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1200" b="1" dirty="0">
                <a:solidFill>
                  <a:srgbClr val="FFFFFF"/>
                </a:solidFill>
                <a:latin typeface="Segoe UI"/>
                <a:cs typeface="Segoe UI"/>
              </a:rPr>
              <a:t>OWL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138160" y="2743200"/>
            <a:ext cx="2179015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1250" b="1" dirty="0">
                <a:solidFill>
                  <a:srgbClr val="FFFFFF"/>
                </a:solidFill>
                <a:latin typeface="Calibri"/>
                <a:cs typeface="Calibri"/>
              </a:rPr>
              <a:t>Sollen Menschen Begriffe finden, benennen und ordnen?</a:t>
            </a:r>
          </a:p>
        </p:txBody>
      </p:sp>
      <p:sp>
        <p:nvSpPr>
          <p:cNvPr id="36" name="Shape 36"/>
          <p:cNvSpPr/>
          <p:nvPr/>
        </p:nvSpPr>
        <p:spPr>
          <a:xfrm>
            <a:off x="10408615" y="2926080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37" name="TextBox 37"/>
          <p:cNvSpPr txBox="1"/>
          <p:nvPr/>
        </p:nvSpPr>
        <p:spPr>
          <a:xfrm>
            <a:off x="10408615" y="2926080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1200" b="1" dirty="0">
                <a:solidFill>
                  <a:srgbClr val="FFFFFF"/>
                </a:solidFill>
                <a:latin typeface="Segoe UI"/>
                <a:cs typeface="Segoe UI"/>
              </a:rPr>
              <a:t>SKOS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138160" y="3566160"/>
            <a:ext cx="3047695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1050" b="0" dirty="0">
                <a:solidFill>
                  <a:srgbClr val="94A3B8"/>
                </a:solidFill>
                <a:latin typeface="Calibri"/>
                <a:cs typeface="Calibri"/>
              </a:rPr>
              <a:t>Kein Entweder-oder: Beide lassen sich im selben Wissensgraphen kombinieren.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138160" y="4526280"/>
            <a:ext cx="3047695" cy="1371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endParaRPr lang="de-CH" sz="1100" b="0" dirty="0">
              <a:solidFill>
                <a:srgbClr val="1E293B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W3C SKOS | MINECRAFT KNOWLEDGE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Grundstruktur: Schema &amp; Einstiegspunkte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338328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3108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rPr dirty="0"/>
              <a:t>1. </a:t>
            </a:r>
            <a:r>
              <a:rPr dirty="0" err="1"/>
              <a:t>Katalog</a:t>
            </a:r>
            <a:r>
              <a:rPr dirty="0"/>
              <a:t>-Dach</a:t>
            </a:r>
          </a:p>
          <a:p>
            <a:pPr>
              <a:defRPr sz="1050" b="1">
                <a:solidFill>
                  <a:srgbClr val="0F172A"/>
                </a:solidFill>
                <a:latin typeface="Consolas"/>
              </a:defRPr>
            </a:pPr>
            <a:r>
              <a:rPr dirty="0" err="1"/>
              <a:t>mcskos:MinecraftItemTaxonomy</a:t>
            </a:r>
            <a:endParaRPr dirty="0"/>
          </a:p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rPr dirty="0" err="1"/>
              <a:t>Umfasst</a:t>
            </a:r>
            <a:r>
              <a:rPr dirty="0"/>
              <a:t> alle Items </a:t>
            </a:r>
            <a:r>
              <a:rPr dirty="0" err="1"/>
              <a:t>als</a:t>
            </a:r>
            <a:r>
              <a:rPr dirty="0"/>
              <a:t> Klammer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25880"/>
            <a:ext cx="338328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26280" y="1417320"/>
            <a:ext cx="3108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2. Hierarchie-Äste</a:t>
            </a:r>
          </a:p>
          <a:p>
            <a:pPr>
              <a:defRPr sz="1050" b="1">
                <a:solidFill>
                  <a:srgbClr val="0F172A"/>
                </a:solidFill>
                <a:latin typeface="Consolas"/>
              </a:defRPr>
            </a:pPr>
            <a:r>
              <a:t>Werkzeuge, Waffen, Blöcke</a:t>
            </a:r>
          </a:p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Thematische Gliederung ohne Zwang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25880"/>
            <a:ext cx="338328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83880" y="1417320"/>
            <a:ext cx="3108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Segoe UI"/>
              </a:defRPr>
            </a:pPr>
            <a:r>
              <a:t>3. Vokabular-Index</a:t>
            </a:r>
          </a:p>
          <a:p>
            <a:pPr>
              <a:defRPr sz="1050" b="1">
                <a:solidFill>
                  <a:srgbClr val="0F172A"/>
                </a:solidFill>
                <a:latin typeface="Consolas"/>
              </a:defRPr>
            </a:pPr>
            <a:r>
              <a:t>Notationen &amp; Mappings</a:t>
            </a:r>
          </a:p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Mehrsprachige Benennungen &amp; IDs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97480"/>
            <a:ext cx="5212080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00200" y="2857500"/>
            <a:ext cx="47548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Die </a:t>
            </a:r>
            <a:r>
              <a:rPr dirty="0" err="1"/>
              <a:t>universelle</a:t>
            </a:r>
            <a:r>
              <a:rPr dirty="0"/>
              <a:t> Klammer: </a:t>
            </a:r>
            <a:r>
              <a:rPr dirty="0" err="1"/>
              <a:t>skos:ConceptScheme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960120" y="3200400"/>
            <a:ext cx="4754880" cy="2834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188720" y="3474720"/>
            <a:ext cx="42976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  <a:latin typeface="Consolas"/>
              </a:defRPr>
            </a:pPr>
            <a:r>
              <a:t>skos:inScheme ➔  mcskos:Tool (Werkzeuge)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8720" y="4251959"/>
            <a:ext cx="42976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  <a:latin typeface="Consolas"/>
              </a:defRPr>
            </a:pPr>
            <a:r>
              <a:t>skos:inScheme ➔  mcskos:Weapon (Waffen)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720" y="5029200"/>
            <a:ext cx="42976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  <a:latin typeface="Consolas"/>
              </a:defRPr>
            </a:pPr>
            <a:r>
              <a:t>skos:inScheme ➔  mcskos:Block (Blöcke)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697480"/>
            <a:ext cx="5212080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11135" y="2880360"/>
            <a:ext cx="47548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rPr dirty="0" err="1"/>
              <a:t>Kernfunktionen</a:t>
            </a:r>
            <a:r>
              <a:rPr dirty="0"/>
              <a:t> &amp; W3C-Gesetz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3200400"/>
            <a:ext cx="4754880" cy="62179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3273552"/>
            <a:ext cx="4480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✔ Bildet die globale Klammer unseres Katalogs unter einer eindeutigen URI.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3931920"/>
            <a:ext cx="4754880" cy="62179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0" y="4005072"/>
            <a:ext cx="4480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✔ Bündelt alle Konzepte, Labels und Relationen formal im Wissensgraphen.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4663440"/>
            <a:ext cx="4754880" cy="62179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0" y="4736592"/>
            <a:ext cx="4480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✔ Trägt Metadaten: Herausgeber (BLW Team B3), Titel und Versionsstände.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46520" y="5620264"/>
            <a:ext cx="4754880" cy="308344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>
              <a:defRPr sz="950" b="1">
                <a:solidFill>
                  <a:srgbClr val="DC2626"/>
                </a:solidFill>
                <a:latin typeface="Segoe UI"/>
              </a:defRPr>
            </a:pPr>
            <a:r>
              <a:rPr dirty="0"/>
              <a:t>⚠ Ein </a:t>
            </a:r>
            <a:r>
              <a:rPr dirty="0" err="1"/>
              <a:t>Konzept</a:t>
            </a:r>
            <a:r>
              <a:rPr dirty="0"/>
              <a:t> </a:t>
            </a:r>
            <a:r>
              <a:rPr dirty="0" err="1"/>
              <a:t>kann</a:t>
            </a:r>
            <a:r>
              <a:rPr dirty="0"/>
              <a:t> </a:t>
            </a:r>
            <a:r>
              <a:rPr dirty="0" err="1"/>
              <a:t>niemals</a:t>
            </a:r>
            <a:r>
              <a:rPr dirty="0"/>
              <a:t> </a:t>
            </a:r>
            <a:r>
              <a:rPr dirty="0" err="1"/>
              <a:t>selbst</a:t>
            </a:r>
            <a:r>
              <a:rPr dirty="0"/>
              <a:t> </a:t>
            </a:r>
            <a:r>
              <a:rPr dirty="0" err="1"/>
              <a:t>ein</a:t>
            </a:r>
            <a:r>
              <a:rPr dirty="0"/>
              <a:t> Schema sein.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W3C SKOS | MINECRAFT KNOWLEDGE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Grundstruktur: Schema &amp; Einstiegspunkte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120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1559585"/>
            <a:ext cx="47548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rPr dirty="0" err="1"/>
              <a:t>Visuelle</a:t>
            </a:r>
            <a:r>
              <a:rPr dirty="0"/>
              <a:t> </a:t>
            </a:r>
            <a:r>
              <a:rPr dirty="0" err="1"/>
              <a:t>Ontologie-Beziehung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1005840" y="1920240"/>
            <a:ext cx="4663440" cy="1097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2011680"/>
            <a:ext cx="4389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onsolas"/>
              </a:defRPr>
            </a:pPr>
            <a:r>
              <a:t>mcskos:MinecraftItemTaxonomy</a:t>
            </a:r>
          </a:p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Typ: skos:ConceptScheme (Das Vokabular-Dach)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3200400"/>
            <a:ext cx="4663440" cy="502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>
              <a:defRPr sz="950" b="1">
                <a:solidFill>
                  <a:srgbClr val="059669"/>
                </a:solidFill>
                <a:latin typeface="Segoe UI"/>
              </a:defRPr>
            </a:pPr>
            <a:r>
              <a:rPr dirty="0" err="1"/>
              <a:t>hasTopConcept</a:t>
            </a:r>
            <a:r>
              <a:rPr dirty="0"/>
              <a:t>  ▼   |   ▲  </a:t>
            </a:r>
            <a:r>
              <a:rPr dirty="0" err="1"/>
              <a:t>topConceptOf</a:t>
            </a:r>
            <a:br>
              <a:rPr dirty="0"/>
            </a:br>
            <a:r>
              <a:rPr dirty="0"/>
              <a:t>(</a:t>
            </a:r>
            <a:r>
              <a:rPr dirty="0" err="1"/>
              <a:t>topConceptOf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subPropertyOf</a:t>
            </a:r>
            <a:r>
              <a:rPr dirty="0"/>
              <a:t> </a:t>
            </a:r>
            <a:r>
              <a:rPr dirty="0" err="1"/>
              <a:t>inScheme</a:t>
            </a:r>
            <a:r>
              <a:rPr dirty="0"/>
              <a:t>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3886200"/>
            <a:ext cx="4663440" cy="1097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3977639"/>
            <a:ext cx="4389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onsolas"/>
              </a:defRPr>
            </a:pPr>
            <a:r>
              <a:t>mcskos:Item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Typ: skos:Concept (Der Einstiegspunkt für alle Gegenstände)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5257800"/>
            <a:ext cx="4663440" cy="50292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>
              <a:defRPr sz="950" b="1">
                <a:solidFill>
                  <a:srgbClr val="DC2626"/>
                </a:solidFill>
                <a:latin typeface="Segoe UI"/>
              </a:defRPr>
            </a:pPr>
            <a:r>
              <a:rPr dirty="0"/>
              <a:t>W3C-Axiom: </a:t>
            </a:r>
            <a:r>
              <a:rPr dirty="0" err="1"/>
              <a:t>skos:Concept</a:t>
            </a:r>
            <a:r>
              <a:rPr dirty="0"/>
              <a:t> </a:t>
            </a:r>
            <a:r>
              <a:rPr lang="de-CH" dirty="0" err="1"/>
              <a:t>owl:disjointWith</a:t>
            </a:r>
            <a:r>
              <a:rPr dirty="0"/>
              <a:t> </a:t>
            </a:r>
            <a:r>
              <a:rPr dirty="0" err="1"/>
              <a:t>skos:C</a:t>
            </a:r>
            <a:r>
              <a:rPr lang="de-CH" dirty="0"/>
              <a:t>o</a:t>
            </a:r>
            <a:r>
              <a:rPr dirty="0" err="1"/>
              <a:t>nceptScheme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6217920" y="1325880"/>
            <a:ext cx="5212080" cy="4937760"/>
          </a:xfrm>
          <a:prstGeom prst="roundRect">
            <a:avLst/>
          </a:prstGeom>
          <a:solidFill>
            <a:srgbClr val="0A0F1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629400" y="1581913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812280" y="1581913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995160" y="1581913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23760" y="1554480"/>
            <a:ext cx="42976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  <a:latin typeface="Consolas"/>
              </a:defRPr>
            </a:pPr>
            <a:r>
              <a:rPr dirty="0"/>
              <a:t>MINECRAFT_SKOS.TTL [TERMINAL]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1920240"/>
            <a:ext cx="4754880" cy="18004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F1F5F9"/>
                </a:solidFill>
                <a:latin typeface="Consolas"/>
              </a:defRPr>
            </a:pPr>
            <a:r>
              <a:rPr dirty="0"/>
              <a:t># 1. Das </a:t>
            </a:r>
            <a:r>
              <a:rPr dirty="0" err="1"/>
              <a:t>Vokabular</a:t>
            </a:r>
            <a:r>
              <a:rPr dirty="0"/>
              <a:t> </a:t>
            </a:r>
            <a:r>
              <a:rPr dirty="0" err="1"/>
              <a:t>als</a:t>
            </a:r>
            <a:r>
              <a:rPr dirty="0"/>
              <a:t> </a:t>
            </a:r>
            <a:r>
              <a:rPr dirty="0" err="1"/>
              <a:t>Ganzes</a:t>
            </a:r>
            <a:br>
              <a:rPr dirty="0"/>
            </a:br>
            <a:r>
              <a:rPr dirty="0" err="1"/>
              <a:t>mcskos:MinecraftItemTaxonomy</a:t>
            </a:r>
            <a:r>
              <a:rPr dirty="0"/>
              <a:t> a </a:t>
            </a:r>
            <a:r>
              <a:rPr dirty="0" err="1"/>
              <a:t>skos:ConceptScheme</a:t>
            </a:r>
            <a:r>
              <a:rPr dirty="0"/>
              <a:t> ;</a:t>
            </a:r>
            <a:br>
              <a:rPr dirty="0"/>
            </a:br>
            <a:r>
              <a:rPr dirty="0"/>
              <a:t>    </a:t>
            </a:r>
            <a:r>
              <a:rPr dirty="0" err="1"/>
              <a:t>skos:prefLabel</a:t>
            </a:r>
            <a:r>
              <a:rPr dirty="0"/>
              <a:t> "Minecraft </a:t>
            </a:r>
            <a:r>
              <a:rPr dirty="0" err="1"/>
              <a:t>Gegenstandskatalog</a:t>
            </a:r>
            <a:r>
              <a:rPr dirty="0"/>
              <a:t>"@de ;</a:t>
            </a:r>
            <a:br>
              <a:rPr dirty="0"/>
            </a:br>
            <a:r>
              <a:rPr dirty="0"/>
              <a:t>    </a:t>
            </a:r>
            <a:r>
              <a:rPr dirty="0" err="1"/>
              <a:t>skos:hasTopConcept</a:t>
            </a:r>
            <a:r>
              <a:rPr dirty="0"/>
              <a:t> </a:t>
            </a:r>
            <a:r>
              <a:rPr dirty="0" err="1"/>
              <a:t>mcskos:Item</a:t>
            </a:r>
            <a:r>
              <a:rPr dirty="0"/>
              <a:t> .</a:t>
            </a:r>
            <a:br>
              <a:rPr dirty="0"/>
            </a:br>
            <a:br>
              <a:rPr dirty="0"/>
            </a:br>
            <a:r>
              <a:rPr dirty="0"/>
              <a:t># 2. Das </a:t>
            </a:r>
            <a:r>
              <a:rPr dirty="0" err="1"/>
              <a:t>Einstiegskonzept</a:t>
            </a:r>
            <a:r>
              <a:rPr dirty="0"/>
              <a:t> (Wurzel)</a:t>
            </a:r>
            <a:br>
              <a:rPr dirty="0"/>
            </a:br>
            <a:r>
              <a:rPr dirty="0" err="1"/>
              <a:t>mcskos:Item</a:t>
            </a:r>
            <a:r>
              <a:rPr dirty="0"/>
              <a:t> a </a:t>
            </a:r>
            <a:r>
              <a:rPr dirty="0" err="1"/>
              <a:t>skos:Concept</a:t>
            </a:r>
            <a:r>
              <a:rPr dirty="0"/>
              <a:t> ;</a:t>
            </a:r>
            <a:br>
              <a:rPr dirty="0"/>
            </a:br>
            <a:r>
              <a:rPr dirty="0"/>
              <a:t>    </a:t>
            </a:r>
            <a:r>
              <a:rPr dirty="0" err="1"/>
              <a:t>skos:topConceptOf</a:t>
            </a:r>
            <a:r>
              <a:rPr dirty="0"/>
              <a:t> </a:t>
            </a:r>
            <a:r>
              <a:rPr dirty="0" err="1"/>
              <a:t>mcskos:MinecraftItemTaxonomy</a:t>
            </a:r>
            <a:r>
              <a:rPr dirty="0"/>
              <a:t> ;</a:t>
            </a:r>
            <a:br>
              <a:rPr dirty="0"/>
            </a:br>
            <a:r>
              <a:rPr dirty="0"/>
              <a:t>    </a:t>
            </a:r>
            <a:r>
              <a:rPr dirty="0" err="1"/>
              <a:t>skos:inScheme</a:t>
            </a:r>
            <a:r>
              <a:rPr dirty="0"/>
              <a:t> </a:t>
            </a:r>
            <a:r>
              <a:rPr dirty="0" err="1"/>
              <a:t>mcskos:MinecraftItemTaxonomy</a:t>
            </a:r>
            <a:r>
              <a:rPr dirty="0"/>
              <a:t> ;</a:t>
            </a:r>
            <a:br>
              <a:rPr dirty="0"/>
            </a:br>
            <a:r>
              <a:rPr dirty="0"/>
              <a:t>    </a:t>
            </a:r>
            <a:r>
              <a:rPr dirty="0" err="1"/>
              <a:t>skos:prefLabel</a:t>
            </a:r>
            <a:r>
              <a:rPr dirty="0"/>
              <a:t> "</a:t>
            </a:r>
            <a:r>
              <a:rPr dirty="0" err="1"/>
              <a:t>Gegenstand</a:t>
            </a:r>
            <a:r>
              <a:rPr dirty="0"/>
              <a:t>"@de, "Item"@</a:t>
            </a:r>
            <a:r>
              <a:rPr dirty="0" err="1"/>
              <a:t>en</a:t>
            </a:r>
            <a:r>
              <a:rPr dirty="0"/>
              <a:t> ;</a:t>
            </a:r>
            <a:br>
              <a:rPr dirty="0"/>
            </a:br>
            <a:r>
              <a:rPr dirty="0"/>
              <a:t>    </a:t>
            </a:r>
            <a:r>
              <a:rPr dirty="0" err="1"/>
              <a:t>skos:definition</a:t>
            </a:r>
            <a:r>
              <a:rPr dirty="0"/>
              <a:t> "Oberste </a:t>
            </a:r>
            <a:r>
              <a:rPr dirty="0" err="1"/>
              <a:t>Kategorie</a:t>
            </a:r>
            <a:r>
              <a:rPr dirty="0"/>
              <a:t> </a:t>
            </a:r>
            <a:r>
              <a:rPr dirty="0" err="1"/>
              <a:t>fuer</a:t>
            </a:r>
            <a:r>
              <a:rPr dirty="0"/>
              <a:t> alle </a:t>
            </a:r>
            <a:r>
              <a:rPr dirty="0" err="1"/>
              <a:t>Objekte</a:t>
            </a:r>
            <a:r>
              <a:rPr dirty="0"/>
              <a:t>."@de .</a:t>
            </a:r>
            <a:br>
              <a:rPr dirty="0"/>
            </a:b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4" name="TextBox 4"/>
          <p:cNvSpPr txBox="1"/>
          <p:nvPr/>
        </p:nvSpPr>
        <p:spPr>
          <a:xfrm>
            <a:off x="731520" y="329184"/>
            <a:ext cx="10728655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1000" b="1" dirty="0">
                <a:solidFill>
                  <a:srgbClr val="0284C7"/>
                </a:solidFill>
                <a:latin typeface="Segoe UI"/>
                <a:cs typeface="Segoe UI"/>
              </a:rPr>
              <a:t>W3C SKOS | MINECRAFT KNOWLEDGE GRAPH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1520" y="56692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2200" b="1" dirty="0">
                <a:solidFill>
                  <a:srgbClr val="0F172A"/>
                </a:solidFill>
                <a:latin typeface="Segoe UI"/>
                <a:cs typeface="Segoe UI"/>
              </a:rPr>
              <a:t>Lexikalische Schicht: Die Namen der Gegenstände</a:t>
            </a:r>
          </a:p>
        </p:txBody>
      </p:sp>
      <p:sp>
        <p:nvSpPr>
          <p:cNvPr id="6" name="Shape 6"/>
          <p:cNvSpPr/>
          <p:nvPr/>
        </p:nvSpPr>
        <p:spPr>
          <a:xfrm>
            <a:off x="731520" y="1234440"/>
            <a:ext cx="2476424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D97706"/>
            </a:solidFill>
          </a:ln>
          <a:effectLst>
            <a:outerShdw blurRad="76200" dist="19050" dir="5400000" algn="t" rotWithShape="0">
              <a:srgbClr val="0F172A">
                <a:alpha val="12000"/>
              </a:srgbClr>
            </a:outerShdw>
          </a:effectLst>
        </p:spPr>
        <p:txBody>
          <a:bodyPr rtlCol="0" anchor="ctr"/>
          <a:lstStyle/>
          <a:p>
            <a:endParaRPr lang="de-CH"/>
          </a:p>
        </p:txBody>
      </p:sp>
      <p:sp>
        <p:nvSpPr>
          <p:cNvPr id="7" name="TextBox 7"/>
          <p:cNvSpPr txBox="1"/>
          <p:nvPr/>
        </p:nvSpPr>
        <p:spPr>
          <a:xfrm>
            <a:off x="914400" y="1298448"/>
            <a:ext cx="2110664" cy="87782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de-CH" sz="1250" b="1" dirty="0">
                <a:solidFill>
                  <a:srgbClr val="D97706"/>
                </a:solidFill>
                <a:latin typeface="Consolas"/>
                <a:cs typeface="Consolas"/>
              </a:rPr>
              <a:t>skos:prefLabel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de-CH" sz="1150" b="1" dirty="0">
                <a:solidFill>
                  <a:srgbClr val="0F172A"/>
                </a:solidFill>
                <a:latin typeface="Consolas"/>
                <a:cs typeface="Consolas"/>
              </a:rPr>
              <a:t>"Grüner Farbstoff"@de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1050" b="0" dirty="0">
                <a:solidFill>
                  <a:srgbClr val="64748B"/>
                </a:solidFill>
                <a:latin typeface="Calibri"/>
                <a:cs typeface="Calibri"/>
              </a:rPr>
              <a:t>Offizieller Name, 1× pro Sprache</a:t>
            </a:r>
          </a:p>
        </p:txBody>
      </p:sp>
      <p:sp>
        <p:nvSpPr>
          <p:cNvPr id="8" name="Shape 8"/>
          <p:cNvSpPr/>
          <p:nvPr/>
        </p:nvSpPr>
        <p:spPr>
          <a:xfrm>
            <a:off x="3482264" y="1234440"/>
            <a:ext cx="2476424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284C7"/>
            </a:solidFill>
          </a:ln>
          <a:effectLst>
            <a:outerShdw blurRad="76200" dist="19050" dir="5400000" algn="t" rotWithShape="0">
              <a:srgbClr val="0F172A">
                <a:alpha val="12000"/>
              </a:srgbClr>
            </a:outerShdw>
          </a:effectLst>
        </p:spPr>
        <p:txBody>
          <a:bodyPr rtlCol="0" anchor="ctr"/>
          <a:lstStyle/>
          <a:p>
            <a:endParaRPr lang="de-CH"/>
          </a:p>
        </p:txBody>
      </p:sp>
      <p:sp>
        <p:nvSpPr>
          <p:cNvPr id="9" name="TextBox 9"/>
          <p:cNvSpPr txBox="1"/>
          <p:nvPr/>
        </p:nvSpPr>
        <p:spPr>
          <a:xfrm>
            <a:off x="3665144" y="1298448"/>
            <a:ext cx="2110664" cy="87782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de-CH" sz="1250" b="1" dirty="0">
                <a:solidFill>
                  <a:srgbClr val="0284C7"/>
                </a:solidFill>
                <a:latin typeface="Consolas"/>
                <a:cs typeface="Consolas"/>
              </a:rPr>
              <a:t>skos:altLabel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de-CH" sz="1150" b="1" dirty="0">
                <a:solidFill>
                  <a:srgbClr val="0F172A"/>
                </a:solidFill>
                <a:latin typeface="Consolas"/>
                <a:cs typeface="Consolas"/>
              </a:rPr>
              <a:t>"grüne Farbe"@de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1050" b="0" dirty="0">
                <a:solidFill>
                  <a:srgbClr val="64748B"/>
                </a:solidFill>
                <a:latin typeface="Calibri"/>
                <a:cs typeface="Calibri"/>
              </a:rPr>
              <a:t>Synonym &amp; Umgangssprache, sichtbar</a:t>
            </a:r>
          </a:p>
        </p:txBody>
      </p:sp>
      <p:sp>
        <p:nvSpPr>
          <p:cNvPr id="10" name="Shape 10"/>
          <p:cNvSpPr/>
          <p:nvPr/>
        </p:nvSpPr>
        <p:spPr>
          <a:xfrm>
            <a:off x="6233008" y="1234440"/>
            <a:ext cx="2476424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  <a:effectLst>
            <a:outerShdw blurRad="76200" dist="19050" dir="5400000" algn="t" rotWithShape="0">
              <a:srgbClr val="0F172A">
                <a:alpha val="12000"/>
              </a:srgbClr>
            </a:outerShdw>
          </a:effectLst>
        </p:spPr>
        <p:txBody>
          <a:bodyPr rtlCol="0" anchor="ctr"/>
          <a:lstStyle/>
          <a:p>
            <a:endParaRPr lang="de-CH"/>
          </a:p>
        </p:txBody>
      </p:sp>
      <p:sp>
        <p:nvSpPr>
          <p:cNvPr id="11" name="TextBox 11"/>
          <p:cNvSpPr txBox="1"/>
          <p:nvPr/>
        </p:nvSpPr>
        <p:spPr>
          <a:xfrm>
            <a:off x="6415888" y="1298448"/>
            <a:ext cx="2110664" cy="87782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de-CH" sz="1250" b="1" dirty="0">
                <a:solidFill>
                  <a:srgbClr val="7C3AED"/>
                </a:solidFill>
                <a:latin typeface="Consolas"/>
                <a:cs typeface="Consolas"/>
              </a:rPr>
              <a:t>skos:hiddenLabel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de-CH" sz="1150" b="1" dirty="0">
                <a:solidFill>
                  <a:srgbClr val="0F172A"/>
                </a:solidFill>
                <a:latin typeface="Consolas"/>
                <a:cs typeface="Consolas"/>
              </a:rPr>
              <a:t>"Kaktusgrün"@de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1050" b="0" dirty="0">
                <a:solidFill>
                  <a:srgbClr val="64748B"/>
                </a:solidFill>
                <a:latin typeface="Calibri"/>
                <a:cs typeface="Calibri"/>
              </a:rPr>
              <a:t>Alter Name: findbar, nie angezeigt</a:t>
            </a:r>
          </a:p>
        </p:txBody>
      </p:sp>
      <p:sp>
        <p:nvSpPr>
          <p:cNvPr id="12" name="Shape 12"/>
          <p:cNvSpPr/>
          <p:nvPr/>
        </p:nvSpPr>
        <p:spPr>
          <a:xfrm>
            <a:off x="8983751" y="1234440"/>
            <a:ext cx="2476424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59669"/>
            </a:solidFill>
          </a:ln>
          <a:effectLst>
            <a:outerShdw blurRad="76200" dist="19050" dir="5400000" algn="t" rotWithShape="0">
              <a:srgbClr val="0F172A">
                <a:alpha val="12000"/>
              </a:srgbClr>
            </a:outerShdw>
          </a:effectLst>
        </p:spPr>
        <p:txBody>
          <a:bodyPr rtlCol="0" anchor="ctr"/>
          <a:lstStyle/>
          <a:p>
            <a:endParaRPr lang="de-CH"/>
          </a:p>
        </p:txBody>
      </p:sp>
      <p:sp>
        <p:nvSpPr>
          <p:cNvPr id="13" name="TextBox 13"/>
          <p:cNvSpPr txBox="1"/>
          <p:nvPr/>
        </p:nvSpPr>
        <p:spPr>
          <a:xfrm>
            <a:off x="9166631" y="1298448"/>
            <a:ext cx="2110664" cy="87782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de-CH" sz="1250" b="1" dirty="0">
                <a:solidFill>
                  <a:srgbClr val="059669"/>
                </a:solidFill>
                <a:latin typeface="Consolas"/>
                <a:cs typeface="Consolas"/>
              </a:rPr>
              <a:t>skos:notation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de-CH" sz="1150" b="1" dirty="0">
                <a:solidFill>
                  <a:srgbClr val="0F172A"/>
                </a:solidFill>
                <a:latin typeface="Consolas"/>
                <a:cs typeface="Consolas"/>
              </a:rPr>
              <a:t>"mc:green_dye"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1050" b="0" dirty="0">
                <a:solidFill>
                  <a:srgbClr val="64748B"/>
                </a:solidFill>
                <a:latin typeface="Calibri"/>
                <a:cs typeface="Calibri"/>
              </a:rPr>
              <a:t>Feste System-ID ohne Sprach-Tag</a:t>
            </a:r>
          </a:p>
        </p:txBody>
      </p:sp>
      <p:sp>
        <p:nvSpPr>
          <p:cNvPr id="14" name="Shape 14"/>
          <p:cNvSpPr/>
          <p:nvPr/>
        </p:nvSpPr>
        <p:spPr>
          <a:xfrm>
            <a:off x="731520" y="2395728"/>
            <a:ext cx="10728655" cy="457200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 w="15240">
            <a:solidFill>
              <a:srgbClr val="DC2626"/>
            </a:solidFill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15" name="TextBox 15"/>
          <p:cNvSpPr txBox="1"/>
          <p:nvPr/>
        </p:nvSpPr>
        <p:spPr>
          <a:xfrm>
            <a:off x="731520" y="239572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1200" b="1" dirty="0">
                <a:solidFill>
                  <a:srgbClr val="DC2626"/>
                </a:solidFill>
                <a:latin typeface="Segoe UI"/>
                <a:cs typeface="Segoe UI"/>
              </a:rPr>
              <a:t>W3C-Regel:  </a:t>
            </a:r>
            <a:r>
              <a:rPr lang="de-CH" sz="1200" b="1" dirty="0">
                <a:solidFill>
                  <a:srgbClr val="1E293B"/>
                </a:solidFill>
                <a:latin typeface="Calibri"/>
                <a:cs typeface="Calibri"/>
              </a:rPr>
              <a:t>prefLabel, altLabel und hiddenLabel sind paarweise disjunkt – ein Name gehört pro Sprache in genau eine Kategorie.</a:t>
            </a:r>
          </a:p>
        </p:txBody>
      </p:sp>
      <p:sp>
        <p:nvSpPr>
          <p:cNvPr id="16" name="Shape 16"/>
          <p:cNvSpPr/>
          <p:nvPr/>
        </p:nvSpPr>
        <p:spPr>
          <a:xfrm>
            <a:off x="731520" y="3017520"/>
            <a:ext cx="5230368" cy="3337560"/>
          </a:xfrm>
          <a:prstGeom prst="roundRect">
            <a:avLst>
              <a:gd name="adj" fmla="val 6000"/>
            </a:avLst>
          </a:prstGeom>
          <a:solidFill>
            <a:srgbClr val="0A0F1E"/>
          </a:solidFill>
          <a:ln>
            <a:noFill/>
          </a:ln>
          <a:effectLst>
            <a:outerShdw blurRad="76200" dist="19050" dir="5400000" algn="t" rotWithShape="0">
              <a:srgbClr val="0F172A">
                <a:alpha val="12000"/>
              </a:srgbClr>
            </a:outerShdw>
          </a:effectLst>
        </p:spPr>
        <p:txBody>
          <a:bodyPr rtlCol="0" anchor="ctr"/>
          <a:lstStyle/>
          <a:p>
            <a:endParaRPr lang="de-CH"/>
          </a:p>
        </p:txBody>
      </p:sp>
      <p:sp>
        <p:nvSpPr>
          <p:cNvPr id="17" name="Oval 17"/>
          <p:cNvSpPr/>
          <p:nvPr/>
        </p:nvSpPr>
        <p:spPr>
          <a:xfrm>
            <a:off x="960120" y="3200400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18" name="Oval 18"/>
          <p:cNvSpPr/>
          <p:nvPr/>
        </p:nvSpPr>
        <p:spPr>
          <a:xfrm>
            <a:off x="1143000" y="3200400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19" name="Oval 19"/>
          <p:cNvSpPr/>
          <p:nvPr/>
        </p:nvSpPr>
        <p:spPr>
          <a:xfrm>
            <a:off x="1325880" y="320040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20" name="TextBox 20"/>
          <p:cNvSpPr txBox="1"/>
          <p:nvPr/>
        </p:nvSpPr>
        <p:spPr>
          <a:xfrm>
            <a:off x="1645920" y="3136392"/>
            <a:ext cx="408736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de-CH" sz="950" b="1" dirty="0">
                <a:solidFill>
                  <a:srgbClr val="94A3B8"/>
                </a:solidFill>
                <a:latin typeface="Consolas"/>
                <a:cs typeface="Consolas"/>
              </a:rPr>
              <a:t>CODE: mcskos:GreenDye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05840" y="3493008"/>
            <a:ext cx="4773168" cy="27889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de-CH" sz="1150" b="0" dirty="0">
                <a:solidFill>
                  <a:srgbClr val="E2E8F0"/>
                </a:solidFill>
                <a:latin typeface="Consolas"/>
                <a:cs typeface="Consolas"/>
              </a:rPr>
              <a:t>mcskos:GreenDye a skos:Concept 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de-CH" sz="1150" b="0" dirty="0">
                <a:solidFill>
                  <a:srgbClr val="E2E8F0"/>
                </a:solidFill>
                <a:latin typeface="Consolas"/>
                <a:cs typeface="Consolas"/>
              </a:rPr>
              <a:t>  skos:inScheme mcskos:MinecraftItemTaxonomy 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de-CH" sz="1150" b="0" dirty="0">
                <a:solidFill>
                  <a:srgbClr val="E2E8F0"/>
                </a:solidFill>
                <a:latin typeface="Consolas"/>
                <a:cs typeface="Consolas"/>
              </a:rPr>
              <a:t>  skos:prefLabel "Grüner Farbstoff"@de,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de-CH" sz="1150" b="0" dirty="0">
                <a:solidFill>
                  <a:srgbClr val="E2E8F0"/>
                </a:solidFill>
                <a:latin typeface="Consolas"/>
                <a:cs typeface="Consolas"/>
              </a:rPr>
              <a:t>                 "Green Dye"@en 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de-CH" sz="1150" b="0" dirty="0">
                <a:solidFill>
                  <a:srgbClr val="E2E8F0"/>
                </a:solidFill>
                <a:latin typeface="Consolas"/>
                <a:cs typeface="Consolas"/>
              </a:rPr>
              <a:t>  skos:altLabel "grüne Farbe"@de 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de-CH" sz="1150" b="0" dirty="0">
                <a:solidFill>
                  <a:srgbClr val="E2E8F0"/>
                </a:solidFill>
                <a:latin typeface="Consolas"/>
                <a:cs typeface="Consolas"/>
              </a:rPr>
              <a:t>  skos:hiddenLabel "Kaktusgrün"@de,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de-CH" sz="1150" b="0" dirty="0">
                <a:solidFill>
                  <a:srgbClr val="E2E8F0"/>
                </a:solidFill>
                <a:latin typeface="Consolas"/>
                <a:cs typeface="Consolas"/>
              </a:rPr>
              <a:t>                   "Cactus Green"@en 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de-CH" sz="1150" b="0" dirty="0">
                <a:solidFill>
                  <a:srgbClr val="E2E8F0"/>
                </a:solidFill>
                <a:latin typeface="Consolas"/>
                <a:cs typeface="Consolas"/>
              </a:rPr>
              <a:t>  skos:notation "mc:green_dye" 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de-CH" sz="1150" b="0" dirty="0">
                <a:solidFill>
                  <a:srgbClr val="E2E8F0"/>
                </a:solidFill>
                <a:latin typeface="Consolas"/>
                <a:cs typeface="Consolas"/>
              </a:rPr>
              <a:t>  skos:historyNote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de-CH" sz="1150" b="0" dirty="0">
                <a:solidFill>
                  <a:srgbClr val="E2E8F0"/>
                </a:solidFill>
                <a:latin typeface="Consolas"/>
                <a:cs typeface="Consolas"/>
              </a:rPr>
              <a:t>    "Bis Version 1.14 hiess das Item Kaktusgrün."@de 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de-CH" sz="1150" b="0" dirty="0">
                <a:solidFill>
                  <a:srgbClr val="E2E8F0"/>
                </a:solidFill>
                <a:latin typeface="Consolas"/>
                <a:cs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de-CH" sz="1150" b="0" dirty="0">
                <a:solidFill>
                  <a:srgbClr val="94A3B8"/>
                </a:solidFill>
                <a:latin typeface="Consolas"/>
                <a:cs typeface="Consolas"/>
              </a:rPr>
              <a:t># Warum hidden statt alt? Als altLabel würde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de-CH" sz="1150" b="0" dirty="0">
                <a:solidFill>
                  <a:srgbClr val="94A3B8"/>
                </a:solidFill>
                <a:latin typeface="Consolas"/>
                <a:cs typeface="Consolas"/>
              </a:rPr>
              <a:t># das UI „Kaktusgrün“ als gültigen Namen zeigen.</a:t>
            </a:r>
          </a:p>
        </p:txBody>
      </p:sp>
      <p:sp>
        <p:nvSpPr>
          <p:cNvPr id="22" name="Shape 22"/>
          <p:cNvSpPr/>
          <p:nvPr/>
        </p:nvSpPr>
        <p:spPr>
          <a:xfrm>
            <a:off x="6236208" y="3017520"/>
            <a:ext cx="5230368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  <a:effectLst>
            <a:outerShdw blurRad="76200" dist="19050" dir="5400000" algn="t" rotWithShape="0">
              <a:srgbClr val="0F172A">
                <a:alpha val="12000"/>
              </a:srgbClr>
            </a:outerShdw>
          </a:effectLst>
        </p:spPr>
        <p:txBody>
          <a:bodyPr rtlCol="0" anchor="ctr"/>
          <a:lstStyle/>
          <a:p>
            <a:endParaRPr lang="de-CH"/>
          </a:p>
        </p:txBody>
      </p:sp>
      <p:sp>
        <p:nvSpPr>
          <p:cNvPr id="23" name="TextBox 23"/>
          <p:cNvSpPr txBox="1"/>
          <p:nvPr/>
        </p:nvSpPr>
        <p:spPr>
          <a:xfrm>
            <a:off x="6510528" y="3127248"/>
            <a:ext cx="468172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1400" b="1" dirty="0">
                <a:solidFill>
                  <a:srgbClr val="0F172A"/>
                </a:solidFill>
                <a:latin typeface="Segoe UI"/>
                <a:cs typeface="Segoe UI"/>
              </a:rPr>
              <a:t>Suchmaschine + SKOS: Wer findet was?</a:t>
            </a:r>
          </a:p>
        </p:txBody>
      </p:sp>
      <p:sp>
        <p:nvSpPr>
          <p:cNvPr id="24" name="Shape 24"/>
          <p:cNvSpPr/>
          <p:nvPr/>
        </p:nvSpPr>
        <p:spPr>
          <a:xfrm>
            <a:off x="6464808" y="3566160"/>
            <a:ext cx="4773168" cy="475488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25" name="TextBox 25"/>
          <p:cNvSpPr txBox="1"/>
          <p:nvPr/>
        </p:nvSpPr>
        <p:spPr>
          <a:xfrm>
            <a:off x="6601968" y="3566160"/>
            <a:ext cx="160020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1100" b="1" dirty="0">
                <a:solidFill>
                  <a:srgbClr val="0F172A"/>
                </a:solidFill>
                <a:latin typeface="Consolas"/>
                <a:cs typeface="Consolas"/>
              </a:rPr>
              <a:t>"Grüner Farbstof"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202168" y="3566160"/>
            <a:ext cx="160020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1050" b="0" dirty="0">
                <a:solidFill>
                  <a:srgbClr val="64748B"/>
                </a:solidFill>
                <a:latin typeface="Calibri"/>
                <a:cs typeface="Calibri"/>
              </a:rPr>
              <a:t>Tippfehler</a:t>
            </a:r>
          </a:p>
        </p:txBody>
      </p:sp>
      <p:sp>
        <p:nvSpPr>
          <p:cNvPr id="27" name="Shape 27"/>
          <p:cNvSpPr/>
          <p:nvPr/>
        </p:nvSpPr>
        <p:spPr>
          <a:xfrm>
            <a:off x="9546336" y="3657600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28" name="TextBox 28"/>
          <p:cNvSpPr txBox="1"/>
          <p:nvPr/>
        </p:nvSpPr>
        <p:spPr>
          <a:xfrm>
            <a:off x="9546336" y="3657600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1000" b="1" dirty="0">
                <a:solidFill>
                  <a:srgbClr val="FFFFFF"/>
                </a:solidFill>
                <a:latin typeface="Consolas"/>
                <a:cs typeface="Consolas"/>
              </a:rPr>
              <a:t>Fuzzy-Suche</a:t>
            </a:r>
          </a:p>
        </p:txBody>
      </p:sp>
      <p:sp>
        <p:nvSpPr>
          <p:cNvPr id="29" name="Shape 29"/>
          <p:cNvSpPr/>
          <p:nvPr/>
        </p:nvSpPr>
        <p:spPr>
          <a:xfrm>
            <a:off x="6464808" y="4133088"/>
            <a:ext cx="4773168" cy="475488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30" name="TextBox 30"/>
          <p:cNvSpPr txBox="1"/>
          <p:nvPr/>
        </p:nvSpPr>
        <p:spPr>
          <a:xfrm>
            <a:off x="6601968" y="4133088"/>
            <a:ext cx="160020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1100" b="1" dirty="0">
                <a:solidFill>
                  <a:srgbClr val="0F172A"/>
                </a:solidFill>
                <a:latin typeface="Consolas"/>
                <a:cs typeface="Consolas"/>
              </a:rPr>
              <a:t>"grüne Farbe"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202168" y="4133088"/>
            <a:ext cx="160020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1050" b="0" dirty="0">
                <a:solidFill>
                  <a:srgbClr val="64748B"/>
                </a:solidFill>
                <a:latin typeface="Calibri"/>
                <a:cs typeface="Calibri"/>
              </a:rPr>
              <a:t>Umgangssprache</a:t>
            </a:r>
          </a:p>
        </p:txBody>
      </p:sp>
      <p:sp>
        <p:nvSpPr>
          <p:cNvPr id="32" name="Shape 32"/>
          <p:cNvSpPr/>
          <p:nvPr/>
        </p:nvSpPr>
        <p:spPr>
          <a:xfrm>
            <a:off x="9546336" y="4224528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33" name="TextBox 33"/>
          <p:cNvSpPr txBox="1"/>
          <p:nvPr/>
        </p:nvSpPr>
        <p:spPr>
          <a:xfrm>
            <a:off x="9546336" y="4224528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1000" b="1" dirty="0">
                <a:solidFill>
                  <a:srgbClr val="FFFFFF"/>
                </a:solidFill>
                <a:latin typeface="Consolas"/>
                <a:cs typeface="Consolas"/>
              </a:rPr>
              <a:t>skos:altLabel</a:t>
            </a:r>
          </a:p>
        </p:txBody>
      </p:sp>
      <p:sp>
        <p:nvSpPr>
          <p:cNvPr id="34" name="Shape 34"/>
          <p:cNvSpPr/>
          <p:nvPr/>
        </p:nvSpPr>
        <p:spPr>
          <a:xfrm>
            <a:off x="6464808" y="4700016"/>
            <a:ext cx="4773168" cy="475488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35" name="TextBox 35"/>
          <p:cNvSpPr txBox="1"/>
          <p:nvPr/>
        </p:nvSpPr>
        <p:spPr>
          <a:xfrm>
            <a:off x="6601968" y="4700016"/>
            <a:ext cx="160020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1100" b="1" dirty="0">
                <a:solidFill>
                  <a:srgbClr val="0F172A"/>
                </a:solidFill>
                <a:latin typeface="Consolas"/>
                <a:cs typeface="Consolas"/>
              </a:rPr>
              <a:t>"Kaktusgrün"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202168" y="4700016"/>
            <a:ext cx="160020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1050" b="0" dirty="0">
                <a:solidFill>
                  <a:srgbClr val="64748B"/>
                </a:solidFill>
                <a:latin typeface="Calibri"/>
                <a:cs typeface="Calibri"/>
              </a:rPr>
              <a:t>Alter Name (bis 1.14)</a:t>
            </a:r>
          </a:p>
        </p:txBody>
      </p:sp>
      <p:sp>
        <p:nvSpPr>
          <p:cNvPr id="37" name="Shape 37"/>
          <p:cNvSpPr/>
          <p:nvPr/>
        </p:nvSpPr>
        <p:spPr>
          <a:xfrm>
            <a:off x="9546336" y="4791456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38" name="TextBox 38"/>
          <p:cNvSpPr txBox="1"/>
          <p:nvPr/>
        </p:nvSpPr>
        <p:spPr>
          <a:xfrm>
            <a:off x="9546336" y="4791456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1000" b="1" dirty="0">
                <a:solidFill>
                  <a:srgbClr val="FFFFFF"/>
                </a:solidFill>
                <a:latin typeface="Consolas"/>
                <a:cs typeface="Consolas"/>
              </a:rPr>
              <a:t>skos:hiddenLabel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510528" y="5285232"/>
            <a:ext cx="4681728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1100" b="0" dirty="0">
                <a:solidFill>
                  <a:srgbClr val="64748B"/>
                </a:solidFill>
                <a:latin typeface="Calibri"/>
                <a:cs typeface="Calibri"/>
              </a:rPr>
              <a:t>Angezeigt wird immer: </a:t>
            </a:r>
            <a:r>
              <a:rPr lang="de-CH" sz="1100" b="1" dirty="0">
                <a:solidFill>
                  <a:srgbClr val="0F172A"/>
                </a:solidFill>
                <a:latin typeface="Calibri"/>
                <a:cs typeface="Calibri"/>
              </a:rPr>
              <a:t>Grüner Farbstoff</a:t>
            </a:r>
            <a:r>
              <a:rPr lang="de-CH" sz="1100" b="0" dirty="0">
                <a:solidFill>
                  <a:srgbClr val="64748B"/>
                </a:solidFill>
                <a:latin typeface="Calibri"/>
                <a:cs typeface="Calibri"/>
              </a:rPr>
              <a:t> (prefLabel)</a:t>
            </a:r>
          </a:p>
        </p:txBody>
      </p:sp>
      <p:sp>
        <p:nvSpPr>
          <p:cNvPr id="40" name="Shape 40"/>
          <p:cNvSpPr/>
          <p:nvPr/>
        </p:nvSpPr>
        <p:spPr>
          <a:xfrm>
            <a:off x="6464808" y="5623560"/>
            <a:ext cx="4773168" cy="566928"/>
          </a:xfrm>
          <a:prstGeom prst="roundRect">
            <a:avLst>
              <a:gd name="adj" fmla="val 15000"/>
            </a:avLst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41" name="TextBox 41"/>
          <p:cNvSpPr txBox="1"/>
          <p:nvPr/>
        </p:nvSpPr>
        <p:spPr>
          <a:xfrm>
            <a:off x="6464808" y="5623560"/>
            <a:ext cx="4773168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1150" b="1" dirty="0">
                <a:solidFill>
                  <a:srgbClr val="FFFFFF"/>
                </a:solidFill>
                <a:latin typeface="Segoe UI"/>
                <a:cs typeface="Segoe UI"/>
              </a:rPr>
              <a:t>Fuzzy-Suche korrigiert Buchstaben.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1150" b="1" dirty="0">
                <a:solidFill>
                  <a:srgbClr val="7DD3FC"/>
                </a:solidFill>
                <a:latin typeface="Segoe UI"/>
                <a:cs typeface="Segoe UI"/>
              </a:rPr>
              <a:t>SKOS liefert Bedeutung.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4" name="TextBox 4"/>
          <p:cNvSpPr txBox="1"/>
          <p:nvPr/>
        </p:nvSpPr>
        <p:spPr>
          <a:xfrm>
            <a:off x="731520" y="329184"/>
            <a:ext cx="10728655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1000" b="1" dirty="0">
                <a:solidFill>
                  <a:srgbClr val="0284C7"/>
                </a:solidFill>
                <a:latin typeface="Segoe UI"/>
                <a:cs typeface="Segoe UI"/>
              </a:rPr>
              <a:t>W3C SKOS | MINECRAFT KNOWLEDGE GRAPH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1520" y="56692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2200" b="1" dirty="0">
                <a:solidFill>
                  <a:srgbClr val="0F172A"/>
                </a:solidFill>
                <a:latin typeface="Segoe UI"/>
                <a:cs typeface="Segoe UI"/>
              </a:rPr>
              <a:t>Semantische Relationen: Zwei Achsen</a:t>
            </a:r>
          </a:p>
        </p:txBody>
      </p:sp>
      <p:sp>
        <p:nvSpPr>
          <p:cNvPr id="6" name="Shape 6"/>
          <p:cNvSpPr/>
          <p:nvPr/>
        </p:nvSpPr>
        <p:spPr>
          <a:xfrm>
            <a:off x="731520" y="1234440"/>
            <a:ext cx="5230368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  <a:effectLst>
            <a:outerShdw blurRad="76200" dist="19050" dir="5400000" algn="t" rotWithShape="0">
              <a:srgbClr val="0F172A">
                <a:alpha val="12000"/>
              </a:srgbClr>
            </a:outerShdw>
          </a:effectLst>
        </p:spPr>
        <p:txBody>
          <a:bodyPr rtlCol="0" anchor="ctr"/>
          <a:lstStyle/>
          <a:p>
            <a:endParaRPr lang="de-CH"/>
          </a:p>
        </p:txBody>
      </p:sp>
      <p:sp>
        <p:nvSpPr>
          <p:cNvPr id="7" name="TextBox 7"/>
          <p:cNvSpPr txBox="1"/>
          <p:nvPr/>
        </p:nvSpPr>
        <p:spPr>
          <a:xfrm>
            <a:off x="1005840" y="1371600"/>
            <a:ext cx="468172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1400" b="1" dirty="0">
                <a:solidFill>
                  <a:srgbClr val="0F172A"/>
                </a:solidFill>
                <a:latin typeface="Segoe UI"/>
                <a:cs typeface="Segoe UI"/>
              </a:rPr>
              <a:t>Beispiel: Der Waffen-Ast</a:t>
            </a:r>
          </a:p>
        </p:txBody>
      </p:sp>
      <p:cxnSp>
        <p:nvCxnSpPr>
          <p:cNvPr id="8" name="Line 8"/>
          <p:cNvCxnSpPr/>
          <p:nvPr/>
        </p:nvCxnSpPr>
        <p:spPr>
          <a:xfrm>
            <a:off x="3657600" y="2423160"/>
            <a:ext cx="0" cy="685800"/>
          </a:xfrm>
          <a:prstGeom prst="line">
            <a:avLst/>
          </a:prstGeom>
          <a:ln w="22225">
            <a:solidFill>
              <a:srgbClr val="94A3B8"/>
            </a:solidFill>
          </a:ln>
        </p:spPr>
      </p:cxnSp>
      <p:cxnSp>
        <p:nvCxnSpPr>
          <p:cNvPr id="9" name="Line 9"/>
          <p:cNvCxnSpPr/>
          <p:nvPr/>
        </p:nvCxnSpPr>
        <p:spPr>
          <a:xfrm flipH="1">
            <a:off x="2560320" y="3566160"/>
            <a:ext cx="1097280" cy="685800"/>
          </a:xfrm>
          <a:prstGeom prst="line">
            <a:avLst/>
          </a:prstGeom>
          <a:ln w="22225">
            <a:solidFill>
              <a:srgbClr val="94A3B8"/>
            </a:solidFill>
          </a:ln>
        </p:spPr>
      </p:cxnSp>
      <p:cxnSp>
        <p:nvCxnSpPr>
          <p:cNvPr id="10" name="Line 10"/>
          <p:cNvCxnSpPr/>
          <p:nvPr/>
        </p:nvCxnSpPr>
        <p:spPr>
          <a:xfrm>
            <a:off x="3657600" y="3566160"/>
            <a:ext cx="1097280" cy="685800"/>
          </a:xfrm>
          <a:prstGeom prst="line">
            <a:avLst/>
          </a:prstGeom>
          <a:ln w="22225">
            <a:solidFill>
              <a:srgbClr val="94A3B8"/>
            </a:solidFill>
          </a:ln>
        </p:spPr>
      </p:cxnSp>
      <p:sp>
        <p:nvSpPr>
          <p:cNvPr id="11" name="TextBox 11"/>
          <p:cNvSpPr txBox="1"/>
          <p:nvPr/>
        </p:nvSpPr>
        <p:spPr>
          <a:xfrm>
            <a:off x="3767328" y="256032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1000" b="1" dirty="0">
                <a:solidFill>
                  <a:srgbClr val="0284C7"/>
                </a:solidFill>
                <a:latin typeface="Consolas"/>
                <a:cs typeface="Consolas"/>
              </a:rPr>
              <a:t>▲ broader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1000" b="1" dirty="0">
                <a:solidFill>
                  <a:srgbClr val="0284C7"/>
                </a:solidFill>
                <a:latin typeface="Consolas"/>
                <a:cs typeface="Consolas"/>
              </a:rPr>
              <a:t>▼ narrower</a:t>
            </a:r>
          </a:p>
        </p:txBody>
      </p:sp>
      <p:cxnSp>
        <p:nvCxnSpPr>
          <p:cNvPr id="12" name="Line 12"/>
          <p:cNvCxnSpPr/>
          <p:nvPr/>
        </p:nvCxnSpPr>
        <p:spPr>
          <a:xfrm>
            <a:off x="3291840" y="4480560"/>
            <a:ext cx="731520" cy="0"/>
          </a:xfrm>
          <a:prstGeom prst="line">
            <a:avLst/>
          </a:prstGeom>
          <a:ln w="25400">
            <a:solidFill>
              <a:srgbClr val="059669"/>
            </a:solidFill>
            <a:prstDash val="dash"/>
          </a:ln>
        </p:spPr>
      </p:cxnSp>
      <p:sp>
        <p:nvSpPr>
          <p:cNvPr id="13" name="TextBox 13"/>
          <p:cNvSpPr txBox="1"/>
          <p:nvPr/>
        </p:nvSpPr>
        <p:spPr>
          <a:xfrm>
            <a:off x="2743200" y="47548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1000" b="1" dirty="0">
                <a:solidFill>
                  <a:srgbClr val="059669"/>
                </a:solidFill>
                <a:latin typeface="Consolas"/>
                <a:cs typeface="Consolas"/>
              </a:rPr>
              <a:t>◄ related ►</a:t>
            </a:r>
          </a:p>
        </p:txBody>
      </p:sp>
      <p:cxnSp>
        <p:nvCxnSpPr>
          <p:cNvPr id="14" name="Line 14"/>
          <p:cNvCxnSpPr/>
          <p:nvPr/>
        </p:nvCxnSpPr>
        <p:spPr>
          <a:xfrm flipH="1">
            <a:off x="1234440" y="4480560"/>
            <a:ext cx="640080" cy="0"/>
          </a:xfrm>
          <a:prstGeom prst="line">
            <a:avLst/>
          </a:prstGeom>
          <a:ln w="19050">
            <a:solidFill>
              <a:srgbClr val="0284C7"/>
            </a:solidFill>
            <a:prstDash val="dash"/>
          </a:ln>
        </p:spPr>
      </p:cxnSp>
      <p:cxnSp>
        <p:nvCxnSpPr>
          <p:cNvPr id="15" name="Line 15"/>
          <p:cNvCxnSpPr/>
          <p:nvPr/>
        </p:nvCxnSpPr>
        <p:spPr>
          <a:xfrm flipV="1">
            <a:off x="1234440" y="2194560"/>
            <a:ext cx="0" cy="2286000"/>
          </a:xfrm>
          <a:prstGeom prst="line">
            <a:avLst/>
          </a:prstGeom>
          <a:ln w="19050">
            <a:solidFill>
              <a:srgbClr val="0284C7"/>
            </a:solidFill>
            <a:prstDash val="dash"/>
          </a:ln>
        </p:spPr>
      </p:cxnSp>
      <p:cxnSp>
        <p:nvCxnSpPr>
          <p:cNvPr id="16" name="Line 16"/>
          <p:cNvCxnSpPr/>
          <p:nvPr/>
        </p:nvCxnSpPr>
        <p:spPr>
          <a:xfrm>
            <a:off x="1234440" y="2194560"/>
            <a:ext cx="1737360" cy="0"/>
          </a:xfrm>
          <a:prstGeom prst="line">
            <a:avLst/>
          </a:prstGeom>
          <a:ln w="19050">
            <a:solidFill>
              <a:srgbClr val="0284C7"/>
            </a:solidFill>
            <a:prstDash val="dash"/>
            <a:tailEnd type="triangle" w="med" len="med"/>
          </a:ln>
        </p:spPr>
      </p:cxnSp>
      <p:sp>
        <p:nvSpPr>
          <p:cNvPr id="17" name="TextBox 17"/>
          <p:cNvSpPr txBox="1"/>
          <p:nvPr/>
        </p:nvSpPr>
        <p:spPr>
          <a:xfrm>
            <a:off x="1325880" y="306324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950" b="1" dirty="0">
                <a:solidFill>
                  <a:srgbClr val="0284C7"/>
                </a:solidFill>
                <a:latin typeface="Consolas"/>
                <a:cs typeface="Consolas"/>
              </a:rPr>
              <a:t>broaderTransitive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950" b="0" dirty="0">
                <a:solidFill>
                  <a:srgbClr val="64748B"/>
                </a:solidFill>
                <a:latin typeface="Calibri"/>
                <a:cs typeface="Calibri"/>
              </a:rPr>
              <a:t>abgeleitet, mehrstufig</a:t>
            </a:r>
          </a:p>
        </p:txBody>
      </p:sp>
      <p:sp>
        <p:nvSpPr>
          <p:cNvPr id="18" name="Shape 18"/>
          <p:cNvSpPr/>
          <p:nvPr/>
        </p:nvSpPr>
        <p:spPr>
          <a:xfrm>
            <a:off x="2971800" y="196596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19" name="TextBox 19"/>
          <p:cNvSpPr txBox="1"/>
          <p:nvPr/>
        </p:nvSpPr>
        <p:spPr>
          <a:xfrm>
            <a:off x="2971800" y="196596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1050" b="1" dirty="0">
                <a:solidFill>
                  <a:srgbClr val="0F172A"/>
                </a:solidFill>
                <a:latin typeface="Consolas"/>
                <a:cs typeface="Consolas"/>
              </a:rPr>
              <a:t>Item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900" b="0" dirty="0">
                <a:solidFill>
                  <a:srgbClr val="64748B"/>
                </a:solidFill>
                <a:latin typeface="Calibri"/>
                <a:cs typeface="Calibri"/>
              </a:rPr>
              <a:t>Gegenstand</a:t>
            </a:r>
          </a:p>
        </p:txBody>
      </p:sp>
      <p:sp>
        <p:nvSpPr>
          <p:cNvPr id="20" name="Shape 20"/>
          <p:cNvSpPr/>
          <p:nvPr/>
        </p:nvSpPr>
        <p:spPr>
          <a:xfrm>
            <a:off x="2971800" y="310896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21" name="TextBox 21"/>
          <p:cNvSpPr txBox="1"/>
          <p:nvPr/>
        </p:nvSpPr>
        <p:spPr>
          <a:xfrm>
            <a:off x="2971800" y="310896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1050" b="1" dirty="0">
                <a:solidFill>
                  <a:srgbClr val="0F172A"/>
                </a:solidFill>
                <a:latin typeface="Consolas"/>
                <a:cs typeface="Consolas"/>
              </a:rPr>
              <a:t>Weapon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900" b="0" dirty="0">
                <a:solidFill>
                  <a:srgbClr val="64748B"/>
                </a:solidFill>
                <a:latin typeface="Calibri"/>
                <a:cs typeface="Calibri"/>
              </a:rPr>
              <a:t>Waffe</a:t>
            </a:r>
          </a:p>
        </p:txBody>
      </p:sp>
      <p:sp>
        <p:nvSpPr>
          <p:cNvPr id="22" name="Shape 22"/>
          <p:cNvSpPr/>
          <p:nvPr/>
        </p:nvSpPr>
        <p:spPr>
          <a:xfrm>
            <a:off x="1874520" y="425196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23" name="TextBox 23"/>
          <p:cNvSpPr txBox="1"/>
          <p:nvPr/>
        </p:nvSpPr>
        <p:spPr>
          <a:xfrm>
            <a:off x="1874520" y="425196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1050" b="1" dirty="0">
                <a:solidFill>
                  <a:srgbClr val="0F172A"/>
                </a:solidFill>
                <a:latin typeface="Consolas"/>
                <a:cs typeface="Consolas"/>
              </a:rPr>
              <a:t>Sword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900" b="0" dirty="0">
                <a:solidFill>
                  <a:srgbClr val="64748B"/>
                </a:solidFill>
                <a:latin typeface="Calibri"/>
                <a:cs typeface="Calibri"/>
              </a:rPr>
              <a:t>Schwert</a:t>
            </a:r>
          </a:p>
        </p:txBody>
      </p:sp>
      <p:sp>
        <p:nvSpPr>
          <p:cNvPr id="24" name="Shape 24"/>
          <p:cNvSpPr/>
          <p:nvPr/>
        </p:nvSpPr>
        <p:spPr>
          <a:xfrm>
            <a:off x="4069080" y="425196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25" name="TextBox 25"/>
          <p:cNvSpPr txBox="1"/>
          <p:nvPr/>
        </p:nvSpPr>
        <p:spPr>
          <a:xfrm>
            <a:off x="4069080" y="425196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1050" b="1" dirty="0">
                <a:solidFill>
                  <a:srgbClr val="0F172A"/>
                </a:solidFill>
                <a:latin typeface="Consolas"/>
                <a:cs typeface="Consolas"/>
              </a:rPr>
              <a:t>Mace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900" b="0" dirty="0">
                <a:solidFill>
                  <a:srgbClr val="64748B"/>
                </a:solidFill>
                <a:latin typeface="Calibri"/>
                <a:cs typeface="Calibri"/>
              </a:rPr>
              <a:t>Streitkolben</a:t>
            </a:r>
          </a:p>
        </p:txBody>
      </p:sp>
      <p:sp>
        <p:nvSpPr>
          <p:cNvPr id="26" name="Shape 26"/>
          <p:cNvSpPr/>
          <p:nvPr/>
        </p:nvSpPr>
        <p:spPr>
          <a:xfrm>
            <a:off x="1005840" y="5212080"/>
            <a:ext cx="4681728" cy="868680"/>
          </a:xfrm>
          <a:prstGeom prst="roundRect">
            <a:avLst>
              <a:gd name="adj" fmla="val 12000"/>
            </a:avLst>
          </a:prstGeom>
          <a:solidFill>
            <a:srgbClr val="FEF2F2"/>
          </a:solidFill>
          <a:ln w="15240">
            <a:solidFill>
              <a:srgbClr val="DC2626"/>
            </a:solidFill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27" name="TextBox 27"/>
          <p:cNvSpPr txBox="1"/>
          <p:nvPr/>
        </p:nvSpPr>
        <p:spPr>
          <a:xfrm>
            <a:off x="1188720" y="5212080"/>
            <a:ext cx="4315968" cy="8686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de-CH" sz="1200" b="1" dirty="0">
                <a:solidFill>
                  <a:srgbClr val="DC2626"/>
                </a:solidFill>
                <a:latin typeface="Segoe UI"/>
                <a:cs typeface="Segoe UI"/>
              </a:rPr>
              <a:t>✗  Sword related Weapon – verboten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1050" b="0" dirty="0">
                <a:solidFill>
                  <a:srgbClr val="1E293B"/>
                </a:solidFill>
                <a:latin typeface="Calibri"/>
                <a:cs typeface="Calibri"/>
              </a:rPr>
              <a:t>W3C-Regel: related ist disjunkt mit broaderTransitive. Ein Vorfahre kann nie gleichzeitig related-Partner sein.</a:t>
            </a:r>
          </a:p>
        </p:txBody>
      </p:sp>
      <p:sp>
        <p:nvSpPr>
          <p:cNvPr id="28" name="Shape 28"/>
          <p:cNvSpPr/>
          <p:nvPr/>
        </p:nvSpPr>
        <p:spPr>
          <a:xfrm>
            <a:off x="6236208" y="1234440"/>
            <a:ext cx="5230368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284C7"/>
            </a:solidFill>
          </a:ln>
          <a:effectLst>
            <a:outerShdw blurRad="76200" dist="19050" dir="5400000" algn="t" rotWithShape="0">
              <a:srgbClr val="0F172A">
                <a:alpha val="12000"/>
              </a:srgbClr>
            </a:outerShdw>
          </a:effectLst>
        </p:spPr>
        <p:txBody>
          <a:bodyPr rtlCol="0" anchor="ctr"/>
          <a:lstStyle/>
          <a:p>
            <a:endParaRPr lang="de-CH"/>
          </a:p>
        </p:txBody>
      </p:sp>
      <p:sp>
        <p:nvSpPr>
          <p:cNvPr id="29" name="TextBox 29"/>
          <p:cNvSpPr txBox="1"/>
          <p:nvPr/>
        </p:nvSpPr>
        <p:spPr>
          <a:xfrm>
            <a:off x="6510528" y="1234440"/>
            <a:ext cx="4681728" cy="10241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de-CH" sz="1300" b="1" dirty="0">
                <a:solidFill>
                  <a:srgbClr val="0284C7"/>
                </a:solidFill>
                <a:latin typeface="Segoe UI"/>
                <a:cs typeface="Segoe UI"/>
              </a:rPr>
              <a:t>Vertikal: broader / narrower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1100" b="0" dirty="0">
                <a:solidFill>
                  <a:srgbClr val="1E293B"/>
                </a:solidFill>
                <a:latin typeface="Calibri"/>
                <a:cs typeface="Calibri"/>
              </a:rPr>
              <a:t>narrower ist die Umkehrung von broader. Nicht transitiv: Eine Abfrage liefert nur die direkte Ebene.</a:t>
            </a:r>
          </a:p>
        </p:txBody>
      </p:sp>
      <p:sp>
        <p:nvSpPr>
          <p:cNvPr id="30" name="Shape 30"/>
          <p:cNvSpPr/>
          <p:nvPr/>
        </p:nvSpPr>
        <p:spPr>
          <a:xfrm>
            <a:off x="6236208" y="2441448"/>
            <a:ext cx="5230368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284C7"/>
            </a:solidFill>
          </a:ln>
          <a:effectLst>
            <a:outerShdw blurRad="76200" dist="19050" dir="5400000" algn="t" rotWithShape="0">
              <a:srgbClr val="0F172A">
                <a:alpha val="12000"/>
              </a:srgbClr>
            </a:outerShdw>
          </a:effectLst>
        </p:spPr>
        <p:txBody>
          <a:bodyPr rtlCol="0" anchor="ctr"/>
          <a:lstStyle/>
          <a:p>
            <a:endParaRPr lang="de-CH"/>
          </a:p>
        </p:txBody>
      </p:sp>
      <p:sp>
        <p:nvSpPr>
          <p:cNvPr id="31" name="TextBox 31"/>
          <p:cNvSpPr txBox="1"/>
          <p:nvPr/>
        </p:nvSpPr>
        <p:spPr>
          <a:xfrm>
            <a:off x="6510528" y="2441448"/>
            <a:ext cx="4681728" cy="10241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de-CH" sz="1300" b="1" dirty="0">
                <a:solidFill>
                  <a:srgbClr val="0284C7"/>
                </a:solidFill>
                <a:latin typeface="Segoe UI"/>
                <a:cs typeface="Segoe UI"/>
              </a:rPr>
              <a:t>Mehrstufig: broaderTransitive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1100" b="0" dirty="0">
                <a:solidFill>
                  <a:srgbClr val="1E293B"/>
                </a:solidFill>
                <a:latin typeface="Calibri"/>
                <a:cs typeface="Calibri"/>
              </a:rPr>
              <a:t>broader ist Unterproperty davon. So wird Sword → Item abgeleitet; in SPARQL: skos:broader+</a:t>
            </a:r>
          </a:p>
        </p:txBody>
      </p:sp>
      <p:sp>
        <p:nvSpPr>
          <p:cNvPr id="32" name="Shape 32"/>
          <p:cNvSpPr/>
          <p:nvPr/>
        </p:nvSpPr>
        <p:spPr>
          <a:xfrm>
            <a:off x="6236208" y="3648456"/>
            <a:ext cx="5230368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59669"/>
            </a:solidFill>
          </a:ln>
          <a:effectLst>
            <a:outerShdw blurRad="76200" dist="19050" dir="5400000" algn="t" rotWithShape="0">
              <a:srgbClr val="0F172A">
                <a:alpha val="12000"/>
              </a:srgbClr>
            </a:outerShdw>
          </a:effectLst>
        </p:spPr>
        <p:txBody>
          <a:bodyPr rtlCol="0" anchor="ctr"/>
          <a:lstStyle/>
          <a:p>
            <a:endParaRPr lang="de-CH"/>
          </a:p>
        </p:txBody>
      </p:sp>
      <p:sp>
        <p:nvSpPr>
          <p:cNvPr id="33" name="TextBox 33"/>
          <p:cNvSpPr txBox="1"/>
          <p:nvPr/>
        </p:nvSpPr>
        <p:spPr>
          <a:xfrm>
            <a:off x="6510528" y="3648456"/>
            <a:ext cx="4681728" cy="10241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de-CH" sz="1300" b="1" dirty="0">
                <a:solidFill>
                  <a:srgbClr val="059669"/>
                </a:solidFill>
                <a:latin typeface="Segoe UI"/>
                <a:cs typeface="Segoe UI"/>
              </a:rPr>
              <a:t>Horizontal: related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1100" b="0" dirty="0">
                <a:solidFill>
                  <a:srgbClr val="1E293B"/>
                </a:solidFill>
                <a:latin typeface="Calibri"/>
                <a:cs typeface="Calibri"/>
              </a:rPr>
              <a:t>Symmetrisch, nicht transitiv. Verbindet verwandte Begriffe, ohne sie unterzuordnen.</a:t>
            </a:r>
          </a:p>
        </p:txBody>
      </p:sp>
      <p:sp>
        <p:nvSpPr>
          <p:cNvPr id="34" name="Shape 34"/>
          <p:cNvSpPr/>
          <p:nvPr/>
        </p:nvSpPr>
        <p:spPr>
          <a:xfrm>
            <a:off x="6236208" y="4901184"/>
            <a:ext cx="5230368" cy="1453896"/>
          </a:xfrm>
          <a:prstGeom prst="roundRect">
            <a:avLst>
              <a:gd name="adj" fmla="val 6000"/>
            </a:avLst>
          </a:prstGeom>
          <a:solidFill>
            <a:srgbClr val="0A0F1E"/>
          </a:solidFill>
          <a:ln>
            <a:noFill/>
          </a:ln>
          <a:effectLst>
            <a:outerShdw blurRad="76200" dist="19050" dir="5400000" algn="t" rotWithShape="0">
              <a:srgbClr val="0F172A">
                <a:alpha val="12000"/>
              </a:srgbClr>
            </a:outerShdw>
          </a:effectLst>
        </p:spPr>
        <p:txBody>
          <a:bodyPr rtlCol="0" anchor="ctr"/>
          <a:lstStyle/>
          <a:p>
            <a:endParaRPr lang="de-CH"/>
          </a:p>
        </p:txBody>
      </p:sp>
      <p:sp>
        <p:nvSpPr>
          <p:cNvPr id="35" name="Oval 35"/>
          <p:cNvSpPr/>
          <p:nvPr/>
        </p:nvSpPr>
        <p:spPr>
          <a:xfrm>
            <a:off x="6464808" y="5084064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36" name="Oval 36"/>
          <p:cNvSpPr/>
          <p:nvPr/>
        </p:nvSpPr>
        <p:spPr>
          <a:xfrm>
            <a:off x="6647688" y="5084064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37" name="Oval 37"/>
          <p:cNvSpPr/>
          <p:nvPr/>
        </p:nvSpPr>
        <p:spPr>
          <a:xfrm>
            <a:off x="6830568" y="5084064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38" name="TextBox 38"/>
          <p:cNvSpPr txBox="1"/>
          <p:nvPr/>
        </p:nvSpPr>
        <p:spPr>
          <a:xfrm>
            <a:off x="7150608" y="5020056"/>
            <a:ext cx="408736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de-CH" sz="950" b="1" dirty="0">
                <a:solidFill>
                  <a:srgbClr val="94A3B8"/>
                </a:solidFill>
                <a:latin typeface="Consolas"/>
                <a:cs typeface="Consolas"/>
              </a:rPr>
              <a:t>RELATIONEN: TURTLE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510528" y="5376672"/>
            <a:ext cx="4773168" cy="90525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de-CH" sz="1150" b="0" dirty="0">
                <a:solidFill>
                  <a:srgbClr val="E2E8F0"/>
                </a:solidFill>
                <a:latin typeface="Consolas"/>
                <a:cs typeface="Consolas"/>
              </a:rPr>
              <a:t>mcskos:Weapon skos:broader mcskos:Item 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de-CH" sz="1150" b="0" dirty="0">
                <a:solidFill>
                  <a:srgbClr val="E2E8F0"/>
                </a:solidFill>
                <a:latin typeface="Consolas"/>
                <a:cs typeface="Consolas"/>
              </a:rPr>
              <a:t>mcskos:Sword  skos:broader mcskos:Weapon 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de-CH" sz="1150" b="0" dirty="0">
                <a:solidFill>
                  <a:srgbClr val="E2E8F0"/>
                </a:solidFill>
                <a:latin typeface="Consolas"/>
                <a:cs typeface="Consolas"/>
              </a:rPr>
              <a:t>mcskos:Sword  skos:related mcskos:Mace 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de-CH" sz="1150" b="0" dirty="0">
                <a:solidFill>
                  <a:srgbClr val="94A3B8"/>
                </a:solidFill>
                <a:latin typeface="Consolas"/>
                <a:cs typeface="Consolas"/>
              </a:rPr>
              <a:t># abgeleitet: Sword broaderTransitive Item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W3C SKOS | MINECRAFT KNOWLEDGE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Praxis-Visualisierung: Das Inventar-Menü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603504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485900"/>
            <a:ext cx="5577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rPr dirty="0" err="1"/>
              <a:t>Katalog</a:t>
            </a:r>
            <a:r>
              <a:rPr dirty="0"/>
              <a:t>-Reiter &amp; </a:t>
            </a:r>
            <a:r>
              <a:rPr dirty="0" err="1"/>
              <a:t>Suchleiste</a:t>
            </a:r>
            <a:r>
              <a:rPr dirty="0"/>
              <a:t> </a:t>
            </a:r>
            <a:r>
              <a:rPr dirty="0" err="1"/>
              <a:t>im</a:t>
            </a:r>
            <a:r>
              <a:rPr dirty="0"/>
              <a:t> </a:t>
            </a:r>
            <a:r>
              <a:rPr dirty="0" err="1"/>
              <a:t>Inventar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960120" y="1828800"/>
            <a:ext cx="1325880" cy="3840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0">
                <a:solidFill>
                  <a:srgbClr val="64748B"/>
                </a:solidFill>
                <a:latin typeface="Segoe UI"/>
              </a:defRPr>
            </a:pPr>
            <a:r>
              <a:t>Blöcke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50008" y="1828800"/>
            <a:ext cx="1325880" cy="38404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59669"/>
                </a:solidFill>
                <a:latin typeface="Segoe UI"/>
              </a:defRPr>
            </a:pPr>
            <a:r>
              <a:t>★ Waffen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39896" y="1828800"/>
            <a:ext cx="1325880" cy="3840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0">
                <a:solidFill>
                  <a:srgbClr val="64748B"/>
                </a:solidFill>
                <a:latin typeface="Segoe UI"/>
              </a:defRPr>
            </a:pPr>
            <a:r>
              <a:t>Werkzeuge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9784" y="1828800"/>
            <a:ext cx="1325880" cy="3840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0">
                <a:solidFill>
                  <a:srgbClr val="64748B"/>
                </a:solidFill>
                <a:latin typeface="Segoe UI"/>
              </a:defRPr>
            </a:pPr>
            <a:r>
              <a:t>Nahrung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2331720"/>
            <a:ext cx="5577840" cy="411480"/>
          </a:xfrm>
          <a:prstGeom prst="roundRect">
            <a:avLst/>
          </a:prstGeom>
          <a:solidFill>
            <a:srgbClr val="F8FAFC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284C7"/>
                </a:solidFill>
                <a:latin typeface="Consolas"/>
              </a:defRPr>
            </a:pPr>
            <a:r>
              <a:t>🔍 Suchleiste: "Klinge"  ➔  altLabel führt zum Schwert!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2852928"/>
            <a:ext cx="5577840" cy="2514600"/>
          </a:xfrm>
          <a:prstGeom prst="roundRect">
            <a:avLst/>
          </a:prstGeom>
          <a:solidFill>
            <a:srgbClr val="0A0F1E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 rot="2700000">
            <a:off x="5190593" y="3781745"/>
            <a:ext cx="164592" cy="10058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Rectangle 13"/>
          <p:cNvSpPr/>
          <p:nvPr/>
        </p:nvSpPr>
        <p:spPr>
          <a:xfrm rot="2700000">
            <a:off x="4658812" y="4621782"/>
            <a:ext cx="438912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 rot="2700000">
            <a:off x="4685232" y="4668010"/>
            <a:ext cx="109728" cy="3200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50716" y="3206749"/>
            <a:ext cx="4114800" cy="1020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rPr dirty="0" err="1"/>
              <a:t>mcskos:Sword</a:t>
            </a:r>
            <a:r>
              <a:rPr dirty="0"/>
              <a:t> (</a:t>
            </a:r>
            <a:r>
              <a:rPr dirty="0" err="1"/>
              <a:t>Diamantschwert</a:t>
            </a:r>
            <a:r>
              <a:rPr dirty="0"/>
              <a:t>)</a:t>
            </a:r>
          </a:p>
          <a:p>
            <a:pPr>
              <a:defRPr sz="900">
                <a:solidFill>
                  <a:srgbClr val="059669"/>
                </a:solidFill>
                <a:latin typeface="Consolas"/>
              </a:defRPr>
            </a:pPr>
            <a:r>
              <a:rPr dirty="0" err="1"/>
              <a:t>Hierarchie-Pfad</a:t>
            </a:r>
            <a:r>
              <a:rPr dirty="0"/>
              <a:t>: Item &gt; Weapon &gt; Sword</a:t>
            </a:r>
          </a:p>
          <a:p>
            <a:pPr>
              <a:spcBef>
                <a:spcPts val="400"/>
              </a:spcBef>
              <a:defRPr sz="900">
                <a:solidFill>
                  <a:srgbClr val="E2E8F0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skos:prefLabel</a:t>
            </a:r>
            <a:r>
              <a:rPr dirty="0"/>
              <a:t>: "</a:t>
            </a:r>
            <a:r>
              <a:rPr dirty="0" err="1"/>
              <a:t>Schwert"@de</a:t>
            </a:r>
            <a:r>
              <a:rPr dirty="0"/>
              <a:t>, "Sword"@</a:t>
            </a:r>
            <a:r>
              <a:rPr dirty="0" err="1"/>
              <a:t>en</a:t>
            </a:r>
            <a:br>
              <a:rPr dirty="0"/>
            </a:br>
            <a:r>
              <a:rPr dirty="0"/>
              <a:t>• </a:t>
            </a:r>
            <a:r>
              <a:rPr dirty="0" err="1"/>
              <a:t>skos:notation</a:t>
            </a:r>
            <a:r>
              <a:rPr dirty="0"/>
              <a:t>: "</a:t>
            </a:r>
            <a:r>
              <a:rPr dirty="0" err="1"/>
              <a:t>mc:diamond_sword</a:t>
            </a:r>
            <a:r>
              <a:rPr dirty="0"/>
              <a:t>" (System-ID)</a:t>
            </a:r>
            <a:br>
              <a:rPr dirty="0"/>
            </a:br>
            <a:r>
              <a:rPr dirty="0"/>
              <a:t>• </a:t>
            </a:r>
            <a:r>
              <a:rPr dirty="0" err="1"/>
              <a:t>Empfehlung</a:t>
            </a:r>
            <a:r>
              <a:rPr dirty="0"/>
              <a:t> via </a:t>
            </a:r>
            <a:r>
              <a:rPr dirty="0" err="1"/>
              <a:t>skos:related</a:t>
            </a:r>
            <a:r>
              <a:rPr dirty="0"/>
              <a:t>: </a:t>
            </a:r>
            <a:r>
              <a:rPr dirty="0" err="1"/>
              <a:t>mcskos:Mace</a:t>
            </a:r>
            <a:br>
              <a:rPr dirty="0"/>
            </a:br>
            <a:r>
              <a:rPr dirty="0"/>
              <a:t>• </a:t>
            </a:r>
            <a:r>
              <a:rPr dirty="0" err="1"/>
              <a:t>skos:altLabel</a:t>
            </a:r>
            <a:r>
              <a:rPr dirty="0"/>
              <a:t>: </a:t>
            </a:r>
            <a:r>
              <a:rPr dirty="0" err="1"/>
              <a:t>"Klinge"@de</a:t>
            </a:r>
            <a:r>
              <a:rPr dirty="0"/>
              <a:t> (Synonym)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1936" y="5486400"/>
            <a:ext cx="5455920" cy="457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>
              <a:defRPr sz="950" b="1">
                <a:solidFill>
                  <a:srgbClr val="059669"/>
                </a:solidFill>
                <a:latin typeface="Segoe UI"/>
              </a:defRPr>
            </a:pPr>
            <a:r>
              <a:t>✔ Querverweis: Schwert schlägt Streitkolben (mcskos:Mace) als Nahkampfwaffe vor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0" y="1325880"/>
            <a:ext cx="448056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69480" y="1517903"/>
            <a:ext cx="40233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Wie SKOS das UI </a:t>
            </a:r>
            <a:r>
              <a:rPr dirty="0" err="1"/>
              <a:t>steuert</a:t>
            </a:r>
            <a:endParaRPr dirty="0"/>
          </a:p>
        </p:txBody>
      </p:sp>
      <p:sp>
        <p:nvSpPr>
          <p:cNvPr id="20" name="Rounded Rectangle 19"/>
          <p:cNvSpPr/>
          <p:nvPr/>
        </p:nvSpPr>
        <p:spPr>
          <a:xfrm>
            <a:off x="7132320" y="1874519"/>
            <a:ext cx="4114800" cy="9144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69480" y="1947672"/>
            <a:ext cx="3840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1. Katalog-Reiter durch broader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Die Menüleiste liest direkte Kinder von Item aus. Kein Hardcoding nötig!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0" y="2926079"/>
            <a:ext cx="4114800" cy="9144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69480" y="2999232"/>
            <a:ext cx="3840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2. Suche über Synonyme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„Klinge“ steht als altLabel im Vokabular. Tippfehler korrigiert die Fuzzy-Suche.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0" y="3977639"/>
            <a:ext cx="4114800" cy="9144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69480" y="4050791"/>
            <a:ext cx="2949846" cy="3770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333EA"/>
                </a:solidFill>
                <a:latin typeface="Segoe UI"/>
              </a:defRPr>
            </a:pPr>
            <a:r>
              <a:rPr dirty="0"/>
              <a:t>3. </a:t>
            </a:r>
            <a:r>
              <a:rPr dirty="0" err="1"/>
              <a:t>Zugehörigkeit</a:t>
            </a:r>
            <a:r>
              <a:rPr dirty="0"/>
              <a:t> auf </a:t>
            </a:r>
            <a:r>
              <a:rPr dirty="0" err="1"/>
              <a:t>Knopfdruck</a:t>
            </a:r>
            <a:endParaRPr dirty="0"/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rPr dirty="0"/>
              <a:t>Der </a:t>
            </a:r>
            <a:r>
              <a:rPr dirty="0" err="1"/>
              <a:t>Pfad</a:t>
            </a:r>
            <a:r>
              <a:rPr dirty="0"/>
              <a:t> Sword ➔ Weapon </a:t>
            </a:r>
            <a:r>
              <a:rPr dirty="0" err="1"/>
              <a:t>erklärt</a:t>
            </a:r>
            <a:r>
              <a:rPr dirty="0"/>
              <a:t> die </a:t>
            </a:r>
            <a:r>
              <a:rPr dirty="0" err="1"/>
              <a:t>Kategorie</a:t>
            </a:r>
            <a:r>
              <a:rPr dirty="0"/>
              <a:t> </a:t>
            </a:r>
            <a:r>
              <a:rPr dirty="0" err="1"/>
              <a:t>automatisch</a:t>
            </a:r>
            <a:r>
              <a:rPr dirty="0"/>
              <a:t>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0" y="5029200"/>
            <a:ext cx="4114800" cy="9144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269480" y="5102352"/>
            <a:ext cx="3840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Segoe UI"/>
              </a:defRPr>
            </a:pPr>
            <a:r>
              <a:t>4. Verwandte Empfehlungen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Dank skos:related empfiehlt das Menü passende Alternativen (Mace).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W3C SKOS | MINECRAFT KNOWLEDGE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Dokumentation: Die skos:note-Familie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493776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44805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Standardisierte Notiz-Typen (skos:note)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1874519"/>
            <a:ext cx="4480560" cy="65836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1929384"/>
            <a:ext cx="4206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59669"/>
                </a:solidFill>
                <a:latin typeface="Consolas"/>
              </a:defRPr>
            </a:pPr>
            <a:r>
              <a:t>skos:definition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Formale Begriffserklärung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624327"/>
            <a:ext cx="4480560" cy="65836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2679191"/>
            <a:ext cx="4206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Consolas"/>
              </a:defRPr>
            </a:pPr>
            <a:r>
              <a:t>skos:scopeNote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Geltungsbereich (Wann gilt etwas, wann nicht?)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3374135"/>
            <a:ext cx="4480560" cy="65836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3428999"/>
            <a:ext cx="4206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Consolas"/>
              </a:defRPr>
            </a:pPr>
            <a:r>
              <a:t>skos:example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Konkretes Praxisbeispiel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4123944"/>
            <a:ext cx="4480560" cy="65836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4178807"/>
            <a:ext cx="4206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9333EA"/>
                </a:solidFill>
                <a:latin typeface="Consolas"/>
              </a:defRPr>
            </a:pPr>
            <a:r>
              <a:t>skos:historyNote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Historischer Status &amp; Gameplay-Patches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4873752"/>
            <a:ext cx="4480560" cy="65836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4928616"/>
            <a:ext cx="4206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Consolas"/>
              </a:defRPr>
            </a:pPr>
            <a:r>
              <a:t>skos:editorialNote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Interne Arbeitsanweisungen für Team B3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0" y="1325880"/>
            <a:ext cx="557784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80760" y="1508760"/>
            <a:ext cx="51206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Praxisbeispiele: Scope &amp; Patch-Historie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1828800"/>
            <a:ext cx="5212080" cy="2011680"/>
          </a:xfrm>
          <a:prstGeom prst="roundRect">
            <a:avLst/>
          </a:prstGeom>
          <a:solidFill>
            <a:srgbClr val="0A0F1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263640" y="1993392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46520" y="1993392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629400" y="1993392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0" y="1965960"/>
            <a:ext cx="42976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  <a:latin typeface="Consolas"/>
              </a:defRPr>
            </a:pPr>
            <a:r>
              <a:t>INSPEKTION 1: mcskos:Weapon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286000"/>
            <a:ext cx="475488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F1F5F9"/>
                </a:solidFill>
                <a:latin typeface="Consolas"/>
              </a:defRPr>
            </a:pPr>
            <a:r>
              <a:t>mcskos:Weapon a skos:Concept ;</a:t>
            </a:r>
            <a:br/>
            <a:r>
              <a:t>    skos:prefLabel "Waffe"@de ;</a:t>
            </a:r>
            <a:br/>
            <a:r>
              <a:t>    skos:scopeNote "Nur Items, deren Hauptzweck der Kampf ist."@de ;</a:t>
            </a:r>
            <a:br/>
            <a:r>
              <a:t>    skos:example "Schwerter = Waffe; Holzaxt = primaer Werkzeug."@de 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0" y="4069080"/>
            <a:ext cx="5212080" cy="2011680"/>
          </a:xfrm>
          <a:prstGeom prst="roundRect">
            <a:avLst/>
          </a:prstGeom>
          <a:solidFill>
            <a:srgbClr val="0A0F1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263640" y="4233672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446520" y="4233672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629400" y="4233672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58000" y="4206240"/>
            <a:ext cx="42976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  <a:latin typeface="Consolas"/>
              </a:defRPr>
            </a:pPr>
            <a:r>
              <a:t>INSPEKTION 2: mcskos:Goldenapple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4526280"/>
            <a:ext cx="4892040" cy="8309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F1F5F9"/>
                </a:solidFill>
                <a:latin typeface="Consolas"/>
              </a:defRPr>
            </a:pPr>
            <a:r>
              <a:rPr dirty="0" err="1"/>
              <a:t>mcskos:Goldenapple</a:t>
            </a:r>
            <a:r>
              <a:rPr dirty="0"/>
              <a:t> a </a:t>
            </a:r>
            <a:r>
              <a:rPr dirty="0" err="1"/>
              <a:t>skos:Concept</a:t>
            </a:r>
            <a:r>
              <a:rPr dirty="0"/>
              <a:t> ;</a:t>
            </a:r>
            <a:br>
              <a:rPr dirty="0"/>
            </a:br>
            <a:r>
              <a:rPr dirty="0"/>
              <a:t>    </a:t>
            </a:r>
            <a:r>
              <a:rPr dirty="0" err="1"/>
              <a:t>skos:prefLabel</a:t>
            </a:r>
            <a:r>
              <a:rPr dirty="0"/>
              <a:t> "</a:t>
            </a:r>
            <a:r>
              <a:rPr dirty="0" err="1"/>
              <a:t>Goldapfel"@de</a:t>
            </a:r>
            <a:r>
              <a:rPr dirty="0"/>
              <a:t> ;</a:t>
            </a:r>
            <a:br>
              <a:rPr dirty="0"/>
            </a:br>
            <a:r>
              <a:rPr dirty="0"/>
              <a:t>    </a:t>
            </a:r>
            <a:r>
              <a:rPr dirty="0" err="1"/>
              <a:t>skos:historyNote</a:t>
            </a:r>
            <a:r>
              <a:rPr dirty="0"/>
              <a:t> "Seit Patch 1.9 </a:t>
            </a:r>
            <a:r>
              <a:rPr dirty="0" err="1"/>
              <a:t>nur</a:t>
            </a:r>
            <a:r>
              <a:rPr dirty="0"/>
              <a:t> </a:t>
            </a:r>
            <a:r>
              <a:rPr dirty="0" err="1"/>
              <a:t>noch</a:t>
            </a:r>
            <a:r>
              <a:rPr dirty="0"/>
              <a:t> in Dungeons </a:t>
            </a:r>
            <a:r>
              <a:rPr dirty="0" err="1"/>
              <a:t>findbar</a:t>
            </a:r>
            <a:r>
              <a:rPr dirty="0"/>
              <a:t>, nicht</a:t>
            </a:r>
            <a:endParaRPr lang="de-CH" dirty="0"/>
          </a:p>
          <a:p>
            <a:pPr>
              <a:defRPr sz="900">
                <a:solidFill>
                  <a:srgbClr val="F1F5F9"/>
                </a:solidFill>
                <a:latin typeface="Consolas"/>
              </a:defRPr>
            </a:pPr>
            <a:r>
              <a:rPr lang="de-CH" dirty="0"/>
              <a:t>   </a:t>
            </a:r>
            <a:r>
              <a:rPr dirty="0"/>
              <a:t> </a:t>
            </a:r>
            <a:r>
              <a:rPr dirty="0" err="1"/>
              <a:t>craftbar</a:t>
            </a:r>
            <a:r>
              <a:rPr dirty="0"/>
              <a:t>."@de ;</a:t>
            </a:r>
            <a:br>
              <a:rPr dirty="0"/>
            </a:br>
            <a:r>
              <a:rPr dirty="0"/>
              <a:t>    </a:t>
            </a:r>
            <a:r>
              <a:rPr dirty="0" err="1"/>
              <a:t>skos:editorialNote</a:t>
            </a:r>
            <a:r>
              <a:rPr dirty="0"/>
              <a:t> "Team B3: </a:t>
            </a:r>
            <a:r>
              <a:rPr dirty="0" err="1"/>
              <a:t>Pruefen</a:t>
            </a:r>
            <a:r>
              <a:rPr dirty="0"/>
              <a:t> </a:t>
            </a:r>
            <a:r>
              <a:rPr dirty="0" err="1"/>
              <a:t>ob</a:t>
            </a:r>
            <a:r>
              <a:rPr dirty="0"/>
              <a:t> </a:t>
            </a:r>
            <a:r>
              <a:rPr dirty="0" err="1"/>
              <a:t>verzauberter</a:t>
            </a:r>
            <a:r>
              <a:rPr dirty="0"/>
              <a:t> Apfel </a:t>
            </a:r>
            <a:r>
              <a:rPr dirty="0" err="1"/>
              <a:t>eigenes</a:t>
            </a:r>
            <a:r>
              <a:rPr dirty="0"/>
              <a:t> </a:t>
            </a:r>
            <a:endParaRPr lang="de-CH" dirty="0"/>
          </a:p>
          <a:p>
            <a:pPr>
              <a:defRPr sz="900">
                <a:solidFill>
                  <a:srgbClr val="F1F5F9"/>
                </a:solidFill>
                <a:latin typeface="Consolas"/>
              </a:defRPr>
            </a:pPr>
            <a:r>
              <a:rPr lang="de-CH" dirty="0"/>
              <a:t>    K</a:t>
            </a:r>
            <a:r>
              <a:rPr dirty="0" err="1"/>
              <a:t>onzept</a:t>
            </a:r>
            <a:r>
              <a:rPr dirty="0"/>
              <a:t> </a:t>
            </a:r>
            <a:r>
              <a:rPr dirty="0" err="1"/>
              <a:t>braucht</a:t>
            </a:r>
            <a:r>
              <a:rPr dirty="0"/>
              <a:t>."@de 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4" name="TextBox 4"/>
          <p:cNvSpPr txBox="1"/>
          <p:nvPr/>
        </p:nvSpPr>
        <p:spPr>
          <a:xfrm>
            <a:off x="731520" y="329184"/>
            <a:ext cx="10728655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1000" b="1" dirty="0">
                <a:solidFill>
                  <a:srgbClr val="0284C7"/>
                </a:solidFill>
                <a:latin typeface="Segoe UI"/>
                <a:cs typeface="Segoe UI"/>
              </a:rPr>
              <a:t>W3C SKOS | MINECRAFT KNOWLEDGE GRAPH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1520" y="56692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2200" b="1" dirty="0">
                <a:solidFill>
                  <a:srgbClr val="0F172A"/>
                </a:solidFill>
                <a:latin typeface="Segoe UI"/>
                <a:cs typeface="Segoe UI"/>
              </a:rPr>
              <a:t>Sammlungen: Gruppieren, ohne den Baum zu verbiegen</a:t>
            </a:r>
          </a:p>
        </p:txBody>
      </p:sp>
      <p:sp>
        <p:nvSpPr>
          <p:cNvPr id="6" name="Shape 6"/>
          <p:cNvSpPr/>
          <p:nvPr/>
        </p:nvSpPr>
        <p:spPr>
          <a:xfrm>
            <a:off x="731520" y="1234440"/>
            <a:ext cx="3393338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284C7"/>
            </a:solidFill>
          </a:ln>
          <a:effectLst>
            <a:outerShdw blurRad="76200" dist="19050" dir="5400000" algn="t" rotWithShape="0">
              <a:srgbClr val="0F172A">
                <a:alpha val="12000"/>
              </a:srgbClr>
            </a:outerShdw>
          </a:effectLst>
        </p:spPr>
        <p:txBody>
          <a:bodyPr rtlCol="0" anchor="ctr"/>
          <a:lstStyle/>
          <a:p>
            <a:endParaRPr lang="de-CH"/>
          </a:p>
        </p:txBody>
      </p:sp>
      <p:sp>
        <p:nvSpPr>
          <p:cNvPr id="7" name="TextBox 7"/>
          <p:cNvSpPr txBox="1"/>
          <p:nvPr/>
        </p:nvSpPr>
        <p:spPr>
          <a:xfrm>
            <a:off x="960120" y="1325880"/>
            <a:ext cx="2936138" cy="14630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de-CH" sz="1300" b="1" dirty="0">
                <a:solidFill>
                  <a:srgbClr val="0284C7"/>
                </a:solidFill>
                <a:latin typeface="Consolas"/>
                <a:cs typeface="Consolas"/>
              </a:rPr>
              <a:t>skos:ConceptScheme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de-CH" sz="1150" b="1" dirty="0">
                <a:solidFill>
                  <a:srgbClr val="0F172A"/>
                </a:solidFill>
                <a:latin typeface="Calibri"/>
                <a:cs typeface="Calibri"/>
              </a:rPr>
              <a:t>Das ganze Vokabular – der Katalog als Klammer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de-CH" sz="1050" b="0" dirty="0">
                <a:solidFill>
                  <a:srgbClr val="64748B"/>
                </a:solidFill>
                <a:latin typeface="Calibri"/>
                <a:cs typeface="Calibri"/>
              </a:rPr>
              <a:t>Beispiel: </a:t>
            </a:r>
            <a:r>
              <a:rPr lang="de-CH" sz="1050" b="1" dirty="0">
                <a:solidFill>
                  <a:srgbClr val="1E293B"/>
                </a:solidFill>
                <a:latin typeface="Calibri"/>
                <a:cs typeface="Calibri"/>
              </a:rPr>
              <a:t>MinecraftItemTaxonomy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1050" b="0" dirty="0">
                <a:solidFill>
                  <a:srgbClr val="64748B"/>
                </a:solidFill>
                <a:latin typeface="Calibri"/>
                <a:cs typeface="Calibri"/>
              </a:rPr>
              <a:t>Hierarchie: </a:t>
            </a:r>
            <a:r>
              <a:rPr lang="de-CH" sz="1050" b="0" dirty="0">
                <a:solidFill>
                  <a:srgbClr val="1E293B"/>
                </a:solidFill>
                <a:latin typeface="Calibri"/>
                <a:cs typeface="Calibri"/>
              </a:rPr>
              <a:t>Enthält die Hierarchie, ist selbst kein Teil davon</a:t>
            </a:r>
          </a:p>
        </p:txBody>
      </p:sp>
      <p:sp>
        <p:nvSpPr>
          <p:cNvPr id="8" name="Shape 8"/>
          <p:cNvSpPr/>
          <p:nvPr/>
        </p:nvSpPr>
        <p:spPr>
          <a:xfrm>
            <a:off x="4399178" y="1234440"/>
            <a:ext cx="3393338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59669"/>
            </a:solidFill>
          </a:ln>
          <a:effectLst>
            <a:outerShdw blurRad="76200" dist="19050" dir="5400000" algn="t" rotWithShape="0">
              <a:srgbClr val="0F172A">
                <a:alpha val="12000"/>
              </a:srgbClr>
            </a:outerShdw>
          </a:effectLst>
        </p:spPr>
        <p:txBody>
          <a:bodyPr rtlCol="0" anchor="ctr"/>
          <a:lstStyle/>
          <a:p>
            <a:endParaRPr lang="de-CH"/>
          </a:p>
        </p:txBody>
      </p:sp>
      <p:sp>
        <p:nvSpPr>
          <p:cNvPr id="9" name="TextBox 9"/>
          <p:cNvSpPr txBox="1"/>
          <p:nvPr/>
        </p:nvSpPr>
        <p:spPr>
          <a:xfrm>
            <a:off x="4627778" y="1325880"/>
            <a:ext cx="2936138" cy="14630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de-CH" sz="1300" b="1" dirty="0">
                <a:solidFill>
                  <a:srgbClr val="059669"/>
                </a:solidFill>
                <a:latin typeface="Consolas"/>
                <a:cs typeface="Consolas"/>
              </a:rPr>
              <a:t>skos:Concept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de-CH" sz="1150" b="1" dirty="0">
                <a:solidFill>
                  <a:srgbClr val="0F172A"/>
                </a:solidFill>
                <a:latin typeface="Calibri"/>
                <a:cs typeface="Calibri"/>
              </a:rPr>
              <a:t>Ein Begriff mit eigener Bedeutung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de-CH" sz="1050" b="0" dirty="0">
                <a:solidFill>
                  <a:srgbClr val="64748B"/>
                </a:solidFill>
                <a:latin typeface="Calibri"/>
                <a:cs typeface="Calibri"/>
              </a:rPr>
              <a:t>Beispiel: </a:t>
            </a:r>
            <a:r>
              <a:rPr lang="de-CH" sz="1050" b="1" dirty="0">
                <a:solidFill>
                  <a:srgbClr val="1E293B"/>
                </a:solidFill>
                <a:latin typeface="Calibri"/>
                <a:cs typeface="Calibri"/>
              </a:rPr>
              <a:t>Schwert, Bogen, Goldapfel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1050" b="0" dirty="0">
                <a:solidFill>
                  <a:srgbClr val="64748B"/>
                </a:solidFill>
                <a:latin typeface="Calibri"/>
                <a:cs typeface="Calibri"/>
              </a:rPr>
              <a:t>Hierarchie: </a:t>
            </a:r>
            <a:r>
              <a:rPr lang="de-CH" sz="1050" b="0" dirty="0">
                <a:solidFill>
                  <a:srgbClr val="1E293B"/>
                </a:solidFill>
                <a:latin typeface="Calibri"/>
                <a:cs typeface="Calibri"/>
              </a:rPr>
              <a:t>Ja – hängt über broader / narrower im Baum</a:t>
            </a:r>
          </a:p>
        </p:txBody>
      </p:sp>
      <p:sp>
        <p:nvSpPr>
          <p:cNvPr id="10" name="Shape 10"/>
          <p:cNvSpPr/>
          <p:nvPr/>
        </p:nvSpPr>
        <p:spPr>
          <a:xfrm>
            <a:off x="8066837" y="1234440"/>
            <a:ext cx="3393338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  <a:effectLst>
            <a:outerShdw blurRad="76200" dist="19050" dir="5400000" algn="t" rotWithShape="0">
              <a:srgbClr val="0F172A">
                <a:alpha val="12000"/>
              </a:srgbClr>
            </a:outerShdw>
          </a:effectLst>
        </p:spPr>
        <p:txBody>
          <a:bodyPr rtlCol="0" anchor="ctr"/>
          <a:lstStyle/>
          <a:p>
            <a:endParaRPr lang="de-CH"/>
          </a:p>
        </p:txBody>
      </p:sp>
      <p:sp>
        <p:nvSpPr>
          <p:cNvPr id="11" name="TextBox 11"/>
          <p:cNvSpPr txBox="1"/>
          <p:nvPr/>
        </p:nvSpPr>
        <p:spPr>
          <a:xfrm>
            <a:off x="8295437" y="1325880"/>
            <a:ext cx="2936138" cy="14630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de-CH" sz="1300" b="1" dirty="0">
                <a:solidFill>
                  <a:srgbClr val="7C3AED"/>
                </a:solidFill>
                <a:latin typeface="Consolas"/>
                <a:cs typeface="Consolas"/>
              </a:rPr>
              <a:t>skos:Collection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de-CH" sz="1150" b="1" dirty="0">
                <a:solidFill>
                  <a:srgbClr val="0F172A"/>
                </a:solidFill>
                <a:latin typeface="Calibri"/>
                <a:cs typeface="Calibri"/>
              </a:rPr>
              <a:t>Eine Zusammenstellung von Begriffen für einen Zweck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de-CH" sz="1050" b="0" dirty="0">
                <a:solidFill>
                  <a:srgbClr val="64748B"/>
                </a:solidFill>
                <a:latin typeface="Calibri"/>
                <a:cs typeface="Calibri"/>
              </a:rPr>
              <a:t>Beispiel: </a:t>
            </a:r>
            <a:r>
              <a:rPr lang="de-CH" sz="1050" b="1" dirty="0">
                <a:solidFill>
                  <a:srgbClr val="1E293B"/>
                </a:solidFill>
                <a:latin typeface="Calibri"/>
                <a:cs typeface="Calibri"/>
              </a:rPr>
              <a:t>PvP-Starterkit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1050" b="0" dirty="0">
                <a:solidFill>
                  <a:srgbClr val="64748B"/>
                </a:solidFill>
                <a:latin typeface="Calibri"/>
                <a:cs typeface="Calibri"/>
              </a:rPr>
              <a:t>Hierarchie: </a:t>
            </a:r>
            <a:r>
              <a:rPr lang="de-CH" sz="1050" b="0" dirty="0">
                <a:solidFill>
                  <a:srgbClr val="1E293B"/>
                </a:solidFill>
                <a:latin typeface="Calibri"/>
                <a:cs typeface="Calibri"/>
              </a:rPr>
              <a:t>Nein – greift quer über Äste, keine broader-Kanten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295437" y="2487168"/>
            <a:ext cx="2936138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1000" b="1" dirty="0">
                <a:solidFill>
                  <a:srgbClr val="DC2626"/>
                </a:solidFill>
                <a:latin typeface="Calibri"/>
                <a:cs typeface="Calibri"/>
              </a:rPr>
              <a:t>W3C: disjunkt mit Concept &amp; ConceptScheme</a:t>
            </a:r>
          </a:p>
        </p:txBody>
      </p:sp>
      <p:sp>
        <p:nvSpPr>
          <p:cNvPr id="13" name="Shape 13"/>
          <p:cNvSpPr/>
          <p:nvPr/>
        </p:nvSpPr>
        <p:spPr>
          <a:xfrm>
            <a:off x="731520" y="3017520"/>
            <a:ext cx="5230368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  <a:effectLst>
            <a:outerShdw blurRad="76200" dist="19050" dir="5400000" algn="t" rotWithShape="0">
              <a:srgbClr val="0F172A">
                <a:alpha val="12000"/>
              </a:srgbClr>
            </a:outerShdw>
          </a:effectLst>
        </p:spPr>
        <p:txBody>
          <a:bodyPr rtlCol="0" anchor="ctr"/>
          <a:lstStyle/>
          <a:p>
            <a:endParaRPr lang="de-CH"/>
          </a:p>
        </p:txBody>
      </p:sp>
      <p:sp>
        <p:nvSpPr>
          <p:cNvPr id="14" name="TextBox 14"/>
          <p:cNvSpPr txBox="1"/>
          <p:nvPr/>
        </p:nvSpPr>
        <p:spPr>
          <a:xfrm>
            <a:off x="1005840" y="3127248"/>
            <a:ext cx="4681728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1300" b="1" dirty="0">
                <a:solidFill>
                  <a:srgbClr val="0F172A"/>
                </a:solidFill>
                <a:latin typeface="Segoe UI"/>
                <a:cs typeface="Segoe UI"/>
              </a:rPr>
              <a:t>Baum und Sammlung im Vergleich</a:t>
            </a:r>
          </a:p>
        </p:txBody>
      </p:sp>
      <p:cxnSp>
        <p:nvCxnSpPr>
          <p:cNvPr id="15" name="Line 15"/>
          <p:cNvCxnSpPr/>
          <p:nvPr/>
        </p:nvCxnSpPr>
        <p:spPr>
          <a:xfrm>
            <a:off x="1005840" y="3584448"/>
            <a:ext cx="365760" cy="0"/>
          </a:xfrm>
          <a:prstGeom prst="line">
            <a:avLst/>
          </a:prstGeom>
          <a:ln w="19050">
            <a:solidFill>
              <a:srgbClr val="94A3B8"/>
            </a:solidFill>
          </a:ln>
        </p:spPr>
      </p:cxnSp>
      <p:sp>
        <p:nvSpPr>
          <p:cNvPr id="16" name="TextBox 16"/>
          <p:cNvSpPr txBox="1"/>
          <p:nvPr/>
        </p:nvSpPr>
        <p:spPr>
          <a:xfrm>
            <a:off x="1444752" y="3474720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950" b="0" dirty="0">
                <a:solidFill>
                  <a:srgbClr val="64748B"/>
                </a:solidFill>
                <a:latin typeface="Calibri"/>
                <a:cs typeface="Calibri"/>
              </a:rPr>
              <a:t>broader (Baum)</a:t>
            </a:r>
          </a:p>
        </p:txBody>
      </p:sp>
      <p:cxnSp>
        <p:nvCxnSpPr>
          <p:cNvPr id="17" name="Line 17"/>
          <p:cNvCxnSpPr/>
          <p:nvPr/>
        </p:nvCxnSpPr>
        <p:spPr>
          <a:xfrm>
            <a:off x="2880360" y="3584448"/>
            <a:ext cx="365760" cy="0"/>
          </a:xfrm>
          <a:prstGeom prst="line">
            <a:avLst/>
          </a:prstGeom>
          <a:ln w="19050">
            <a:solidFill>
              <a:srgbClr val="7C3AED"/>
            </a:solidFill>
            <a:prstDash val="dash"/>
          </a:ln>
        </p:spPr>
      </p:cxnSp>
      <p:sp>
        <p:nvSpPr>
          <p:cNvPr id="18" name="TextBox 18"/>
          <p:cNvSpPr txBox="1"/>
          <p:nvPr/>
        </p:nvSpPr>
        <p:spPr>
          <a:xfrm>
            <a:off x="3319272" y="3474720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950" b="0" dirty="0">
                <a:solidFill>
                  <a:srgbClr val="64748B"/>
                </a:solidFill>
                <a:latin typeface="Calibri"/>
                <a:cs typeface="Calibri"/>
              </a:rPr>
              <a:t>skos:member (Sammlung)</a:t>
            </a:r>
          </a:p>
        </p:txBody>
      </p:sp>
      <p:cxnSp>
        <p:nvCxnSpPr>
          <p:cNvPr id="19" name="Line 19"/>
          <p:cNvCxnSpPr/>
          <p:nvPr/>
        </p:nvCxnSpPr>
        <p:spPr>
          <a:xfrm flipH="1">
            <a:off x="2103120" y="4251960"/>
            <a:ext cx="1243584" cy="274320"/>
          </a:xfrm>
          <a:prstGeom prst="line">
            <a:avLst/>
          </a:prstGeom>
          <a:ln w="19050">
            <a:solidFill>
              <a:srgbClr val="94A3B8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3346704" y="4251960"/>
            <a:ext cx="1271016" cy="274320"/>
          </a:xfrm>
          <a:prstGeom prst="line">
            <a:avLst/>
          </a:prstGeom>
          <a:ln w="19050">
            <a:solidFill>
              <a:srgbClr val="94A3B8"/>
            </a:solidFill>
          </a:ln>
        </p:spPr>
      </p:cxnSp>
      <p:cxnSp>
        <p:nvCxnSpPr>
          <p:cNvPr id="21" name="Line 21"/>
          <p:cNvCxnSpPr/>
          <p:nvPr/>
        </p:nvCxnSpPr>
        <p:spPr>
          <a:xfrm flipH="1">
            <a:off x="1463040" y="4892040"/>
            <a:ext cx="640080" cy="274320"/>
          </a:xfrm>
          <a:prstGeom prst="line">
            <a:avLst/>
          </a:prstGeom>
          <a:ln w="19050">
            <a:solidFill>
              <a:srgbClr val="94A3B8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2103120" y="4892040"/>
            <a:ext cx="640080" cy="274320"/>
          </a:xfrm>
          <a:prstGeom prst="line">
            <a:avLst/>
          </a:prstGeom>
          <a:ln w="19050">
            <a:solidFill>
              <a:srgbClr val="94A3B8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4617720" y="4892040"/>
            <a:ext cx="0" cy="274320"/>
          </a:xfrm>
          <a:prstGeom prst="line">
            <a:avLst/>
          </a:prstGeom>
          <a:ln w="19050">
            <a:solidFill>
              <a:srgbClr val="94A3B8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1463040" y="5532120"/>
            <a:ext cx="1224382" cy="274320"/>
          </a:xfrm>
          <a:prstGeom prst="line">
            <a:avLst/>
          </a:prstGeom>
          <a:ln w="19050">
            <a:solidFill>
              <a:srgbClr val="7C3AED"/>
            </a:solidFill>
            <a:prstDash val="dash"/>
          </a:ln>
        </p:spPr>
      </p:cxnSp>
      <p:cxnSp>
        <p:nvCxnSpPr>
          <p:cNvPr id="25" name="Line 25"/>
          <p:cNvCxnSpPr/>
          <p:nvPr/>
        </p:nvCxnSpPr>
        <p:spPr>
          <a:xfrm>
            <a:off x="2743200" y="5532120"/>
            <a:ext cx="392278" cy="274320"/>
          </a:xfrm>
          <a:prstGeom prst="line">
            <a:avLst/>
          </a:prstGeom>
          <a:ln w="19050">
            <a:solidFill>
              <a:srgbClr val="7C3AED"/>
            </a:solidFill>
            <a:prstDash val="dash"/>
          </a:ln>
        </p:spPr>
      </p:cxnSp>
      <p:cxnSp>
        <p:nvCxnSpPr>
          <p:cNvPr id="26" name="Line 26"/>
          <p:cNvCxnSpPr/>
          <p:nvPr/>
        </p:nvCxnSpPr>
        <p:spPr>
          <a:xfrm flipH="1">
            <a:off x="3791560" y="5532120"/>
            <a:ext cx="826160" cy="274320"/>
          </a:xfrm>
          <a:prstGeom prst="line">
            <a:avLst/>
          </a:prstGeom>
          <a:ln w="19050">
            <a:solidFill>
              <a:srgbClr val="7C3AED"/>
            </a:solidFill>
            <a:prstDash val="dash"/>
          </a:ln>
        </p:spPr>
      </p:cxnSp>
      <p:sp>
        <p:nvSpPr>
          <p:cNvPr id="27" name="Shape 27"/>
          <p:cNvSpPr/>
          <p:nvPr/>
        </p:nvSpPr>
        <p:spPr>
          <a:xfrm>
            <a:off x="2752344" y="3886200"/>
            <a:ext cx="1188720" cy="36576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28" name="TextBox 28"/>
          <p:cNvSpPr txBox="1"/>
          <p:nvPr/>
        </p:nvSpPr>
        <p:spPr>
          <a:xfrm>
            <a:off x="2752344" y="388620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1100" b="1" dirty="0">
                <a:solidFill>
                  <a:srgbClr val="0F172A"/>
                </a:solidFill>
                <a:latin typeface="Segoe UI"/>
                <a:cs typeface="Segoe UI"/>
              </a:rPr>
              <a:t>Item</a:t>
            </a:r>
          </a:p>
        </p:txBody>
      </p:sp>
      <p:sp>
        <p:nvSpPr>
          <p:cNvPr id="29" name="Shape 29"/>
          <p:cNvSpPr/>
          <p:nvPr/>
        </p:nvSpPr>
        <p:spPr>
          <a:xfrm>
            <a:off x="1508760" y="4526280"/>
            <a:ext cx="1188720" cy="36576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30" name="TextBox 30"/>
          <p:cNvSpPr txBox="1"/>
          <p:nvPr/>
        </p:nvSpPr>
        <p:spPr>
          <a:xfrm>
            <a:off x="1508760" y="452628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1100" b="1" dirty="0">
                <a:solidFill>
                  <a:srgbClr val="0F172A"/>
                </a:solidFill>
                <a:latin typeface="Segoe UI"/>
                <a:cs typeface="Segoe UI"/>
              </a:rPr>
              <a:t>Waffe</a:t>
            </a:r>
          </a:p>
        </p:txBody>
      </p:sp>
      <p:sp>
        <p:nvSpPr>
          <p:cNvPr id="31" name="Shape 31"/>
          <p:cNvSpPr/>
          <p:nvPr/>
        </p:nvSpPr>
        <p:spPr>
          <a:xfrm>
            <a:off x="4023360" y="4526280"/>
            <a:ext cx="1188720" cy="36576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32" name="TextBox 32"/>
          <p:cNvSpPr txBox="1"/>
          <p:nvPr/>
        </p:nvSpPr>
        <p:spPr>
          <a:xfrm>
            <a:off x="4023360" y="452628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1100" b="1" dirty="0">
                <a:solidFill>
                  <a:srgbClr val="0F172A"/>
                </a:solidFill>
                <a:latin typeface="Segoe UI"/>
                <a:cs typeface="Segoe UI"/>
              </a:rPr>
              <a:t>Nahrung</a:t>
            </a:r>
          </a:p>
        </p:txBody>
      </p:sp>
      <p:sp>
        <p:nvSpPr>
          <p:cNvPr id="33" name="Shape 33"/>
          <p:cNvSpPr/>
          <p:nvPr/>
        </p:nvSpPr>
        <p:spPr>
          <a:xfrm>
            <a:off x="868680" y="5166360"/>
            <a:ext cx="1188720" cy="365760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34" name="TextBox 34"/>
          <p:cNvSpPr txBox="1"/>
          <p:nvPr/>
        </p:nvSpPr>
        <p:spPr>
          <a:xfrm>
            <a:off x="868680" y="516636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1100" b="1" dirty="0">
                <a:solidFill>
                  <a:srgbClr val="0F172A"/>
                </a:solidFill>
                <a:latin typeface="Segoe UI"/>
                <a:cs typeface="Segoe UI"/>
              </a:rPr>
              <a:t>Schwert</a:t>
            </a:r>
          </a:p>
        </p:txBody>
      </p:sp>
      <p:sp>
        <p:nvSpPr>
          <p:cNvPr id="35" name="Shape 35"/>
          <p:cNvSpPr/>
          <p:nvPr/>
        </p:nvSpPr>
        <p:spPr>
          <a:xfrm>
            <a:off x="2148840" y="5166360"/>
            <a:ext cx="1188720" cy="365760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36" name="TextBox 36"/>
          <p:cNvSpPr txBox="1"/>
          <p:nvPr/>
        </p:nvSpPr>
        <p:spPr>
          <a:xfrm>
            <a:off x="2148840" y="516636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1100" b="1" dirty="0">
                <a:solidFill>
                  <a:srgbClr val="0F172A"/>
                </a:solidFill>
                <a:latin typeface="Segoe UI"/>
                <a:cs typeface="Segoe UI"/>
              </a:rPr>
              <a:t>Bogen</a:t>
            </a:r>
          </a:p>
        </p:txBody>
      </p:sp>
      <p:sp>
        <p:nvSpPr>
          <p:cNvPr id="37" name="Shape 37"/>
          <p:cNvSpPr/>
          <p:nvPr/>
        </p:nvSpPr>
        <p:spPr>
          <a:xfrm>
            <a:off x="4023360" y="5166360"/>
            <a:ext cx="1188720" cy="365760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38" name="TextBox 38"/>
          <p:cNvSpPr txBox="1"/>
          <p:nvPr/>
        </p:nvSpPr>
        <p:spPr>
          <a:xfrm>
            <a:off x="4023360" y="516636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1100" b="1" dirty="0">
                <a:solidFill>
                  <a:srgbClr val="0F172A"/>
                </a:solidFill>
                <a:latin typeface="Segoe UI"/>
                <a:cs typeface="Segoe UI"/>
              </a:rPr>
              <a:t>Goldapfel</a:t>
            </a:r>
          </a:p>
        </p:txBody>
      </p:sp>
      <p:sp>
        <p:nvSpPr>
          <p:cNvPr id="39" name="Shape 39"/>
          <p:cNvSpPr/>
          <p:nvPr/>
        </p:nvSpPr>
        <p:spPr>
          <a:xfrm>
            <a:off x="1883664" y="5806440"/>
            <a:ext cx="2926080" cy="41148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40" name="TextBox 40"/>
          <p:cNvSpPr txBox="1"/>
          <p:nvPr/>
        </p:nvSpPr>
        <p:spPr>
          <a:xfrm>
            <a:off x="1883664" y="580644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1100" b="1" dirty="0">
                <a:solidFill>
                  <a:srgbClr val="FFFFFF"/>
                </a:solidFill>
                <a:latin typeface="Segoe UI"/>
                <a:cs typeface="Segoe UI"/>
              </a:rPr>
              <a:t>PvP-Starterkit  (skos:Collection)</a:t>
            </a:r>
          </a:p>
        </p:txBody>
      </p:sp>
      <p:sp>
        <p:nvSpPr>
          <p:cNvPr id="41" name="Shape 41"/>
          <p:cNvSpPr/>
          <p:nvPr/>
        </p:nvSpPr>
        <p:spPr>
          <a:xfrm>
            <a:off x="6236208" y="3017520"/>
            <a:ext cx="5230368" cy="1783080"/>
          </a:xfrm>
          <a:prstGeom prst="roundRect">
            <a:avLst>
              <a:gd name="adj" fmla="val 6000"/>
            </a:avLst>
          </a:prstGeom>
          <a:solidFill>
            <a:srgbClr val="0A0F1E"/>
          </a:solidFill>
          <a:ln>
            <a:noFill/>
          </a:ln>
          <a:effectLst>
            <a:outerShdw blurRad="76200" dist="19050" dir="5400000" algn="t" rotWithShape="0">
              <a:srgbClr val="0F172A">
                <a:alpha val="12000"/>
              </a:srgbClr>
            </a:outerShdw>
          </a:effectLst>
        </p:spPr>
        <p:txBody>
          <a:bodyPr rtlCol="0" anchor="ctr"/>
          <a:lstStyle/>
          <a:p>
            <a:endParaRPr lang="de-CH"/>
          </a:p>
        </p:txBody>
      </p:sp>
      <p:sp>
        <p:nvSpPr>
          <p:cNvPr id="42" name="Oval 42"/>
          <p:cNvSpPr/>
          <p:nvPr/>
        </p:nvSpPr>
        <p:spPr>
          <a:xfrm>
            <a:off x="6464808" y="3200400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43" name="Oval 43"/>
          <p:cNvSpPr/>
          <p:nvPr/>
        </p:nvSpPr>
        <p:spPr>
          <a:xfrm>
            <a:off x="6647688" y="3200400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44" name="Oval 44"/>
          <p:cNvSpPr/>
          <p:nvPr/>
        </p:nvSpPr>
        <p:spPr>
          <a:xfrm>
            <a:off x="6830568" y="320040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45" name="TextBox 45"/>
          <p:cNvSpPr txBox="1"/>
          <p:nvPr/>
        </p:nvSpPr>
        <p:spPr>
          <a:xfrm>
            <a:off x="7150608" y="3136392"/>
            <a:ext cx="408736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de-CH" sz="950" b="1" dirty="0">
                <a:solidFill>
                  <a:srgbClr val="94A3B8"/>
                </a:solidFill>
                <a:latin typeface="Consolas"/>
                <a:cs typeface="Consolas"/>
              </a:rPr>
              <a:t>CODE: SAMMLUNGEN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510528" y="3493008"/>
            <a:ext cx="4773168" cy="12344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de-CH" sz="1150" b="0" dirty="0">
                <a:solidFill>
                  <a:srgbClr val="E2E8F0"/>
                </a:solidFill>
                <a:latin typeface="Consolas"/>
                <a:cs typeface="Consolas"/>
              </a:rPr>
              <a:t>mcskos:PvPStarterKit a skos:Collection 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de-CH" sz="1150" b="0" dirty="0">
                <a:solidFill>
                  <a:srgbClr val="E2E8F0"/>
                </a:solidFill>
                <a:latin typeface="Consolas"/>
                <a:cs typeface="Consolas"/>
              </a:rPr>
              <a:t>  skos:member mcskos:Sword, mcskos:Bow,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de-CH" sz="1150" b="0" dirty="0">
                <a:solidFill>
                  <a:srgbClr val="E2E8F0"/>
                </a:solidFill>
                <a:latin typeface="Consolas"/>
                <a:cs typeface="Consolas"/>
              </a:rPr>
              <a:t>              mcskos:GoldenApple 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de-CH" sz="1150" b="0" dirty="0">
                <a:solidFill>
                  <a:srgbClr val="E2E8F0"/>
                </a:solidFill>
                <a:latin typeface="Consolas"/>
                <a:cs typeface="Consolas"/>
              </a:rPr>
              <a:t>mcskos:Hotbar a skos:OrderedCollection 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de-CH" sz="1150" b="0" dirty="0">
                <a:solidFill>
                  <a:srgbClr val="E2E8F0"/>
                </a:solidFill>
                <a:latin typeface="Consolas"/>
                <a:cs typeface="Consolas"/>
              </a:rPr>
              <a:t>  skos:memberList ( mcskos:Sword mcskos:Bow ) .</a:t>
            </a:r>
          </a:p>
        </p:txBody>
      </p:sp>
      <p:sp>
        <p:nvSpPr>
          <p:cNvPr id="47" name="Shape 47"/>
          <p:cNvSpPr/>
          <p:nvPr/>
        </p:nvSpPr>
        <p:spPr>
          <a:xfrm>
            <a:off x="6236208" y="4937760"/>
            <a:ext cx="5230368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7C3AED"/>
            </a:solidFill>
          </a:ln>
          <a:effectLst>
            <a:outerShdw blurRad="76200" dist="19050" dir="5400000" algn="t" rotWithShape="0">
              <a:srgbClr val="0F172A">
                <a:alpha val="12000"/>
              </a:srgbClr>
            </a:outerShdw>
          </a:effectLst>
        </p:spPr>
        <p:txBody>
          <a:bodyPr rtlCol="0" anchor="ctr"/>
          <a:lstStyle/>
          <a:p>
            <a:endParaRPr lang="de-CH"/>
          </a:p>
        </p:txBody>
      </p:sp>
      <p:sp>
        <p:nvSpPr>
          <p:cNvPr id="48" name="TextBox 48"/>
          <p:cNvSpPr txBox="1"/>
          <p:nvPr/>
        </p:nvSpPr>
        <p:spPr>
          <a:xfrm>
            <a:off x="6510528" y="5010912"/>
            <a:ext cx="4681728" cy="12801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de-CH" sz="1300" b="1" dirty="0">
                <a:solidFill>
                  <a:srgbClr val="0F172A"/>
                </a:solidFill>
                <a:latin typeface="Segoe UI"/>
                <a:cs typeface="Segoe UI"/>
              </a:rPr>
              <a:t>Wofür braucht man das?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de-CH" sz="1100" b="1" dirty="0">
                <a:solidFill>
                  <a:srgbClr val="7C3AED"/>
                </a:solidFill>
                <a:latin typeface="Calibri"/>
                <a:cs typeface="Calibri"/>
              </a:rPr>
              <a:t>Kits &amp; Themenlisten: </a:t>
            </a:r>
            <a:r>
              <a:rPr lang="de-CH" sz="1100" b="0" dirty="0">
                <a:solidFill>
                  <a:srgbClr val="1E293B"/>
                </a:solidFill>
                <a:latin typeface="Calibri"/>
                <a:cs typeface="Calibri"/>
              </a:rPr>
              <a:t>Begriffe aus verschiedenen Ästen bündeln.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de-CH" sz="1100" b="1" dirty="0">
                <a:solidFill>
                  <a:srgbClr val="7C3AED"/>
                </a:solidFill>
                <a:latin typeface="Calibri"/>
                <a:cs typeface="Calibri"/>
              </a:rPr>
              <a:t>Feste Reihenfolge: </a:t>
            </a:r>
            <a:r>
              <a:rPr lang="de-CH" sz="1100" b="0" dirty="0">
                <a:solidFill>
                  <a:srgbClr val="1E293B"/>
                </a:solidFill>
                <a:latin typeface="Calibri"/>
                <a:cs typeface="Calibri"/>
              </a:rPr>
              <a:t>OrderedCollection, z. B. Hotbar-Slots 1, 2, 3.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1100" b="1" dirty="0">
                <a:solidFill>
                  <a:srgbClr val="7C3AED"/>
                </a:solidFill>
                <a:latin typeface="Calibri"/>
                <a:cs typeface="Calibri"/>
              </a:rPr>
              <a:t>Bedeutung bleibt sauber: </a:t>
            </a:r>
            <a:r>
              <a:rPr lang="de-CH" sz="1100" b="0" dirty="0">
                <a:solidFill>
                  <a:srgbClr val="1E293B"/>
                </a:solidFill>
                <a:latin typeface="Calibri"/>
                <a:cs typeface="Calibri"/>
              </a:rPr>
              <a:t>Ein Kit ist kein Oberbegriff – das Schwert bleibt eine Waffe.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4" name="TextBox 4"/>
          <p:cNvSpPr txBox="1"/>
          <p:nvPr/>
        </p:nvSpPr>
        <p:spPr>
          <a:xfrm>
            <a:off x="731520" y="329184"/>
            <a:ext cx="10728655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1000" b="1" dirty="0">
                <a:solidFill>
                  <a:srgbClr val="0284C7"/>
                </a:solidFill>
                <a:latin typeface="Segoe UI"/>
                <a:cs typeface="Segoe UI"/>
              </a:rPr>
              <a:t>W3C SKOS | MINECRAFT KNOWLEDGE GRAPH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1520" y="56692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2200" b="1" dirty="0">
                <a:solidFill>
                  <a:srgbClr val="0F172A"/>
                </a:solidFill>
                <a:latin typeface="Segoe UI"/>
                <a:cs typeface="Segoe UI"/>
              </a:rPr>
              <a:t>Mappings: Wie genau passt ein fremder Begriff?</a:t>
            </a:r>
          </a:p>
        </p:txBody>
      </p:sp>
      <p:sp>
        <p:nvSpPr>
          <p:cNvPr id="6" name="Shape 6"/>
          <p:cNvSpPr/>
          <p:nvPr/>
        </p:nvSpPr>
        <p:spPr>
          <a:xfrm>
            <a:off x="731520" y="1234440"/>
            <a:ext cx="5230368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  <a:effectLst>
            <a:outerShdw blurRad="76200" dist="19050" dir="5400000" algn="t" rotWithShape="0">
              <a:srgbClr val="0F172A">
                <a:alpha val="12000"/>
              </a:srgbClr>
            </a:outerShdw>
          </a:effectLst>
        </p:spPr>
        <p:txBody>
          <a:bodyPr rtlCol="0" anchor="ctr"/>
          <a:lstStyle/>
          <a:p>
            <a:endParaRPr lang="de-CH"/>
          </a:p>
        </p:txBody>
      </p:sp>
      <p:sp>
        <p:nvSpPr>
          <p:cNvPr id="7" name="TextBox 7"/>
          <p:cNvSpPr txBox="1"/>
          <p:nvPr/>
        </p:nvSpPr>
        <p:spPr>
          <a:xfrm>
            <a:off x="1005840" y="1371600"/>
            <a:ext cx="468172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1400" b="1" dirty="0">
                <a:solidFill>
                  <a:srgbClr val="0F172A"/>
                </a:solidFill>
                <a:latin typeface="Segoe UI"/>
                <a:cs typeface="Segoe UI"/>
              </a:rPr>
              <a:t>Entscheidungshilfe: Welches Mapping?</a:t>
            </a:r>
          </a:p>
        </p:txBody>
      </p:sp>
      <p:sp>
        <p:nvSpPr>
          <p:cNvPr id="8" name="Shape 8"/>
          <p:cNvSpPr/>
          <p:nvPr/>
        </p:nvSpPr>
        <p:spPr>
          <a:xfrm>
            <a:off x="960120" y="1874520"/>
            <a:ext cx="4773168" cy="621792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9" name="TextBox 9"/>
          <p:cNvSpPr txBox="1"/>
          <p:nvPr/>
        </p:nvSpPr>
        <p:spPr>
          <a:xfrm>
            <a:off x="1143000" y="1874520"/>
            <a:ext cx="2651760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de-CH" sz="1150" b="1" dirty="0">
                <a:solidFill>
                  <a:srgbClr val="0F172A"/>
                </a:solidFill>
                <a:latin typeface="Calibri"/>
                <a:cs typeface="Calibri"/>
              </a:rPr>
              <a:t>Begriff im eigenen Vokabular?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1000" b="0" dirty="0">
                <a:solidFill>
                  <a:srgbClr val="64748B"/>
                </a:solidFill>
                <a:latin typeface="Calibri"/>
                <a:cs typeface="Calibri"/>
              </a:rPr>
              <a:t>Dann kein Mapping, sondern</a:t>
            </a:r>
          </a:p>
        </p:txBody>
      </p:sp>
      <p:sp>
        <p:nvSpPr>
          <p:cNvPr id="10" name="Shape 10"/>
          <p:cNvSpPr/>
          <p:nvPr/>
        </p:nvSpPr>
        <p:spPr>
          <a:xfrm>
            <a:off x="3538728" y="202996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11" name="TextBox 11"/>
          <p:cNvSpPr txBox="1"/>
          <p:nvPr/>
        </p:nvSpPr>
        <p:spPr>
          <a:xfrm>
            <a:off x="3538728" y="2029968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1000" b="1" dirty="0">
                <a:solidFill>
                  <a:srgbClr val="FFFFFF"/>
                </a:solidFill>
                <a:latin typeface="Consolas"/>
                <a:cs typeface="Consolas"/>
              </a:rPr>
              <a:t>broader / related</a:t>
            </a:r>
          </a:p>
        </p:txBody>
      </p:sp>
      <p:sp>
        <p:nvSpPr>
          <p:cNvPr id="12" name="Shape 12"/>
          <p:cNvSpPr/>
          <p:nvPr/>
        </p:nvSpPr>
        <p:spPr>
          <a:xfrm>
            <a:off x="960120" y="2606040"/>
            <a:ext cx="4773168" cy="621792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13" name="TextBox 13"/>
          <p:cNvSpPr txBox="1"/>
          <p:nvPr/>
        </p:nvSpPr>
        <p:spPr>
          <a:xfrm>
            <a:off x="1143000" y="2606040"/>
            <a:ext cx="2651760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de-CH" sz="1150" b="1" dirty="0">
                <a:solidFill>
                  <a:srgbClr val="0F172A"/>
                </a:solidFill>
                <a:latin typeface="Calibri"/>
                <a:cs typeface="Calibri"/>
              </a:rPr>
              <a:t>In jedem Kontext austauschbar?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1000" b="0" dirty="0">
                <a:solidFill>
                  <a:srgbClr val="64748B"/>
                </a:solidFill>
                <a:latin typeface="Calibri"/>
                <a:cs typeface="Calibri"/>
              </a:rPr>
              <a:t>symmetrisch &amp; transitiv</a:t>
            </a:r>
          </a:p>
        </p:txBody>
      </p:sp>
      <p:sp>
        <p:nvSpPr>
          <p:cNvPr id="14" name="Shape 14"/>
          <p:cNvSpPr/>
          <p:nvPr/>
        </p:nvSpPr>
        <p:spPr>
          <a:xfrm>
            <a:off x="3538728" y="276148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15" name="TextBox 15"/>
          <p:cNvSpPr txBox="1"/>
          <p:nvPr/>
        </p:nvSpPr>
        <p:spPr>
          <a:xfrm>
            <a:off x="3538728" y="2761488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1000" b="1" dirty="0">
                <a:solidFill>
                  <a:srgbClr val="FFFFFF"/>
                </a:solidFill>
                <a:latin typeface="Consolas"/>
                <a:cs typeface="Consolas"/>
              </a:rPr>
              <a:t>exactMatch</a:t>
            </a:r>
          </a:p>
        </p:txBody>
      </p:sp>
      <p:sp>
        <p:nvSpPr>
          <p:cNvPr id="16" name="Shape 16"/>
          <p:cNvSpPr/>
          <p:nvPr/>
        </p:nvSpPr>
        <p:spPr>
          <a:xfrm>
            <a:off x="960120" y="3337560"/>
            <a:ext cx="4773168" cy="621792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17" name="TextBox 17"/>
          <p:cNvSpPr txBox="1"/>
          <p:nvPr/>
        </p:nvSpPr>
        <p:spPr>
          <a:xfrm>
            <a:off x="1143000" y="3337560"/>
            <a:ext cx="2651760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de-CH" sz="1150" b="1" dirty="0">
                <a:solidFill>
                  <a:srgbClr val="0F172A"/>
                </a:solidFill>
                <a:latin typeface="Calibri"/>
                <a:cs typeface="Calibri"/>
              </a:rPr>
              <a:t>Ähnlich, aber nicht überall gleich?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1000" b="0" dirty="0">
                <a:solidFill>
                  <a:srgbClr val="64748B"/>
                </a:solidFill>
                <a:latin typeface="Calibri"/>
                <a:cs typeface="Calibri"/>
              </a:rPr>
              <a:t>symmetrisch, NICHT transitiv</a:t>
            </a:r>
          </a:p>
        </p:txBody>
      </p:sp>
      <p:sp>
        <p:nvSpPr>
          <p:cNvPr id="18" name="Shape 18"/>
          <p:cNvSpPr/>
          <p:nvPr/>
        </p:nvSpPr>
        <p:spPr>
          <a:xfrm>
            <a:off x="3538728" y="349300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19" name="TextBox 19"/>
          <p:cNvSpPr txBox="1"/>
          <p:nvPr/>
        </p:nvSpPr>
        <p:spPr>
          <a:xfrm>
            <a:off x="3538728" y="3493008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1000" b="1" dirty="0">
                <a:solidFill>
                  <a:srgbClr val="FFFFFF"/>
                </a:solidFill>
                <a:latin typeface="Consolas"/>
                <a:cs typeface="Consolas"/>
              </a:rPr>
              <a:t>closeMatch</a:t>
            </a:r>
          </a:p>
        </p:txBody>
      </p:sp>
      <p:sp>
        <p:nvSpPr>
          <p:cNvPr id="20" name="Shape 20"/>
          <p:cNvSpPr/>
          <p:nvPr/>
        </p:nvSpPr>
        <p:spPr>
          <a:xfrm>
            <a:off x="960120" y="4069080"/>
            <a:ext cx="4773168" cy="621792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21" name="TextBox 21"/>
          <p:cNvSpPr txBox="1"/>
          <p:nvPr/>
        </p:nvSpPr>
        <p:spPr>
          <a:xfrm>
            <a:off x="1143000" y="4069080"/>
            <a:ext cx="2651760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de-CH" sz="1150" b="1" dirty="0">
                <a:solidFill>
                  <a:srgbClr val="0F172A"/>
                </a:solidFill>
                <a:latin typeface="Calibri"/>
                <a:cs typeface="Calibri"/>
              </a:rPr>
              <a:t>Einer allgemeiner als der andere?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1000" b="0" dirty="0">
                <a:solidFill>
                  <a:srgbClr val="64748B"/>
                </a:solidFill>
                <a:latin typeface="Calibri"/>
                <a:cs typeface="Calibri"/>
              </a:rPr>
              <a:t>hierarchisch, zueinander invers</a:t>
            </a:r>
          </a:p>
        </p:txBody>
      </p:sp>
      <p:sp>
        <p:nvSpPr>
          <p:cNvPr id="22" name="Shape 22"/>
          <p:cNvSpPr/>
          <p:nvPr/>
        </p:nvSpPr>
        <p:spPr>
          <a:xfrm>
            <a:off x="3538728" y="422452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23" name="TextBox 23"/>
          <p:cNvSpPr txBox="1"/>
          <p:nvPr/>
        </p:nvSpPr>
        <p:spPr>
          <a:xfrm>
            <a:off x="3538728" y="4224528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1000" b="1" dirty="0">
                <a:solidFill>
                  <a:srgbClr val="FFFFFF"/>
                </a:solidFill>
                <a:latin typeface="Consolas"/>
                <a:cs typeface="Consolas"/>
              </a:rPr>
              <a:t>broadMatch / narrowMatch</a:t>
            </a:r>
          </a:p>
        </p:txBody>
      </p:sp>
      <p:sp>
        <p:nvSpPr>
          <p:cNvPr id="24" name="Shape 24"/>
          <p:cNvSpPr/>
          <p:nvPr/>
        </p:nvSpPr>
        <p:spPr>
          <a:xfrm>
            <a:off x="960120" y="4800600"/>
            <a:ext cx="4773168" cy="621792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25" name="TextBox 25"/>
          <p:cNvSpPr txBox="1"/>
          <p:nvPr/>
        </p:nvSpPr>
        <p:spPr>
          <a:xfrm>
            <a:off x="1143000" y="4800600"/>
            <a:ext cx="2651760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de-CH" sz="1150" b="1" dirty="0">
                <a:solidFill>
                  <a:srgbClr val="0F172A"/>
                </a:solidFill>
                <a:latin typeface="Calibri"/>
                <a:cs typeface="Calibri"/>
              </a:rPr>
              <a:t>Nur thematisch verwandt?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1000" b="0" dirty="0">
                <a:solidFill>
                  <a:srgbClr val="64748B"/>
                </a:solidFill>
                <a:latin typeface="Calibri"/>
                <a:cs typeface="Calibri"/>
              </a:rPr>
              <a:t>assoziativ, symmetrisch</a:t>
            </a:r>
          </a:p>
        </p:txBody>
      </p:sp>
      <p:sp>
        <p:nvSpPr>
          <p:cNvPr id="26" name="Shape 26"/>
          <p:cNvSpPr/>
          <p:nvPr/>
        </p:nvSpPr>
        <p:spPr>
          <a:xfrm>
            <a:off x="3538728" y="495604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27" name="TextBox 27"/>
          <p:cNvSpPr txBox="1"/>
          <p:nvPr/>
        </p:nvSpPr>
        <p:spPr>
          <a:xfrm>
            <a:off x="3538728" y="4956048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1000" b="1" dirty="0">
                <a:solidFill>
                  <a:srgbClr val="FFFFFF"/>
                </a:solidFill>
                <a:latin typeface="Consolas"/>
                <a:cs typeface="Consolas"/>
              </a:rPr>
              <a:t>relatedMatch</a:t>
            </a:r>
          </a:p>
        </p:txBody>
      </p:sp>
      <p:sp>
        <p:nvSpPr>
          <p:cNvPr id="28" name="Shape 28"/>
          <p:cNvSpPr/>
          <p:nvPr/>
        </p:nvSpPr>
        <p:spPr>
          <a:xfrm>
            <a:off x="960120" y="5623560"/>
            <a:ext cx="4773168" cy="548640"/>
          </a:xfrm>
          <a:prstGeom prst="roundRect">
            <a:avLst>
              <a:gd name="adj" fmla="val 15000"/>
            </a:avLst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29" name="TextBox 29"/>
          <p:cNvSpPr txBox="1"/>
          <p:nvPr/>
        </p:nvSpPr>
        <p:spPr>
          <a:xfrm>
            <a:off x="960120" y="5623560"/>
            <a:ext cx="4773168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1150" b="1" dirty="0">
                <a:solidFill>
                  <a:srgbClr val="7DD3FC"/>
                </a:solidFill>
                <a:latin typeface="Segoe UI"/>
                <a:cs typeface="Segoe UI"/>
              </a:rPr>
              <a:t>Im Zweifel closeMatch: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1150" b="1" dirty="0">
                <a:solidFill>
                  <a:srgbClr val="FFFFFF"/>
                </a:solidFill>
                <a:latin typeface="Segoe UI"/>
                <a:cs typeface="Segoe UI"/>
              </a:rPr>
              <a:t>lieber vorsichtig als falsch verknüpft.</a:t>
            </a:r>
          </a:p>
        </p:txBody>
      </p:sp>
      <p:sp>
        <p:nvSpPr>
          <p:cNvPr id="30" name="Shape 30"/>
          <p:cNvSpPr/>
          <p:nvPr/>
        </p:nvSpPr>
        <p:spPr>
          <a:xfrm>
            <a:off x="6236208" y="1234440"/>
            <a:ext cx="5230368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  <a:effectLst>
            <a:outerShdw blurRad="76200" dist="19050" dir="5400000" algn="t" rotWithShape="0">
              <a:srgbClr val="0F172A">
                <a:alpha val="12000"/>
              </a:srgbClr>
            </a:outerShdw>
          </a:effectLst>
        </p:spPr>
        <p:txBody>
          <a:bodyPr rtlCol="0" anchor="ctr"/>
          <a:lstStyle/>
          <a:p>
            <a:endParaRPr lang="de-CH"/>
          </a:p>
        </p:txBody>
      </p:sp>
      <p:sp>
        <p:nvSpPr>
          <p:cNvPr id="31" name="TextBox 31"/>
          <p:cNvSpPr txBox="1"/>
          <p:nvPr/>
        </p:nvSpPr>
        <p:spPr>
          <a:xfrm>
            <a:off x="6510528" y="1371600"/>
            <a:ext cx="468172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1400" b="1" dirty="0">
                <a:solidFill>
                  <a:srgbClr val="0F172A"/>
                </a:solidFill>
                <a:latin typeface="Segoe UI"/>
                <a:cs typeface="Segoe UI"/>
              </a:rPr>
              <a:t>Warum closeMatch? Die Kette der Fehler</a:t>
            </a:r>
          </a:p>
        </p:txBody>
      </p:sp>
      <p:sp>
        <p:nvSpPr>
          <p:cNvPr id="32" name="Shape 32"/>
          <p:cNvSpPr/>
          <p:nvPr/>
        </p:nvSpPr>
        <p:spPr>
          <a:xfrm>
            <a:off x="6510528" y="1920240"/>
            <a:ext cx="1280160" cy="475488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33" name="TextBox 33"/>
          <p:cNvSpPr txBox="1"/>
          <p:nvPr/>
        </p:nvSpPr>
        <p:spPr>
          <a:xfrm>
            <a:off x="6510528" y="1938528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950" b="1" dirty="0">
                <a:solidFill>
                  <a:srgbClr val="0F172A"/>
                </a:solidFill>
                <a:latin typeface="Consolas"/>
                <a:cs typeface="Consolas"/>
              </a:rPr>
              <a:t>mcskos:Apple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900" b="0" dirty="0">
                <a:solidFill>
                  <a:srgbClr val="64748B"/>
                </a:solidFill>
                <a:latin typeface="Calibri"/>
                <a:cs typeface="Calibri"/>
              </a:rPr>
              <a:t>Spiel-Item</a:t>
            </a:r>
          </a:p>
        </p:txBody>
      </p:sp>
      <p:sp>
        <p:nvSpPr>
          <p:cNvPr id="34" name="Shape 34"/>
          <p:cNvSpPr/>
          <p:nvPr/>
        </p:nvSpPr>
        <p:spPr>
          <a:xfrm>
            <a:off x="8202168" y="1920240"/>
            <a:ext cx="1280160" cy="475488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35" name="TextBox 35"/>
          <p:cNvSpPr txBox="1"/>
          <p:nvPr/>
        </p:nvSpPr>
        <p:spPr>
          <a:xfrm>
            <a:off x="8202168" y="1938528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950" b="1" dirty="0">
                <a:solidFill>
                  <a:srgbClr val="0F172A"/>
                </a:solidFill>
                <a:latin typeface="Consolas"/>
                <a:cs typeface="Consolas"/>
              </a:rPr>
              <a:t>dbpedia:Apple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900" b="0" dirty="0">
                <a:solidFill>
                  <a:srgbClr val="64748B"/>
                </a:solidFill>
                <a:latin typeface="Calibri"/>
                <a:cs typeface="Calibri"/>
              </a:rPr>
              <a:t>Obst (Lexikon)</a:t>
            </a:r>
          </a:p>
        </p:txBody>
      </p:sp>
      <p:sp>
        <p:nvSpPr>
          <p:cNvPr id="36" name="Shape 36"/>
          <p:cNvSpPr/>
          <p:nvPr/>
        </p:nvSpPr>
        <p:spPr>
          <a:xfrm>
            <a:off x="9893808" y="1920240"/>
            <a:ext cx="1280160" cy="475488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37" name="TextBox 37"/>
          <p:cNvSpPr txBox="1"/>
          <p:nvPr/>
        </p:nvSpPr>
        <p:spPr>
          <a:xfrm>
            <a:off x="9893808" y="1938528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950" b="1" dirty="0">
                <a:solidFill>
                  <a:srgbClr val="0F172A"/>
                </a:solidFill>
                <a:latin typeface="Consolas"/>
                <a:cs typeface="Consolas"/>
              </a:rPr>
              <a:t>agrovoc:Äpfel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900" b="0" dirty="0">
                <a:solidFill>
                  <a:srgbClr val="64748B"/>
                </a:solidFill>
                <a:latin typeface="Calibri"/>
                <a:cs typeface="Calibri"/>
              </a:rPr>
              <a:t>Agrarprodukt</a:t>
            </a:r>
          </a:p>
        </p:txBody>
      </p:sp>
      <p:cxnSp>
        <p:nvCxnSpPr>
          <p:cNvPr id="38" name="Line 38"/>
          <p:cNvCxnSpPr/>
          <p:nvPr/>
        </p:nvCxnSpPr>
        <p:spPr>
          <a:xfrm>
            <a:off x="7827264" y="2157984"/>
            <a:ext cx="338328" cy="0"/>
          </a:xfrm>
          <a:prstGeom prst="line">
            <a:avLst/>
          </a:prstGeom>
          <a:ln w="22225">
            <a:solidFill>
              <a:srgbClr val="0284C7"/>
            </a:solidFill>
            <a:tailEnd type="triangle" w="med" len="med"/>
          </a:ln>
        </p:spPr>
      </p:cxnSp>
      <p:sp>
        <p:nvSpPr>
          <p:cNvPr id="39" name="TextBox 39"/>
          <p:cNvSpPr txBox="1"/>
          <p:nvPr/>
        </p:nvSpPr>
        <p:spPr>
          <a:xfrm>
            <a:off x="7607808" y="1700784"/>
            <a:ext cx="777240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850" b="1" dirty="0">
                <a:solidFill>
                  <a:srgbClr val="0284C7"/>
                </a:solidFill>
                <a:latin typeface="Consolas"/>
                <a:cs typeface="Consolas"/>
              </a:rPr>
              <a:t>exactMatch</a:t>
            </a:r>
          </a:p>
        </p:txBody>
      </p:sp>
      <p:cxnSp>
        <p:nvCxnSpPr>
          <p:cNvPr id="40" name="Line 40"/>
          <p:cNvCxnSpPr/>
          <p:nvPr/>
        </p:nvCxnSpPr>
        <p:spPr>
          <a:xfrm>
            <a:off x="9518904" y="2157984"/>
            <a:ext cx="338328" cy="0"/>
          </a:xfrm>
          <a:prstGeom prst="line">
            <a:avLst/>
          </a:prstGeom>
          <a:ln w="22225">
            <a:solidFill>
              <a:srgbClr val="0284C7"/>
            </a:solidFill>
            <a:tailEnd type="triangle" w="med" len="med"/>
          </a:ln>
        </p:spPr>
      </p:cxnSp>
      <p:sp>
        <p:nvSpPr>
          <p:cNvPr id="41" name="TextBox 41"/>
          <p:cNvSpPr txBox="1"/>
          <p:nvPr/>
        </p:nvSpPr>
        <p:spPr>
          <a:xfrm>
            <a:off x="9299448" y="1700784"/>
            <a:ext cx="777240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850" b="1" dirty="0">
                <a:solidFill>
                  <a:srgbClr val="0284C7"/>
                </a:solidFill>
                <a:latin typeface="Consolas"/>
                <a:cs typeface="Consolas"/>
              </a:rPr>
              <a:t>exactMatch</a:t>
            </a:r>
          </a:p>
        </p:txBody>
      </p:sp>
      <p:sp>
        <p:nvSpPr>
          <p:cNvPr id="42" name="Shape 42"/>
          <p:cNvSpPr/>
          <p:nvPr/>
        </p:nvSpPr>
        <p:spPr>
          <a:xfrm>
            <a:off x="6510528" y="2468880"/>
            <a:ext cx="4681728" cy="329184"/>
          </a:xfrm>
          <a:prstGeom prst="roundRect">
            <a:avLst>
              <a:gd name="adj" fmla="val 30000"/>
            </a:avLst>
          </a:prstGeom>
          <a:solidFill>
            <a:srgbClr val="FEF2F2"/>
          </a:solidFill>
          <a:ln>
            <a:noFill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43" name="TextBox 43"/>
          <p:cNvSpPr txBox="1"/>
          <p:nvPr/>
        </p:nvSpPr>
        <p:spPr>
          <a:xfrm>
            <a:off x="6510528" y="2468880"/>
            <a:ext cx="4681728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1050" b="1" dirty="0">
                <a:solidFill>
                  <a:srgbClr val="DC2626"/>
                </a:solidFill>
                <a:latin typeface="Calibri"/>
                <a:cs typeface="Calibri"/>
              </a:rPr>
              <a:t>⇒ folgt automatisch: Der Minecraft-Apfel wird zum Agrarprodukt ✗</a:t>
            </a:r>
          </a:p>
        </p:txBody>
      </p:sp>
      <p:sp>
        <p:nvSpPr>
          <p:cNvPr id="44" name="Shape 44"/>
          <p:cNvSpPr/>
          <p:nvPr/>
        </p:nvSpPr>
        <p:spPr>
          <a:xfrm>
            <a:off x="6510528" y="3063240"/>
            <a:ext cx="1280160" cy="475488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45" name="TextBox 45"/>
          <p:cNvSpPr txBox="1"/>
          <p:nvPr/>
        </p:nvSpPr>
        <p:spPr>
          <a:xfrm>
            <a:off x="6510528" y="3081528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950" b="1" dirty="0">
                <a:solidFill>
                  <a:srgbClr val="0F172A"/>
                </a:solidFill>
                <a:latin typeface="Consolas"/>
                <a:cs typeface="Consolas"/>
              </a:rPr>
              <a:t>mcskos:Apple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900" b="0" dirty="0">
                <a:solidFill>
                  <a:srgbClr val="64748B"/>
                </a:solidFill>
                <a:latin typeface="Calibri"/>
                <a:cs typeface="Calibri"/>
              </a:rPr>
              <a:t>Spiel-Item</a:t>
            </a:r>
          </a:p>
        </p:txBody>
      </p:sp>
      <p:sp>
        <p:nvSpPr>
          <p:cNvPr id="46" name="Shape 46"/>
          <p:cNvSpPr/>
          <p:nvPr/>
        </p:nvSpPr>
        <p:spPr>
          <a:xfrm>
            <a:off x="8202168" y="3063240"/>
            <a:ext cx="1280160" cy="475488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47" name="TextBox 47"/>
          <p:cNvSpPr txBox="1"/>
          <p:nvPr/>
        </p:nvSpPr>
        <p:spPr>
          <a:xfrm>
            <a:off x="8202168" y="3081528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950" b="1" dirty="0">
                <a:solidFill>
                  <a:srgbClr val="0F172A"/>
                </a:solidFill>
                <a:latin typeface="Consolas"/>
                <a:cs typeface="Consolas"/>
              </a:rPr>
              <a:t>dbpedia:Apple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900" b="0" dirty="0">
                <a:solidFill>
                  <a:srgbClr val="64748B"/>
                </a:solidFill>
                <a:latin typeface="Calibri"/>
                <a:cs typeface="Calibri"/>
              </a:rPr>
              <a:t>Obst (Lexikon)</a:t>
            </a:r>
          </a:p>
        </p:txBody>
      </p:sp>
      <p:sp>
        <p:nvSpPr>
          <p:cNvPr id="48" name="Shape 48"/>
          <p:cNvSpPr/>
          <p:nvPr/>
        </p:nvSpPr>
        <p:spPr>
          <a:xfrm>
            <a:off x="9893808" y="3063240"/>
            <a:ext cx="1280160" cy="475488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49" name="TextBox 49"/>
          <p:cNvSpPr txBox="1"/>
          <p:nvPr/>
        </p:nvSpPr>
        <p:spPr>
          <a:xfrm>
            <a:off x="9893808" y="3081528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950" b="1" dirty="0">
                <a:solidFill>
                  <a:srgbClr val="0F172A"/>
                </a:solidFill>
                <a:latin typeface="Consolas"/>
                <a:cs typeface="Consolas"/>
              </a:rPr>
              <a:t>agrovoc:Äpfel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900" b="0" dirty="0">
                <a:solidFill>
                  <a:srgbClr val="64748B"/>
                </a:solidFill>
                <a:latin typeface="Calibri"/>
                <a:cs typeface="Calibri"/>
              </a:rPr>
              <a:t>Agrarprodukt</a:t>
            </a:r>
          </a:p>
        </p:txBody>
      </p:sp>
      <p:cxnSp>
        <p:nvCxnSpPr>
          <p:cNvPr id="50" name="Line 50"/>
          <p:cNvCxnSpPr/>
          <p:nvPr/>
        </p:nvCxnSpPr>
        <p:spPr>
          <a:xfrm>
            <a:off x="7827264" y="3300984"/>
            <a:ext cx="338328" cy="0"/>
          </a:xfrm>
          <a:prstGeom prst="line">
            <a:avLst/>
          </a:prstGeom>
          <a:ln w="22225">
            <a:solidFill>
              <a:srgbClr val="059669"/>
            </a:solidFill>
            <a:tailEnd type="triangle" w="med" len="med"/>
          </a:ln>
        </p:spPr>
      </p:cxnSp>
      <p:sp>
        <p:nvSpPr>
          <p:cNvPr id="51" name="TextBox 51"/>
          <p:cNvSpPr txBox="1"/>
          <p:nvPr/>
        </p:nvSpPr>
        <p:spPr>
          <a:xfrm>
            <a:off x="7607808" y="2843784"/>
            <a:ext cx="777240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850" b="1" dirty="0">
                <a:solidFill>
                  <a:srgbClr val="059669"/>
                </a:solidFill>
                <a:latin typeface="Consolas"/>
                <a:cs typeface="Consolas"/>
              </a:rPr>
              <a:t>closeMatch</a:t>
            </a:r>
          </a:p>
        </p:txBody>
      </p:sp>
      <p:cxnSp>
        <p:nvCxnSpPr>
          <p:cNvPr id="52" name="Line 52"/>
          <p:cNvCxnSpPr/>
          <p:nvPr/>
        </p:nvCxnSpPr>
        <p:spPr>
          <a:xfrm>
            <a:off x="9518904" y="3300984"/>
            <a:ext cx="338328" cy="0"/>
          </a:xfrm>
          <a:prstGeom prst="line">
            <a:avLst/>
          </a:prstGeom>
          <a:ln w="22225">
            <a:solidFill>
              <a:srgbClr val="059669"/>
            </a:solidFill>
            <a:tailEnd type="triangle" w="med" len="med"/>
          </a:ln>
        </p:spPr>
      </p:cxnSp>
      <p:sp>
        <p:nvSpPr>
          <p:cNvPr id="53" name="TextBox 53"/>
          <p:cNvSpPr txBox="1"/>
          <p:nvPr/>
        </p:nvSpPr>
        <p:spPr>
          <a:xfrm>
            <a:off x="9299448" y="2843784"/>
            <a:ext cx="777240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850" b="1" dirty="0">
                <a:solidFill>
                  <a:srgbClr val="059669"/>
                </a:solidFill>
                <a:latin typeface="Consolas"/>
                <a:cs typeface="Consolas"/>
              </a:rPr>
              <a:t>closeMatch</a:t>
            </a:r>
          </a:p>
        </p:txBody>
      </p:sp>
      <p:sp>
        <p:nvSpPr>
          <p:cNvPr id="54" name="Shape 54"/>
          <p:cNvSpPr/>
          <p:nvPr/>
        </p:nvSpPr>
        <p:spPr>
          <a:xfrm>
            <a:off x="6510528" y="3611880"/>
            <a:ext cx="4681728" cy="329184"/>
          </a:xfrm>
          <a:prstGeom prst="roundRect">
            <a:avLst>
              <a:gd name="adj" fmla="val 30000"/>
            </a:avLst>
          </a:prstGeom>
          <a:solidFill>
            <a:srgbClr val="ECFDF5"/>
          </a:solidFill>
          <a:ln>
            <a:noFill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55" name="TextBox 55"/>
          <p:cNvSpPr txBox="1"/>
          <p:nvPr/>
        </p:nvSpPr>
        <p:spPr>
          <a:xfrm>
            <a:off x="6510528" y="3611880"/>
            <a:ext cx="4681728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1050" b="1" dirty="0">
                <a:solidFill>
                  <a:srgbClr val="059669"/>
                </a:solidFill>
                <a:latin typeface="Calibri"/>
                <a:cs typeface="Calibri"/>
              </a:rPr>
              <a:t>⇒ Kette endet nach einem Schritt: keine falsche Folgerung ✔</a:t>
            </a:r>
          </a:p>
        </p:txBody>
      </p:sp>
      <p:sp>
        <p:nvSpPr>
          <p:cNvPr id="56" name="Shape 56"/>
          <p:cNvSpPr/>
          <p:nvPr/>
        </p:nvSpPr>
        <p:spPr>
          <a:xfrm>
            <a:off x="6236208" y="4389120"/>
            <a:ext cx="5230368" cy="1965960"/>
          </a:xfrm>
          <a:prstGeom prst="roundRect">
            <a:avLst>
              <a:gd name="adj" fmla="val 6000"/>
            </a:avLst>
          </a:prstGeom>
          <a:solidFill>
            <a:srgbClr val="0A0F1E"/>
          </a:solidFill>
          <a:ln>
            <a:noFill/>
          </a:ln>
          <a:effectLst>
            <a:outerShdw blurRad="76200" dist="19050" dir="5400000" algn="t" rotWithShape="0">
              <a:srgbClr val="0F172A">
                <a:alpha val="12000"/>
              </a:srgbClr>
            </a:outerShdw>
          </a:effectLst>
        </p:spPr>
        <p:txBody>
          <a:bodyPr rtlCol="0" anchor="ctr"/>
          <a:lstStyle/>
          <a:p>
            <a:endParaRPr lang="de-CH"/>
          </a:p>
        </p:txBody>
      </p:sp>
      <p:sp>
        <p:nvSpPr>
          <p:cNvPr id="57" name="Oval 57"/>
          <p:cNvSpPr/>
          <p:nvPr/>
        </p:nvSpPr>
        <p:spPr>
          <a:xfrm>
            <a:off x="6464808" y="4572000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58" name="Oval 58"/>
          <p:cNvSpPr/>
          <p:nvPr/>
        </p:nvSpPr>
        <p:spPr>
          <a:xfrm>
            <a:off x="6647688" y="4572000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59" name="Oval 59"/>
          <p:cNvSpPr/>
          <p:nvPr/>
        </p:nvSpPr>
        <p:spPr>
          <a:xfrm>
            <a:off x="6830568" y="457200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60" name="TextBox 60"/>
          <p:cNvSpPr txBox="1"/>
          <p:nvPr/>
        </p:nvSpPr>
        <p:spPr>
          <a:xfrm>
            <a:off x="7150608" y="4507992"/>
            <a:ext cx="408736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de-CH" sz="950" b="1" dirty="0">
                <a:solidFill>
                  <a:srgbClr val="94A3B8"/>
                </a:solidFill>
                <a:latin typeface="Consolas"/>
                <a:cs typeface="Consolas"/>
              </a:rPr>
              <a:t>CODE: MAPPINGS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510528" y="4864608"/>
            <a:ext cx="4773168" cy="1417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de-CH" sz="1150" b="0" dirty="0">
                <a:solidFill>
                  <a:srgbClr val="94A3B8"/>
                </a:solidFill>
                <a:latin typeface="Consolas"/>
                <a:cs typeface="Consolas"/>
              </a:rPr>
              <a:t># Gleiches Item, anderer Katalog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de-CH" sz="1150" b="0" dirty="0">
                <a:solidFill>
                  <a:srgbClr val="E2E8F0"/>
                </a:solidFill>
                <a:latin typeface="Consolas"/>
                <a:cs typeface="Consolas"/>
              </a:rPr>
              <a:t>mcskos:Apple skos:exactMatch mcwiki:Apple 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de-CH" sz="1150" b="0" dirty="0">
                <a:solidFill>
                  <a:srgbClr val="94A3B8"/>
                </a:solidFill>
                <a:latin typeface="Consolas"/>
                <a:cs typeface="Consolas"/>
              </a:rPr>
              <a:t># Gleiches Wort, andere Welt (Spiel vs. Obst)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de-CH" sz="1150" b="0" dirty="0">
                <a:solidFill>
                  <a:srgbClr val="E2E8F0"/>
                </a:solidFill>
                <a:latin typeface="Consolas"/>
                <a:cs typeface="Consolas"/>
              </a:rPr>
              <a:t>mcskos:Apple skos:closeMatch dbpedia:Apple 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de-CH" sz="1150" b="0" dirty="0">
                <a:solidFill>
                  <a:srgbClr val="94A3B8"/>
                </a:solidFill>
                <a:latin typeface="Consolas"/>
                <a:cs typeface="Consolas"/>
              </a:rPr>
              <a:t># Unser Begriff ist enger gefasst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de-CH" sz="1150" b="0" dirty="0">
                <a:solidFill>
                  <a:srgbClr val="E2E8F0"/>
                </a:solidFill>
                <a:latin typeface="Consolas"/>
                <a:cs typeface="Consolas"/>
              </a:rPr>
              <a:t>mcskos:Pickaxe skos:broadMatch mcwiki:Tool 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4" name="TextBox 4"/>
          <p:cNvSpPr txBox="1"/>
          <p:nvPr/>
        </p:nvSpPr>
        <p:spPr>
          <a:xfrm>
            <a:off x="731520" y="411480"/>
            <a:ext cx="10728655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1000" b="1" dirty="0">
                <a:solidFill>
                  <a:srgbClr val="38BDF8"/>
                </a:solidFill>
                <a:latin typeface="Segoe UI"/>
                <a:cs typeface="Segoe UI"/>
              </a:rPr>
              <a:t>W3C SKOS | MINECRAFT KNOWLEDGE GRAPH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1520" y="658368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2600" b="1" dirty="0">
                <a:solidFill>
                  <a:srgbClr val="FFFFFF"/>
                </a:solidFill>
                <a:latin typeface="Segoe UI"/>
                <a:cs typeface="Segoe UI"/>
              </a:rPr>
              <a:t>Fazit: Der Semantic-Web-Baukasten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1520" y="120700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de-CH" sz="1300" b="0" dirty="0">
              <a:solidFill>
                <a:srgbClr val="94A3B8"/>
              </a:solidFill>
              <a:latin typeface="Calibri"/>
              <a:cs typeface="Calibri"/>
            </a:endParaRPr>
          </a:p>
        </p:txBody>
      </p:sp>
      <p:sp>
        <p:nvSpPr>
          <p:cNvPr id="7" name="Shape 7"/>
          <p:cNvSpPr/>
          <p:nvPr/>
        </p:nvSpPr>
        <p:spPr>
          <a:xfrm>
            <a:off x="731520" y="1783080"/>
            <a:ext cx="3393338" cy="39776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blurRad="76200" dist="19050" dir="5400000" algn="t" rotWithShape="0">
              <a:srgbClr val="0F172A">
                <a:alpha val="12000"/>
              </a:srgbClr>
            </a:outerShdw>
          </a:effectLst>
        </p:spPr>
        <p:txBody>
          <a:bodyPr rtlCol="0" anchor="ctr"/>
          <a:lstStyle/>
          <a:p>
            <a:endParaRPr lang="de-CH"/>
          </a:p>
        </p:txBody>
      </p:sp>
      <p:sp>
        <p:nvSpPr>
          <p:cNvPr id="8" name="TextBox 8"/>
          <p:cNvSpPr txBox="1"/>
          <p:nvPr/>
        </p:nvSpPr>
        <p:spPr>
          <a:xfrm>
            <a:off x="1005840" y="2011680"/>
            <a:ext cx="284469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1000" b="1" dirty="0">
                <a:solidFill>
                  <a:srgbClr val="38BDF8"/>
                </a:solidFill>
                <a:latin typeface="Segoe UI"/>
                <a:cs typeface="Segoe UI"/>
              </a:rPr>
              <a:t>LOGIK &amp; INFERENZ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05840" y="2377440"/>
            <a:ext cx="2844698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2000" b="1" dirty="0">
                <a:solidFill>
                  <a:srgbClr val="FFFFFF"/>
                </a:solidFill>
                <a:latin typeface="Segoe UI"/>
                <a:cs typeface="Segoe UI"/>
              </a:rPr>
              <a:t>OWL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05840" y="2834640"/>
            <a:ext cx="284469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1300" b="1" dirty="0">
                <a:solidFill>
                  <a:srgbClr val="38BDF8"/>
                </a:solidFill>
                <a:latin typeface="Segoe UI"/>
                <a:cs typeface="Segoe UI"/>
              </a:rPr>
              <a:t>Was folgt daraus?</a:t>
            </a:r>
          </a:p>
        </p:txBody>
      </p:sp>
      <p:cxnSp>
        <p:nvCxnSpPr>
          <p:cNvPr id="11" name="Line 11"/>
          <p:cNvCxnSpPr/>
          <p:nvPr/>
        </p:nvCxnSpPr>
        <p:spPr>
          <a:xfrm>
            <a:off x="1005840" y="3337560"/>
            <a:ext cx="2844698" cy="0"/>
          </a:xfrm>
          <a:prstGeom prst="line">
            <a:avLst/>
          </a:prstGeom>
          <a:ln w="12700">
            <a:solidFill>
              <a:srgbClr val="334155"/>
            </a:solidFill>
          </a:ln>
        </p:spPr>
      </p:cxnSp>
      <p:sp>
        <p:nvSpPr>
          <p:cNvPr id="12" name="TextBox 12"/>
          <p:cNvSpPr txBox="1"/>
          <p:nvPr/>
        </p:nvSpPr>
        <p:spPr>
          <a:xfrm>
            <a:off x="1005840" y="3474720"/>
            <a:ext cx="2844698" cy="1371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de-CH" sz="1150" b="0" dirty="0">
                <a:solidFill>
                  <a:srgbClr val="E2E8F0"/>
                </a:solidFill>
                <a:latin typeface="Calibri"/>
                <a:cs typeface="Calibri"/>
              </a:rPr>
              <a:t>•  Regelbasierte Ableitung neuen Wissens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de-CH" sz="1150" b="0" dirty="0">
                <a:solidFill>
                  <a:srgbClr val="E2E8F0"/>
                </a:solidFill>
                <a:latin typeface="Calibri"/>
                <a:cs typeface="Calibri"/>
              </a:rPr>
              <a:t>•  Offene Welt (Open World Assumption)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de-CH" sz="1150" b="0" dirty="0">
                <a:solidFill>
                  <a:srgbClr val="E2E8F0"/>
                </a:solidFill>
                <a:latin typeface="Calibri"/>
                <a:cs typeface="Calibri"/>
              </a:rPr>
              <a:t>•  Klassen-Axiome &amp; logische Beweise</a:t>
            </a:r>
          </a:p>
        </p:txBody>
      </p:sp>
      <p:sp>
        <p:nvSpPr>
          <p:cNvPr id="13" name="Shape 13"/>
          <p:cNvSpPr/>
          <p:nvPr/>
        </p:nvSpPr>
        <p:spPr>
          <a:xfrm>
            <a:off x="1005840" y="4892040"/>
            <a:ext cx="2844698" cy="64008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14" name="TextBox 14"/>
          <p:cNvSpPr txBox="1"/>
          <p:nvPr/>
        </p:nvSpPr>
        <p:spPr>
          <a:xfrm>
            <a:off x="1143000" y="4892040"/>
            <a:ext cx="2570378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de-CH" sz="850" b="1" dirty="0">
                <a:solidFill>
                  <a:srgbClr val="38BDF8"/>
                </a:solidFill>
                <a:latin typeface="Segoe UI"/>
                <a:cs typeface="Segoe UI"/>
              </a:rPr>
              <a:t>PRAXIS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1100" b="1" dirty="0">
                <a:solidFill>
                  <a:srgbClr val="FFFFFF"/>
                </a:solidFill>
                <a:latin typeface="Calibri"/>
                <a:cs typeface="Calibri"/>
              </a:rPr>
              <a:t>Rezeptarten automatisch klassifizieren</a:t>
            </a:r>
          </a:p>
        </p:txBody>
      </p:sp>
      <p:sp>
        <p:nvSpPr>
          <p:cNvPr id="15" name="Shape 15"/>
          <p:cNvSpPr/>
          <p:nvPr/>
        </p:nvSpPr>
        <p:spPr>
          <a:xfrm>
            <a:off x="4399178" y="1783080"/>
            <a:ext cx="3393338" cy="39776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blurRad="76200" dist="19050" dir="5400000" algn="t" rotWithShape="0">
              <a:srgbClr val="0F172A">
                <a:alpha val="12000"/>
              </a:srgbClr>
            </a:outerShdw>
          </a:effectLst>
        </p:spPr>
        <p:txBody>
          <a:bodyPr rtlCol="0" anchor="ctr"/>
          <a:lstStyle/>
          <a:p>
            <a:endParaRPr lang="de-CH"/>
          </a:p>
        </p:txBody>
      </p:sp>
      <p:sp>
        <p:nvSpPr>
          <p:cNvPr id="16" name="TextBox 16"/>
          <p:cNvSpPr txBox="1"/>
          <p:nvPr/>
        </p:nvSpPr>
        <p:spPr>
          <a:xfrm>
            <a:off x="4673498" y="2011680"/>
            <a:ext cx="284469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1000" b="1" dirty="0">
                <a:solidFill>
                  <a:srgbClr val="FBBF24"/>
                </a:solidFill>
                <a:latin typeface="Segoe UI"/>
                <a:cs typeface="Segoe UI"/>
              </a:rPr>
              <a:t>QUALITÄT &amp; VERTRÄGE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673498" y="2377440"/>
            <a:ext cx="2844698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2000" b="1" dirty="0">
                <a:solidFill>
                  <a:srgbClr val="FFFFFF"/>
                </a:solidFill>
                <a:latin typeface="Segoe UI"/>
                <a:cs typeface="Segoe UI"/>
              </a:rPr>
              <a:t>SHACL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673498" y="2834640"/>
            <a:ext cx="284469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1300" b="1" dirty="0">
                <a:solidFill>
                  <a:srgbClr val="FBBF24"/>
                </a:solidFill>
                <a:latin typeface="Segoe UI"/>
                <a:cs typeface="Segoe UI"/>
              </a:rPr>
              <a:t>Sind die Daten korrekt?</a:t>
            </a:r>
          </a:p>
        </p:txBody>
      </p:sp>
      <p:cxnSp>
        <p:nvCxnSpPr>
          <p:cNvPr id="19" name="Line 19"/>
          <p:cNvCxnSpPr/>
          <p:nvPr/>
        </p:nvCxnSpPr>
        <p:spPr>
          <a:xfrm>
            <a:off x="4673498" y="3337560"/>
            <a:ext cx="2844698" cy="0"/>
          </a:xfrm>
          <a:prstGeom prst="line">
            <a:avLst/>
          </a:prstGeom>
          <a:ln w="12700">
            <a:solidFill>
              <a:srgbClr val="334155"/>
            </a:solidFill>
          </a:ln>
        </p:spPr>
      </p:cxnSp>
      <p:sp>
        <p:nvSpPr>
          <p:cNvPr id="20" name="TextBox 20"/>
          <p:cNvSpPr txBox="1"/>
          <p:nvPr/>
        </p:nvSpPr>
        <p:spPr>
          <a:xfrm>
            <a:off x="4673498" y="3474720"/>
            <a:ext cx="2844698" cy="1371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de-CH" sz="1150" b="0" dirty="0">
                <a:solidFill>
                  <a:srgbClr val="E2E8F0"/>
                </a:solidFill>
                <a:latin typeface="Calibri"/>
                <a:cs typeface="Calibri"/>
              </a:rPr>
              <a:t>•  Geschlossene Welt für die Prüfung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de-CH" sz="1150" b="0" dirty="0">
                <a:solidFill>
                  <a:srgbClr val="E2E8F0"/>
                </a:solidFill>
                <a:latin typeface="Calibri"/>
                <a:cs typeface="Calibri"/>
              </a:rPr>
              <a:t>•  Pflichtfelder &amp; Kardinalitäten erzwingen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de-CH" sz="1150" b="0" dirty="0">
                <a:solidFill>
                  <a:srgbClr val="E2E8F0"/>
                </a:solidFill>
                <a:latin typeface="Calibri"/>
                <a:cs typeface="Calibri"/>
              </a:rPr>
              <a:t>•  Wertebereiche &amp; Datenintegrität absichern</a:t>
            </a:r>
          </a:p>
        </p:txBody>
      </p:sp>
      <p:sp>
        <p:nvSpPr>
          <p:cNvPr id="21" name="Shape 21"/>
          <p:cNvSpPr/>
          <p:nvPr/>
        </p:nvSpPr>
        <p:spPr>
          <a:xfrm>
            <a:off x="4673498" y="4892040"/>
            <a:ext cx="2844698" cy="64008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22" name="TextBox 22"/>
          <p:cNvSpPr txBox="1"/>
          <p:nvPr/>
        </p:nvSpPr>
        <p:spPr>
          <a:xfrm>
            <a:off x="4810658" y="4892040"/>
            <a:ext cx="2570378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de-CH" sz="850" b="1" dirty="0">
                <a:solidFill>
                  <a:srgbClr val="FBBF24"/>
                </a:solidFill>
                <a:latin typeface="Segoe UI"/>
                <a:cs typeface="Segoe UI"/>
              </a:rPr>
              <a:t>PRAXIS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1100" b="1" dirty="0">
                <a:solidFill>
                  <a:srgbClr val="FFFFFF"/>
                </a:solidFill>
                <a:latin typeface="Calibri"/>
                <a:cs typeface="Calibri"/>
              </a:rPr>
              <a:t>Rezeptausbeute muss mindestens 1 sein</a:t>
            </a:r>
          </a:p>
        </p:txBody>
      </p:sp>
      <p:sp>
        <p:nvSpPr>
          <p:cNvPr id="23" name="Shape 23"/>
          <p:cNvSpPr/>
          <p:nvPr/>
        </p:nvSpPr>
        <p:spPr>
          <a:xfrm>
            <a:off x="8066837" y="1783080"/>
            <a:ext cx="3393338" cy="39776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28575">
            <a:solidFill>
              <a:srgbClr val="34D399"/>
            </a:solidFill>
          </a:ln>
          <a:effectLst>
            <a:outerShdw blurRad="76200" dist="19050" dir="5400000" algn="t" rotWithShape="0">
              <a:srgbClr val="0F172A">
                <a:alpha val="12000"/>
              </a:srgbClr>
            </a:outerShdw>
          </a:effectLst>
        </p:spPr>
        <p:txBody>
          <a:bodyPr rtlCol="0" anchor="ctr"/>
          <a:lstStyle/>
          <a:p>
            <a:endParaRPr lang="de-CH"/>
          </a:p>
        </p:txBody>
      </p:sp>
      <p:sp>
        <p:nvSpPr>
          <p:cNvPr id="24" name="Shape 24"/>
          <p:cNvSpPr/>
          <p:nvPr/>
        </p:nvSpPr>
        <p:spPr>
          <a:xfrm>
            <a:off x="9905695" y="2478024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25" name="TextBox 25"/>
          <p:cNvSpPr txBox="1"/>
          <p:nvPr/>
        </p:nvSpPr>
        <p:spPr>
          <a:xfrm>
            <a:off x="9905695" y="2478024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CH" sz="850" b="1" dirty="0">
                <a:solidFill>
                  <a:srgbClr val="FFFFFF"/>
                </a:solidFill>
                <a:latin typeface="Segoe UI"/>
                <a:cs typeface="Segoe UI"/>
              </a:rPr>
              <a:t>HEUTE IM FOKUS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341157" y="2011680"/>
            <a:ext cx="284469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1000" b="1" dirty="0">
                <a:solidFill>
                  <a:srgbClr val="34D399"/>
                </a:solidFill>
                <a:latin typeface="Segoe UI"/>
                <a:cs typeface="Segoe UI"/>
              </a:rPr>
              <a:t>VOKABULARE &amp; SUCHE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341157" y="2377440"/>
            <a:ext cx="2844698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2000" b="1" dirty="0">
                <a:solidFill>
                  <a:srgbClr val="FFFFFF"/>
                </a:solidFill>
                <a:latin typeface="Segoe UI"/>
                <a:cs typeface="Segoe UI"/>
              </a:rPr>
              <a:t>SKOS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341157" y="2834640"/>
            <a:ext cx="284469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1300" b="1" dirty="0">
                <a:solidFill>
                  <a:srgbClr val="34D399"/>
                </a:solidFill>
                <a:latin typeface="Segoe UI"/>
                <a:cs typeface="Segoe UI"/>
              </a:rPr>
              <a:t>Wie finden Menschen es?</a:t>
            </a:r>
          </a:p>
        </p:txBody>
      </p:sp>
      <p:cxnSp>
        <p:nvCxnSpPr>
          <p:cNvPr id="29" name="Line 29"/>
          <p:cNvCxnSpPr/>
          <p:nvPr/>
        </p:nvCxnSpPr>
        <p:spPr>
          <a:xfrm>
            <a:off x="8341157" y="3337560"/>
            <a:ext cx="2844698" cy="0"/>
          </a:xfrm>
          <a:prstGeom prst="line">
            <a:avLst/>
          </a:prstGeom>
          <a:ln w="12700">
            <a:solidFill>
              <a:srgbClr val="334155"/>
            </a:solidFill>
          </a:ln>
        </p:spPr>
      </p:cxnSp>
      <p:sp>
        <p:nvSpPr>
          <p:cNvPr id="30" name="TextBox 30"/>
          <p:cNvSpPr txBox="1"/>
          <p:nvPr/>
        </p:nvSpPr>
        <p:spPr>
          <a:xfrm>
            <a:off x="8341157" y="3474720"/>
            <a:ext cx="2844698" cy="1371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de-CH" sz="1150" b="0" dirty="0">
                <a:solidFill>
                  <a:srgbClr val="E2E8F0"/>
                </a:solidFill>
                <a:latin typeface="Calibri"/>
                <a:cs typeface="Calibri"/>
              </a:rPr>
              <a:t>•  Thesauri, Taxonomien &amp; Register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de-CH" sz="1150" b="0" dirty="0">
                <a:solidFill>
                  <a:srgbClr val="E2E8F0"/>
                </a:solidFill>
                <a:latin typeface="Calibri"/>
                <a:cs typeface="Calibri"/>
              </a:rPr>
              <a:t>•  Synonyme, Slang &amp; alte Namen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de-CH" sz="1150" b="0" dirty="0">
                <a:solidFill>
                  <a:srgbClr val="E2E8F0"/>
                </a:solidFill>
                <a:latin typeface="Calibri"/>
                <a:cs typeface="Calibri"/>
              </a:rPr>
              <a:t>•  Sammlungen &amp; Mappings</a:t>
            </a:r>
          </a:p>
        </p:txBody>
      </p:sp>
      <p:sp>
        <p:nvSpPr>
          <p:cNvPr id="31" name="Shape 31"/>
          <p:cNvSpPr/>
          <p:nvPr/>
        </p:nvSpPr>
        <p:spPr>
          <a:xfrm>
            <a:off x="8341157" y="4892040"/>
            <a:ext cx="2844698" cy="64008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32" name="TextBox 32"/>
          <p:cNvSpPr txBox="1"/>
          <p:nvPr/>
        </p:nvSpPr>
        <p:spPr>
          <a:xfrm>
            <a:off x="8478317" y="4892040"/>
            <a:ext cx="2570378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de-CH" sz="850" b="1" dirty="0">
                <a:solidFill>
                  <a:srgbClr val="34D399"/>
                </a:solidFill>
                <a:latin typeface="Segoe UI"/>
                <a:cs typeface="Segoe UI"/>
              </a:rPr>
              <a:t>PRAXIS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CH" sz="1100" b="1" dirty="0">
                <a:solidFill>
                  <a:srgbClr val="FFFFFF"/>
                </a:solidFill>
                <a:latin typeface="Calibri"/>
                <a:cs typeface="Calibri"/>
              </a:rPr>
              <a:t>„Kaktusgrün“ findet Grünen Farbstoff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31520" y="5943600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de-CH" sz="1300" b="1" dirty="0">
              <a:solidFill>
                <a:srgbClr val="CBD5E1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2009</Words>
  <Application>Microsoft Office PowerPoint</Application>
  <PresentationFormat>Breitbild</PresentationFormat>
  <Paragraphs>313</Paragraphs>
  <Slides>12</Slides>
  <Notes>12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Segoe UI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Schüpbach Michael BLW</cp:lastModifiedBy>
  <cp:revision>11</cp:revision>
  <dcterms:created xsi:type="dcterms:W3CDTF">2013-01-27T09:14:16Z</dcterms:created>
  <dcterms:modified xsi:type="dcterms:W3CDTF">2026-09-30T08:34:32Z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a112399-b73b-40c1-8af2-919b124b9d91_Enabled">
    <vt:lpwstr>true</vt:lpwstr>
  </property>
  <property fmtid="{D5CDD505-2E9C-101B-9397-08002B2CF9AE}" pid="3" name="MSIP_Label_aa112399-b73b-40c1-8af2-919b124b9d91_SetDate">
    <vt:lpwstr>2026-09-17T15:09:57Z</vt:lpwstr>
  </property>
  <property fmtid="{D5CDD505-2E9C-101B-9397-08002B2CF9AE}" pid="4" name="MSIP_Label_aa112399-b73b-40c1-8af2-919b124b9d91_Method">
    <vt:lpwstr>Privileged</vt:lpwstr>
  </property>
  <property fmtid="{D5CDD505-2E9C-101B-9397-08002B2CF9AE}" pid="5" name="MSIP_Label_aa112399-b73b-40c1-8af2-919b124b9d91_Name">
    <vt:lpwstr>L2</vt:lpwstr>
  </property>
  <property fmtid="{D5CDD505-2E9C-101B-9397-08002B2CF9AE}" pid="6" name="MSIP_Label_aa112399-b73b-40c1-8af2-919b124b9d91_SiteId">
    <vt:lpwstr>6ae27add-8276-4a38-88c1-3a9c1f973767</vt:lpwstr>
  </property>
  <property fmtid="{D5CDD505-2E9C-101B-9397-08002B2CF9AE}" pid="7" name="MSIP_Label_aa112399-b73b-40c1-8af2-919b124b9d91_ActionId">
    <vt:lpwstr>b5b8233c-ebf5-4a0e-a381-8f3c62ea1232</vt:lpwstr>
  </property>
  <property fmtid="{D5CDD505-2E9C-101B-9397-08002B2CF9AE}" pid="8" name="MSIP_Label_aa112399-b73b-40c1-8af2-919b124b9d91_ContentBits">
    <vt:lpwstr>0</vt:lpwstr>
  </property>
  <property fmtid="{D5CDD505-2E9C-101B-9397-08002B2CF9AE}" pid="9" name="MSIP_Label_aa112399-b73b-40c1-8af2-919b124b9d91_Tag">
    <vt:lpwstr>10, 0, 1, 1</vt:lpwstr>
  </property>
</Properties>
</file>