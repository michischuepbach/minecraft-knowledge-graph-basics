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75182" autoAdjust="0"/>
  </p:normalViewPr>
  <p:slideViewPr>
    <p:cSldViewPr snapToGrid="0" snapToObjects="1">
      <p:cViewPr>
        <p:scale>
          <a:sx n="125" d="100"/>
          <a:sy n="125" d="100"/>
        </p:scale>
        <p:origin x="1194" y="-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809033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CH" dirty="0"/>
              <a:t>Hoi </a:t>
            </a:r>
            <a:r>
              <a:rPr lang="de-CH" dirty="0" err="1"/>
              <a:t>zäme</a:t>
            </a:r>
            <a:r>
              <a:rPr lang="de-CH" dirty="0"/>
              <a:t>, danke </a:t>
            </a:r>
            <a:r>
              <a:rPr lang="de-CH" dirty="0" err="1"/>
              <a:t>villmol</a:t>
            </a:r>
            <a:r>
              <a:rPr lang="de-CH" dirty="0"/>
              <a:t>, dass dir euch </a:t>
            </a:r>
            <a:r>
              <a:rPr lang="de-CH" dirty="0" err="1"/>
              <a:t>hüt</a:t>
            </a:r>
            <a:r>
              <a:rPr lang="de-CH" dirty="0"/>
              <a:t> </a:t>
            </a:r>
            <a:r>
              <a:rPr lang="de-CH" dirty="0" err="1"/>
              <a:t>Zyt</a:t>
            </a:r>
            <a:r>
              <a:rPr lang="de-CH" dirty="0"/>
              <a:t> </a:t>
            </a:r>
            <a:r>
              <a:rPr lang="de-CH" dirty="0" err="1"/>
              <a:t>nähmed</a:t>
            </a:r>
            <a:r>
              <a:rPr lang="de-CH" dirty="0"/>
              <a:t>! </a:t>
            </a:r>
            <a:r>
              <a:rPr lang="de-CH" dirty="0" err="1"/>
              <a:t>Fèr</a:t>
            </a:r>
            <a:r>
              <a:rPr lang="de-CH" dirty="0"/>
              <a:t> euch </a:t>
            </a:r>
            <a:r>
              <a:rPr lang="de-CH" dirty="0" err="1"/>
              <a:t>isch</a:t>
            </a:r>
            <a:r>
              <a:rPr lang="de-CH" dirty="0"/>
              <a:t> das </a:t>
            </a:r>
            <a:r>
              <a:rPr lang="de-CH" dirty="0" err="1"/>
              <a:t>wahrschinlich</a:t>
            </a:r>
            <a:r>
              <a:rPr lang="de-CH" dirty="0"/>
              <a:t> das </a:t>
            </a:r>
            <a:r>
              <a:rPr lang="de-CH" dirty="0" err="1"/>
              <a:t>daily</a:t>
            </a:r>
            <a:r>
              <a:rPr lang="de-CH" dirty="0"/>
              <a:t> </a:t>
            </a:r>
            <a:r>
              <a:rPr lang="de-CH" dirty="0" err="1"/>
              <a:t>business</a:t>
            </a:r>
            <a:r>
              <a:rPr lang="de-CH" dirty="0"/>
              <a:t> und hie wird euch </a:t>
            </a:r>
            <a:r>
              <a:rPr lang="de-CH" dirty="0" err="1"/>
              <a:t>nüt</a:t>
            </a:r>
            <a:r>
              <a:rPr lang="de-CH" dirty="0"/>
              <a:t> </a:t>
            </a:r>
            <a:r>
              <a:rPr lang="de-CH" dirty="0" err="1"/>
              <a:t>unbekannts</a:t>
            </a:r>
            <a:r>
              <a:rPr lang="de-CH" dirty="0"/>
              <a:t> begegne  Ich ha vom Damian </a:t>
            </a:r>
            <a:r>
              <a:rPr lang="de-CH" dirty="0" err="1"/>
              <a:t>dr</a:t>
            </a:r>
            <a:r>
              <a:rPr lang="de-CH" dirty="0"/>
              <a:t> Auftrag </a:t>
            </a:r>
            <a:r>
              <a:rPr lang="de-CH" dirty="0" err="1"/>
              <a:t>übercho</a:t>
            </a:r>
            <a:r>
              <a:rPr lang="de-CH" dirty="0"/>
              <a:t>, euch s Thema RDF und Turtle </a:t>
            </a:r>
            <a:r>
              <a:rPr lang="de-CH" dirty="0" err="1"/>
              <a:t>vorzstelle</a:t>
            </a:r>
            <a:r>
              <a:rPr lang="de-CH" dirty="0"/>
              <a:t>. </a:t>
            </a:r>
          </a:p>
          <a:p>
            <a:r>
              <a:rPr lang="de-CH" dirty="0"/>
              <a:t>Mir </a:t>
            </a:r>
            <a:r>
              <a:rPr lang="de-CH" dirty="0" err="1"/>
              <a:t>started</a:t>
            </a:r>
            <a:r>
              <a:rPr lang="de-CH" dirty="0"/>
              <a:t> grad direkt </a:t>
            </a:r>
            <a:r>
              <a:rPr lang="de-CH" dirty="0" err="1"/>
              <a:t>ine</a:t>
            </a:r>
            <a:r>
              <a:rPr lang="de-CH" dirty="0"/>
              <a:t>!“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CH" dirty="0"/>
              <a:t>RDF modelliert </a:t>
            </a:r>
            <a:r>
              <a:rPr lang="de-CH" dirty="0" err="1"/>
              <a:t>Ussege</a:t>
            </a:r>
            <a:r>
              <a:rPr lang="de-CH" dirty="0"/>
              <a:t> </a:t>
            </a:r>
            <a:r>
              <a:rPr lang="de-CH" dirty="0" err="1"/>
              <a:t>asl</a:t>
            </a:r>
            <a:r>
              <a:rPr lang="de-CH" dirty="0"/>
              <a:t> </a:t>
            </a:r>
            <a:r>
              <a:rPr lang="de-CH" dirty="0" err="1"/>
              <a:t>Bezzige</a:t>
            </a:r>
            <a:r>
              <a:rPr lang="de-CH" dirty="0"/>
              <a:t>. Und jede </a:t>
            </a:r>
            <a:r>
              <a:rPr lang="de-CH" dirty="0" err="1"/>
              <a:t>Usseg</a:t>
            </a:r>
            <a:r>
              <a:rPr lang="de-CH" dirty="0"/>
              <a:t> </a:t>
            </a:r>
            <a:r>
              <a:rPr lang="de-CH" dirty="0" err="1"/>
              <a:t>isch</a:t>
            </a:r>
            <a:r>
              <a:rPr lang="de-CH" dirty="0"/>
              <a:t> immer exakt glich </a:t>
            </a:r>
            <a:r>
              <a:rPr lang="de-CH" dirty="0" err="1"/>
              <a:t>ufgebaut</a:t>
            </a:r>
            <a:r>
              <a:rPr lang="de-CH" dirty="0"/>
              <a:t>: und zwar es </a:t>
            </a:r>
            <a:r>
              <a:rPr lang="de-CH" dirty="0" err="1"/>
              <a:t>us</a:t>
            </a:r>
            <a:r>
              <a:rPr lang="de-CH" dirty="0"/>
              <a:t> </a:t>
            </a:r>
            <a:r>
              <a:rPr lang="de-CH" b="1" dirty="0"/>
              <a:t>Subjekt, Prädikat und Objekt</a:t>
            </a:r>
            <a:r>
              <a:rPr lang="de-CH" dirty="0"/>
              <a:t> – genau wie </a:t>
            </a:r>
            <a:r>
              <a:rPr lang="de-CH" dirty="0" err="1"/>
              <a:t>imne</a:t>
            </a:r>
            <a:r>
              <a:rPr lang="de-CH" dirty="0"/>
              <a:t> normale Satz. Indem mir mehrere </a:t>
            </a:r>
            <a:r>
              <a:rPr lang="de-CH" dirty="0" err="1"/>
              <a:t>sölli</a:t>
            </a:r>
            <a:r>
              <a:rPr lang="de-CH" dirty="0"/>
              <a:t> </a:t>
            </a:r>
            <a:r>
              <a:rPr lang="de-CH" dirty="0" err="1"/>
              <a:t>Ussege</a:t>
            </a:r>
            <a:r>
              <a:rPr lang="de-CH" dirty="0"/>
              <a:t> </a:t>
            </a:r>
            <a:r>
              <a:rPr lang="de-CH" dirty="0" err="1"/>
              <a:t>verbinded</a:t>
            </a:r>
            <a:r>
              <a:rPr lang="de-CH" dirty="0"/>
              <a:t>, entsteht en Graph als </a:t>
            </a:r>
            <a:r>
              <a:rPr lang="de-CH" dirty="0" err="1"/>
              <a:t>erweiterbars</a:t>
            </a:r>
            <a:r>
              <a:rPr lang="de-CH" dirty="0"/>
              <a:t> Wissensmodell. Und </a:t>
            </a:r>
            <a:r>
              <a:rPr lang="de-CH" dirty="0" err="1"/>
              <a:t>dr</a:t>
            </a:r>
            <a:r>
              <a:rPr lang="de-CH" dirty="0"/>
              <a:t> </a:t>
            </a:r>
            <a:r>
              <a:rPr lang="de-CH" dirty="0" err="1"/>
              <a:t>grösst</a:t>
            </a:r>
            <a:r>
              <a:rPr lang="de-CH" dirty="0"/>
              <a:t> Nutze davor? Mir </a:t>
            </a:r>
            <a:r>
              <a:rPr lang="de-CH" dirty="0" err="1"/>
              <a:t>chönnd</a:t>
            </a:r>
            <a:r>
              <a:rPr lang="de-CH" dirty="0"/>
              <a:t> Daten </a:t>
            </a:r>
            <a:r>
              <a:rPr lang="de-CH" dirty="0" err="1"/>
              <a:t>us</a:t>
            </a:r>
            <a:r>
              <a:rPr lang="de-CH" dirty="0"/>
              <a:t> ganz unterschiedliche Quelle </a:t>
            </a:r>
            <a:r>
              <a:rPr lang="de-CH" dirty="0" err="1"/>
              <a:t>zammebringen</a:t>
            </a:r>
            <a:r>
              <a:rPr lang="de-CH" dirty="0"/>
              <a:t> und nahtlos gemeinsam </a:t>
            </a:r>
            <a:r>
              <a:rPr lang="de-CH" dirty="0" err="1"/>
              <a:t>verstah</a:t>
            </a:r>
            <a:r>
              <a:rPr lang="de-CH" dirty="0"/>
              <a:t>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Schaun </a:t>
            </a:r>
            <a:r>
              <a:rPr lang="en-US" dirty="0" err="1"/>
              <a:t>wir</a:t>
            </a:r>
            <a:r>
              <a:rPr lang="en-US" dirty="0"/>
              <a:t> </a:t>
            </a:r>
            <a:r>
              <a:rPr lang="en-US" dirty="0" err="1"/>
              <a:t>uns</a:t>
            </a:r>
            <a:r>
              <a:rPr lang="en-US" dirty="0"/>
              <a:t> </a:t>
            </a:r>
            <a:r>
              <a:rPr lang="en-US" dirty="0" err="1"/>
              <a:t>jetzt</a:t>
            </a:r>
            <a:r>
              <a:rPr lang="en-US" dirty="0"/>
              <a:t> das </a:t>
            </a:r>
            <a:r>
              <a:rPr lang="en-US" dirty="0" err="1"/>
              <a:t>klienste</a:t>
            </a:r>
            <a:r>
              <a:rPr lang="en-US" dirty="0"/>
              <a:t> </a:t>
            </a:r>
            <a:r>
              <a:rPr lang="en-US" dirty="0" err="1"/>
              <a:t>Elemtn</a:t>
            </a:r>
            <a:r>
              <a:rPr lang="en-US" dirty="0"/>
              <a:t> von RDF an. Ein  Triple ds </a:t>
            </a:r>
            <a:r>
              <a:rPr lang="en-US" dirty="0" err="1"/>
              <a:t>besthend</a:t>
            </a:r>
            <a:r>
              <a:rPr lang="en-US" dirty="0"/>
              <a:t> </a:t>
            </a:r>
            <a:r>
              <a:rPr lang="en-US" dirty="0" err="1"/>
              <a:t>aus</a:t>
            </a:r>
            <a:r>
              <a:rPr lang="en-US" dirty="0"/>
              <a:t> </a:t>
            </a:r>
            <a:r>
              <a:rPr lang="en-US" dirty="0" err="1"/>
              <a:t>einem</a:t>
            </a:r>
            <a:r>
              <a:rPr lang="en-US" dirty="0"/>
              <a:t> </a:t>
            </a:r>
            <a:r>
              <a:rPr lang="en-US" dirty="0" err="1"/>
              <a:t>Subjekt</a:t>
            </a:r>
            <a:r>
              <a:rPr lang="en-US" dirty="0"/>
              <a:t> </a:t>
            </a:r>
            <a:r>
              <a:rPr lang="en-US" dirty="0" err="1"/>
              <a:t>Prädikat</a:t>
            </a:r>
            <a:r>
              <a:rPr lang="en-US" dirty="0"/>
              <a:t> object. Das </a:t>
            </a:r>
            <a:r>
              <a:rPr lang="en-US" dirty="0" err="1"/>
              <a:t>Subjekt</a:t>
            </a:r>
            <a:r>
              <a:rPr lang="en-US" dirty="0"/>
              <a:t> </a:t>
            </a:r>
            <a:r>
              <a:rPr lang="en-US" dirty="0" err="1"/>
              <a:t>bestimmt</a:t>
            </a:r>
            <a:r>
              <a:rPr lang="en-US" dirty="0"/>
              <a:t> </a:t>
            </a:r>
            <a:r>
              <a:rPr lang="en-US" dirty="0" err="1"/>
              <a:t>worüber</a:t>
            </a:r>
            <a:r>
              <a:rPr lang="en-US" dirty="0"/>
              <a:t> </a:t>
            </a:r>
            <a:r>
              <a:rPr lang="en-US" dirty="0" err="1"/>
              <a:t>gesrpochen</a:t>
            </a:r>
            <a:r>
              <a:rPr lang="en-US" dirty="0"/>
              <a:t> </a:t>
            </a:r>
            <a:r>
              <a:rPr lang="en-US" dirty="0" err="1"/>
              <a:t>wird</a:t>
            </a:r>
            <a:r>
              <a:rPr lang="en-US" dirty="0"/>
              <a:t>, das </a:t>
            </a:r>
            <a:r>
              <a:rPr lang="en-US" dirty="0" err="1"/>
              <a:t>prädikat</a:t>
            </a:r>
            <a:r>
              <a:rPr lang="en-US" dirty="0"/>
              <a:t> </a:t>
            </a:r>
            <a:r>
              <a:rPr lang="en-US" dirty="0" err="1"/>
              <a:t>bestimmt</a:t>
            </a:r>
            <a:r>
              <a:rPr lang="en-US" dirty="0"/>
              <a:t> in Welcher </a:t>
            </a:r>
            <a:r>
              <a:rPr lang="en-US" dirty="0" err="1"/>
              <a:t>beziung</a:t>
            </a:r>
            <a:r>
              <a:rPr lang="en-US" dirty="0"/>
              <a:t> subject und </a:t>
            </a:r>
            <a:r>
              <a:rPr lang="en-US" dirty="0" err="1"/>
              <a:t>obejkt</a:t>
            </a:r>
            <a:r>
              <a:rPr lang="en-US" dirty="0"/>
              <a:t> </a:t>
            </a:r>
            <a:r>
              <a:rPr lang="en-US" dirty="0" err="1"/>
              <a:t>stehen</a:t>
            </a:r>
            <a:r>
              <a:rPr lang="en-US" dirty="0"/>
              <a:t> </a:t>
            </a:r>
            <a:r>
              <a:rPr lang="en-US" dirty="0" err="1"/>
              <a:t>udn</a:t>
            </a:r>
            <a:r>
              <a:rPr lang="en-US" dirty="0"/>
              <a:t> das </a:t>
            </a:r>
            <a:r>
              <a:rPr lang="en-US" dirty="0" err="1"/>
              <a:t>Objekt</a:t>
            </a:r>
            <a:r>
              <a:rPr lang="en-US" dirty="0"/>
              <a:t> definer </a:t>
            </a:r>
            <a:r>
              <a:rPr lang="en-US" dirty="0" err="1"/>
              <a:t>womit</a:t>
            </a:r>
            <a:r>
              <a:rPr lang="en-US" dirty="0"/>
              <a:t> </a:t>
            </a:r>
            <a:r>
              <a:rPr lang="en-US" dirty="0" err="1"/>
              <a:t>oder</a:t>
            </a:r>
            <a:r>
              <a:rPr lang="en-US" dirty="0"/>
              <a:t> </a:t>
            </a:r>
            <a:r>
              <a:rPr lang="en-US" dirty="0" err="1"/>
              <a:t>mit</a:t>
            </a:r>
            <a:r>
              <a:rPr lang="en-US" dirty="0"/>
              <a:t> </a:t>
            </a:r>
            <a:r>
              <a:rPr lang="en-US" dirty="0" err="1"/>
              <a:t>welchem</a:t>
            </a:r>
            <a:r>
              <a:rPr lang="en-US" dirty="0"/>
              <a:t> Wert das </a:t>
            </a:r>
            <a:r>
              <a:rPr lang="en-US" dirty="0" err="1"/>
              <a:t>Subjekt</a:t>
            </a:r>
            <a:r>
              <a:rPr lang="en-US" dirty="0"/>
              <a:t> </a:t>
            </a:r>
            <a:r>
              <a:rPr lang="en-US" dirty="0" err="1"/>
              <a:t>verbunde</a:t>
            </a:r>
            <a:r>
              <a:rPr lang="en-US" dirty="0"/>
              <a:t> </a:t>
            </a:r>
            <a:r>
              <a:rPr lang="en-US" dirty="0" err="1"/>
              <a:t>isch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/>
              <a:t> Wie </a:t>
            </a:r>
            <a:r>
              <a:rPr lang="en-US" dirty="0" err="1"/>
              <a:t>hier</a:t>
            </a:r>
            <a:r>
              <a:rPr lang="en-US" dirty="0"/>
              <a:t> </a:t>
            </a:r>
            <a:r>
              <a:rPr lang="en-US" dirty="0" err="1"/>
              <a:t>unger</a:t>
            </a:r>
            <a:r>
              <a:rPr lang="en-US" dirty="0"/>
              <a:t> </a:t>
            </a:r>
            <a:r>
              <a:rPr lang="en-US" dirty="0" err="1"/>
              <a:t>als</a:t>
            </a:r>
            <a:r>
              <a:rPr lang="en-US" dirty="0"/>
              <a:t> </a:t>
            </a:r>
            <a:r>
              <a:rPr lang="en-US" dirty="0" err="1"/>
              <a:t>Biepsiel</a:t>
            </a:r>
            <a:r>
              <a:rPr lang="en-US" dirty="0"/>
              <a:t> : ds Buch 17 </a:t>
            </a:r>
            <a:r>
              <a:rPr lang="en-US" dirty="0" err="1"/>
              <a:t>isch</a:t>
            </a:r>
            <a:r>
              <a:rPr lang="en-US" dirty="0"/>
              <a:t> </a:t>
            </a:r>
            <a:r>
              <a:rPr lang="en-US" dirty="0" err="1"/>
              <a:t>gschreibe</a:t>
            </a:r>
            <a:r>
              <a:rPr lang="en-US" dirty="0"/>
              <a:t> </a:t>
            </a:r>
            <a:r>
              <a:rPr lang="en-US" dirty="0" err="1"/>
              <a:t>vo</a:t>
            </a:r>
            <a:r>
              <a:rPr lang="en-US" dirty="0"/>
              <a:t> der </a:t>
            </a:r>
            <a:r>
              <a:rPr lang="en-US" dirty="0" err="1"/>
              <a:t>Autorin</a:t>
            </a:r>
            <a:r>
              <a:rPr lang="en-US" dirty="0"/>
              <a:t> Meyer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CH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CH" dirty="0"/>
              <a:t>Im vorherigen Beispiel </a:t>
            </a:r>
            <a:r>
              <a:rPr lang="de-CH" dirty="0" err="1"/>
              <a:t>hbaen</a:t>
            </a:r>
            <a:r>
              <a:rPr lang="de-CH" dirty="0"/>
              <a:t> wir Buch17 als Subjekt </a:t>
            </a:r>
            <a:r>
              <a:rPr lang="de-CH" dirty="0" err="1"/>
              <a:t>geschreiben</a:t>
            </a:r>
            <a:r>
              <a:rPr lang="de-CH" dirty="0"/>
              <a:t>. Aber wie stelle wir jetzt sicher das was mir </a:t>
            </a:r>
            <a:r>
              <a:rPr lang="de-CH" dirty="0" err="1"/>
              <a:t>wüsse</a:t>
            </a:r>
            <a:r>
              <a:rPr lang="de-CH" dirty="0"/>
              <a:t> </a:t>
            </a:r>
            <a:r>
              <a:rPr lang="de-CH" dirty="0" err="1"/>
              <a:t>weles</a:t>
            </a:r>
            <a:r>
              <a:rPr lang="de-CH" dirty="0"/>
              <a:t> buch mir meine wenn 2 </a:t>
            </a:r>
            <a:r>
              <a:rPr lang="de-CH" dirty="0" err="1"/>
              <a:t>systeme</a:t>
            </a:r>
            <a:r>
              <a:rPr lang="de-CH" dirty="0"/>
              <a:t> die die </a:t>
            </a:r>
            <a:r>
              <a:rPr lang="de-CH" dirty="0" err="1"/>
              <a:t>geleiche</a:t>
            </a:r>
            <a:r>
              <a:rPr lang="de-CH" dirty="0"/>
              <a:t> Namen </a:t>
            </a:r>
            <a:r>
              <a:rPr lang="de-CH" dirty="0" err="1"/>
              <a:t>verweden</a:t>
            </a:r>
            <a:r>
              <a:rPr lang="de-CH" dirty="0"/>
              <a:t>. Hier kommen </a:t>
            </a:r>
            <a:r>
              <a:rPr lang="de-CH" dirty="0" err="1"/>
              <a:t>IRI’s</a:t>
            </a:r>
            <a:r>
              <a:rPr lang="de-CH" dirty="0"/>
              <a:t> ins spiel International Resources </a:t>
            </a:r>
            <a:r>
              <a:rPr lang="de-CH" dirty="0" err="1"/>
              <a:t>Identififiers</a:t>
            </a:r>
            <a:r>
              <a:rPr lang="de-CH" dirty="0"/>
              <a:t>. Eine IRI funktioniert wie eine weltweite Ausweisnummer oder </a:t>
            </a:r>
            <a:r>
              <a:rPr lang="de-CH" dirty="0" err="1"/>
              <a:t>Webaddres</a:t>
            </a:r>
            <a:r>
              <a:rPr lang="de-CH" dirty="0"/>
              <a:t> für ein Objekt. Anstatt nur den lokalen Namen zu nutzen </a:t>
            </a:r>
            <a:r>
              <a:rPr lang="de-CH" dirty="0" err="1"/>
              <a:t>vergebn</a:t>
            </a:r>
            <a:r>
              <a:rPr lang="de-CH" dirty="0"/>
              <a:t> wir eine globale </a:t>
            </a:r>
            <a:r>
              <a:rPr lang="de-CH" dirty="0" err="1"/>
              <a:t>Addresse</a:t>
            </a:r>
            <a:r>
              <a:rPr lang="de-CH" dirty="0"/>
              <a:t> wie </a:t>
            </a:r>
            <a:r>
              <a:rPr lang="en-US" sz="1200" kern="0" spc="-22" dirty="0">
                <a:solidFill>
                  <a:srgbClr val="002B4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&lt;https://wissen.example.org/werke/buch17&gt; </a:t>
            </a:r>
            <a:r>
              <a:rPr lang="en-US" sz="1200" kern="0" spc="-22" dirty="0" err="1">
                <a:solidFill>
                  <a:srgbClr val="002B4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dadruch</a:t>
            </a:r>
            <a:r>
              <a:rPr lang="en-US" sz="1200" kern="0" spc="-22" dirty="0">
                <a:solidFill>
                  <a:srgbClr val="002B4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r>
              <a:rPr lang="en-US" sz="1200" kern="0" spc="-22" dirty="0" err="1">
                <a:solidFill>
                  <a:srgbClr val="002B4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wird</a:t>
            </a:r>
            <a:r>
              <a:rPr lang="en-US" sz="1200" kern="0" spc="-22" dirty="0">
                <a:solidFill>
                  <a:srgbClr val="002B4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</a:t>
            </a:r>
            <a:r>
              <a:rPr lang="en-US" sz="1200" kern="0" spc="-22" dirty="0" err="1">
                <a:solidFill>
                  <a:srgbClr val="002B4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eine</a:t>
            </a:r>
            <a:r>
              <a:rPr lang="en-US" sz="1200" kern="0" spc="-22" dirty="0">
                <a:solidFill>
                  <a:srgbClr val="002B4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r>
              <a:rPr lang="en-US" sz="1200" kern="0" spc="-22" dirty="0" err="1">
                <a:solidFill>
                  <a:srgbClr val="002B4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Resoussrouce</a:t>
            </a:r>
            <a:r>
              <a:rPr lang="en-US" sz="1200" kern="0" spc="-22" dirty="0">
                <a:solidFill>
                  <a:srgbClr val="002B4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r>
              <a:rPr lang="en-US" sz="1200" kern="0" spc="-22" dirty="0" err="1">
                <a:solidFill>
                  <a:srgbClr val="002B4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über</a:t>
            </a:r>
            <a:r>
              <a:rPr lang="en-US" sz="1200" kern="0" spc="-22" dirty="0">
                <a:solidFill>
                  <a:srgbClr val="002B4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alle </a:t>
            </a:r>
            <a:r>
              <a:rPr lang="en-US" sz="1200" kern="0" spc="-22" dirty="0" err="1">
                <a:solidFill>
                  <a:srgbClr val="002B4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Datein</a:t>
            </a:r>
            <a:r>
              <a:rPr lang="en-US" sz="1200" kern="0" spc="-22" dirty="0">
                <a:solidFill>
                  <a:srgbClr val="002B4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, Systeme und </a:t>
            </a:r>
            <a:r>
              <a:rPr lang="en-US" sz="1200" kern="0" spc="-22" dirty="0" err="1">
                <a:solidFill>
                  <a:srgbClr val="002B4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Firmengrenzen</a:t>
            </a:r>
            <a:r>
              <a:rPr lang="en-US" sz="1200" kern="0" spc="-22" dirty="0">
                <a:solidFill>
                  <a:srgbClr val="002B4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r>
              <a:rPr lang="en-US" sz="1200" kern="0" spc="-22" dirty="0" err="1">
                <a:solidFill>
                  <a:srgbClr val="002B4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hinweg</a:t>
            </a:r>
            <a:r>
              <a:rPr lang="en-US" sz="1200" kern="0" spc="-22" dirty="0">
                <a:solidFill>
                  <a:srgbClr val="002B4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r>
              <a:rPr lang="en-US" sz="1200" kern="0" spc="-22" dirty="0" err="1">
                <a:solidFill>
                  <a:srgbClr val="002B4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eindeutig</a:t>
            </a:r>
            <a:r>
              <a:rPr lang="en-US" sz="1200" kern="0" spc="-22" dirty="0">
                <a:solidFill>
                  <a:srgbClr val="002B4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</a:t>
            </a:r>
            <a:r>
              <a:rPr lang="en-US" sz="1200" kern="0" spc="-22" dirty="0" err="1">
                <a:solidFill>
                  <a:srgbClr val="002B4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identifzierbar</a:t>
            </a:r>
            <a:r>
              <a:rPr lang="en-US" sz="1200" kern="0" spc="-22" dirty="0">
                <a:solidFill>
                  <a:srgbClr val="002B4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und </a:t>
            </a:r>
            <a:r>
              <a:rPr lang="en-US" sz="1200" kern="0" spc="-22" dirty="0" err="1">
                <a:solidFill>
                  <a:srgbClr val="002B4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auffindbar</a:t>
            </a:r>
            <a:r>
              <a:rPr lang="en-US" sz="1200" kern="0" spc="-22" dirty="0">
                <a:solidFill>
                  <a:srgbClr val="002B4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.</a:t>
            </a:r>
            <a:endParaRPr lang="en-US" sz="1200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Als </a:t>
            </a:r>
            <a:r>
              <a:rPr lang="en-US" dirty="0" err="1"/>
              <a:t>letzt</a:t>
            </a:r>
            <a:r>
              <a:rPr lang="en-US" dirty="0"/>
              <a:t> </a:t>
            </a:r>
            <a:r>
              <a:rPr lang="en-US" dirty="0" err="1"/>
              <a:t>hei</a:t>
            </a:r>
            <a:r>
              <a:rPr lang="en-US" dirty="0"/>
              <a:t> mir </a:t>
            </a:r>
            <a:r>
              <a:rPr lang="en-US" dirty="0" err="1"/>
              <a:t>gseh</a:t>
            </a:r>
            <a:r>
              <a:rPr lang="en-US" dirty="0"/>
              <a:t> das mir </a:t>
            </a:r>
            <a:r>
              <a:rPr lang="en-US" dirty="0" err="1"/>
              <a:t>internahtionel</a:t>
            </a:r>
            <a:r>
              <a:rPr lang="en-US" dirty="0"/>
              <a:t> </a:t>
            </a:r>
            <a:r>
              <a:rPr lang="en-US" dirty="0" err="1"/>
              <a:t>addrese</a:t>
            </a:r>
            <a:r>
              <a:rPr lang="en-US" dirty="0"/>
              <a:t> </a:t>
            </a:r>
            <a:r>
              <a:rPr lang="en-US" dirty="0" err="1"/>
              <a:t>wei</a:t>
            </a:r>
            <a:r>
              <a:rPr lang="en-US" dirty="0"/>
              <a:t> </a:t>
            </a:r>
            <a:r>
              <a:rPr lang="en-US" dirty="0" err="1"/>
              <a:t>verwende</a:t>
            </a:r>
            <a:r>
              <a:rPr lang="en-US" dirty="0"/>
              <a:t> </a:t>
            </a:r>
            <a:r>
              <a:rPr lang="en-US" dirty="0" err="1"/>
              <a:t>aber</a:t>
            </a:r>
            <a:r>
              <a:rPr lang="en-US" dirty="0"/>
              <a:t> für </a:t>
            </a:r>
            <a:r>
              <a:rPr lang="en-US" dirty="0" err="1"/>
              <a:t>jede</a:t>
            </a:r>
            <a:r>
              <a:rPr lang="en-US" dirty="0"/>
              <a:t> </a:t>
            </a:r>
            <a:r>
              <a:rPr lang="en-US" dirty="0" err="1"/>
              <a:t>ihrtrag</a:t>
            </a:r>
            <a:r>
              <a:rPr lang="en-US" dirty="0"/>
              <a:t> eh Langi URL </a:t>
            </a:r>
            <a:r>
              <a:rPr lang="en-US" dirty="0" err="1"/>
              <a:t>Ihtippe</a:t>
            </a:r>
            <a:r>
              <a:rPr lang="en-US" dirty="0"/>
              <a:t> </a:t>
            </a:r>
            <a:r>
              <a:rPr lang="en-US" dirty="0" err="1"/>
              <a:t>isch</a:t>
            </a:r>
            <a:r>
              <a:rPr lang="en-US" dirty="0"/>
              <a:t> oh </a:t>
            </a:r>
            <a:r>
              <a:rPr lang="en-US" dirty="0" err="1"/>
              <a:t>mühsam</a:t>
            </a:r>
            <a:r>
              <a:rPr lang="en-US" dirty="0"/>
              <a:t> </a:t>
            </a:r>
            <a:r>
              <a:rPr lang="en-US" dirty="0" err="1"/>
              <a:t>bläht</a:t>
            </a:r>
            <a:r>
              <a:rPr lang="en-US" dirty="0"/>
              <a:t> der Code </a:t>
            </a:r>
            <a:r>
              <a:rPr lang="en-US" dirty="0" err="1"/>
              <a:t>unnötig</a:t>
            </a:r>
            <a:r>
              <a:rPr lang="en-US" dirty="0"/>
              <a:t> </a:t>
            </a:r>
            <a:r>
              <a:rPr lang="en-US" dirty="0" err="1"/>
              <a:t>uf</a:t>
            </a:r>
            <a:r>
              <a:rPr lang="en-US" dirty="0"/>
              <a:t> drum gits Prefixes</a:t>
            </a:r>
          </a:p>
          <a:p>
            <a:endParaRPr lang="en-US" dirty="0"/>
          </a:p>
          <a:p>
            <a:r>
              <a:rPr lang="de-CH" dirty="0"/>
              <a:t>1 Ein Präfix </a:t>
            </a:r>
            <a:r>
              <a:rPr lang="de-CH" dirty="0" err="1"/>
              <a:t>isch</a:t>
            </a:r>
            <a:r>
              <a:rPr lang="de-CH" dirty="0"/>
              <a:t> im Prinzip es </a:t>
            </a:r>
            <a:r>
              <a:rPr lang="de-CH" b="1" dirty="0" err="1"/>
              <a:t>Chürzel</a:t>
            </a:r>
            <a:r>
              <a:rPr lang="de-CH" b="1" dirty="0"/>
              <a:t> für de </a:t>
            </a:r>
            <a:r>
              <a:rPr lang="de-CH" b="1" dirty="0" err="1"/>
              <a:t>langi</a:t>
            </a:r>
            <a:r>
              <a:rPr lang="de-CH" b="1" dirty="0"/>
              <a:t> </a:t>
            </a:r>
            <a:r>
              <a:rPr lang="de-CH" b="1" dirty="0" err="1"/>
              <a:t>Aafang</a:t>
            </a:r>
            <a:r>
              <a:rPr lang="de-CH" b="1" dirty="0"/>
              <a:t> von einer IRI</a:t>
            </a:r>
            <a:r>
              <a:rPr lang="de-CH" dirty="0"/>
              <a:t>.</a:t>
            </a:r>
          </a:p>
          <a:p>
            <a:r>
              <a:rPr lang="de-CH" dirty="0"/>
              <a:t>2 Dadurch </a:t>
            </a:r>
            <a:r>
              <a:rPr lang="de-CH" dirty="0" err="1"/>
              <a:t>bliibt</a:t>
            </a:r>
            <a:r>
              <a:rPr lang="de-CH" dirty="0"/>
              <a:t> i de eigentliche </a:t>
            </a:r>
            <a:r>
              <a:rPr lang="de-CH" dirty="0" err="1"/>
              <a:t>Ussege</a:t>
            </a:r>
            <a:r>
              <a:rPr lang="de-CH" dirty="0"/>
              <a:t> nur </a:t>
            </a:r>
            <a:r>
              <a:rPr lang="de-CH" dirty="0" err="1"/>
              <a:t>no</a:t>
            </a:r>
            <a:r>
              <a:rPr lang="de-CH" dirty="0"/>
              <a:t> der </a:t>
            </a:r>
            <a:r>
              <a:rPr lang="de-CH" b="1" dirty="0" err="1"/>
              <a:t>churzi</a:t>
            </a:r>
            <a:r>
              <a:rPr lang="de-CH" b="1" dirty="0"/>
              <a:t>, </a:t>
            </a:r>
            <a:r>
              <a:rPr lang="de-CH" b="1" dirty="0" err="1"/>
              <a:t>fachlichi</a:t>
            </a:r>
            <a:r>
              <a:rPr lang="de-CH" b="1" dirty="0"/>
              <a:t> Teil</a:t>
            </a:r>
            <a:r>
              <a:rPr lang="de-CH" dirty="0"/>
              <a:t> </a:t>
            </a:r>
            <a:r>
              <a:rPr lang="de-CH" dirty="0" err="1"/>
              <a:t>stah</a:t>
            </a:r>
            <a:r>
              <a:rPr lang="de-CH" dirty="0"/>
              <a:t> – zum Beispiel hei mir </a:t>
            </a:r>
            <a:r>
              <a:rPr lang="de-CH" dirty="0" err="1"/>
              <a:t>jz</a:t>
            </a:r>
            <a:r>
              <a:rPr lang="de-CH" dirty="0"/>
              <a:t> hie nur </a:t>
            </a:r>
            <a:r>
              <a:rPr lang="de-CH" dirty="0" err="1"/>
              <a:t>no</a:t>
            </a:r>
            <a:r>
              <a:rPr lang="de-CH" dirty="0"/>
              <a:t> </a:t>
            </a:r>
            <a:r>
              <a:rPr lang="de-CH" dirty="0" err="1"/>
              <a:t>ds</a:t>
            </a:r>
            <a:r>
              <a:rPr lang="de-CH" dirty="0"/>
              <a:t> </a:t>
            </a:r>
            <a:r>
              <a:rPr lang="de-CH" dirty="0" err="1"/>
              <a:t>lib</a:t>
            </a:r>
            <a:r>
              <a:rPr lang="de-CH" dirty="0"/>
              <a:t> </a:t>
            </a:r>
            <a:r>
              <a:rPr lang="de-CH" dirty="0" err="1"/>
              <a:t>ansattt</a:t>
            </a:r>
            <a:r>
              <a:rPr lang="de-CH" dirty="0"/>
              <a:t> https//</a:t>
            </a:r>
            <a:r>
              <a:rPr lang="de-CH" dirty="0" err="1"/>
              <a:t>wissen.example</a:t>
            </a:r>
            <a:r>
              <a:rPr lang="de-CH" dirty="0"/>
              <a:t> </a:t>
            </a:r>
            <a:r>
              <a:rPr lang="de-CH" dirty="0" err="1"/>
              <a:t>balbla</a:t>
            </a:r>
            <a:endParaRPr lang="de-CH" dirty="0"/>
          </a:p>
          <a:p>
            <a:r>
              <a:rPr lang="de-CH" dirty="0"/>
              <a:t>3 </a:t>
            </a:r>
            <a:r>
              <a:rPr lang="de-CH" dirty="0" err="1"/>
              <a:t>ds</a:t>
            </a:r>
            <a:r>
              <a:rPr lang="de-CH" dirty="0"/>
              <a:t> bringt </a:t>
            </a:r>
            <a:r>
              <a:rPr lang="de-CH" dirty="0" err="1"/>
              <a:t>üs</a:t>
            </a:r>
            <a:r>
              <a:rPr lang="de-CH" dirty="0"/>
              <a:t> </a:t>
            </a:r>
            <a:r>
              <a:rPr lang="de-CH" dirty="0" err="1"/>
              <a:t>ohe</a:t>
            </a:r>
            <a:r>
              <a:rPr lang="de-CH" dirty="0"/>
              <a:t> Ordnung: Mir </a:t>
            </a:r>
            <a:r>
              <a:rPr lang="de-CH" dirty="0" err="1"/>
              <a:t>gsehnd</a:t>
            </a:r>
            <a:r>
              <a:rPr lang="de-CH" dirty="0"/>
              <a:t> sofort, </a:t>
            </a:r>
            <a:r>
              <a:rPr lang="de-CH" dirty="0" err="1"/>
              <a:t>us</a:t>
            </a:r>
            <a:r>
              <a:rPr lang="de-CH" dirty="0"/>
              <a:t> </a:t>
            </a:r>
            <a:r>
              <a:rPr lang="de-CH" dirty="0" err="1"/>
              <a:t>welem</a:t>
            </a:r>
            <a:r>
              <a:rPr lang="de-CH" dirty="0"/>
              <a:t> Vokabular en Begriff stammt – zum Beispiel </a:t>
            </a:r>
            <a:r>
              <a:rPr lang="de-CH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lib</a:t>
            </a:r>
            <a:r>
              <a:rPr lang="de-CH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</a:t>
            </a:r>
            <a:r>
              <a:rPr lang="de-CH" dirty="0"/>
              <a:t> für Bibliotheksdaten.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CH" dirty="0"/>
              <a:t>Als nächste Abkürzung schauen wir uns </a:t>
            </a:r>
            <a:r>
              <a:rPr lang="de-CH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@base</a:t>
            </a:r>
            <a:r>
              <a:rPr lang="de-CH" dirty="0"/>
              <a:t> an. Hierzu müssen wir verstehen, dass es relative und absolute Pfade gibt:</a:t>
            </a:r>
          </a:p>
          <a:p>
            <a:r>
              <a:rPr lang="de-CH" dirty="0"/>
              <a:t>Wenn ich sage: </a:t>
            </a:r>
            <a:r>
              <a:rPr lang="de-CH" i="1" dirty="0"/>
              <a:t>‚Bahnhofstrasse 1, 8001 Zürich‘</a:t>
            </a:r>
            <a:r>
              <a:rPr lang="de-CH" dirty="0"/>
              <a:t>, weiß jeder auf der Welt exakt, welches Gebäude ich meine – das ist </a:t>
            </a:r>
            <a:r>
              <a:rPr lang="de-CH" b="1" dirty="0"/>
              <a:t>absolut</a:t>
            </a:r>
            <a:r>
              <a:rPr lang="de-CH" dirty="0"/>
              <a:t>. Wenn ich aber in einem Gebäude stehe und sage: </a:t>
            </a:r>
            <a:r>
              <a:rPr lang="de-CH" i="1" dirty="0"/>
              <a:t>‚Zimmer 302‘</a:t>
            </a:r>
            <a:r>
              <a:rPr lang="de-CH" dirty="0"/>
              <a:t>, ist das eine </a:t>
            </a:r>
            <a:r>
              <a:rPr lang="de-CH" b="1" dirty="0"/>
              <a:t>relative Angabe</a:t>
            </a:r>
            <a:r>
              <a:rPr lang="de-CH" dirty="0"/>
              <a:t>. Das funktioniert nur, wenn man weiß, in welchem Gebäude man sich befindet.</a:t>
            </a:r>
          </a:p>
          <a:p>
            <a:r>
              <a:rPr lang="de-CH" dirty="0"/>
              <a:t>Genau das macht </a:t>
            </a:r>
            <a:r>
              <a:rPr lang="de-CH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@base</a:t>
            </a:r>
            <a:r>
              <a:rPr lang="de-CH" dirty="0"/>
              <a:t>: Mit der URL legen wir am Anfang fest, in welchem ‚Gebäude‘ wir uns befinden. Wenn wir danach im Code einfach nur noch </a:t>
            </a:r>
            <a:r>
              <a:rPr lang="de-CH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&lt;zimmer302&gt;</a:t>
            </a:r>
            <a:r>
              <a:rPr lang="de-CH" dirty="0"/>
              <a:t> schreiben, weiß der Parser sofort, wohin das gehört.</a:t>
            </a:r>
          </a:p>
          <a:p>
            <a:r>
              <a:rPr lang="de-CH" b="1" dirty="0"/>
              <a:t>Der Nutzen:</a:t>
            </a:r>
            <a:r>
              <a:rPr lang="de-CH" dirty="0"/>
              <a:t> ersten mir </a:t>
            </a:r>
            <a:r>
              <a:rPr lang="de-CH" dirty="0" err="1"/>
              <a:t>chöi</a:t>
            </a:r>
            <a:r>
              <a:rPr lang="de-CH" dirty="0"/>
              <a:t> </a:t>
            </a:r>
            <a:r>
              <a:rPr lang="de-CH" dirty="0" err="1"/>
              <a:t>üsi</a:t>
            </a:r>
            <a:r>
              <a:rPr lang="de-CH" dirty="0"/>
              <a:t> code </a:t>
            </a:r>
            <a:r>
              <a:rPr lang="de-CH" dirty="0" err="1"/>
              <a:t>zile</a:t>
            </a:r>
            <a:r>
              <a:rPr lang="de-CH" dirty="0"/>
              <a:t> wieder </a:t>
            </a:r>
            <a:r>
              <a:rPr lang="de-CH" dirty="0" err="1"/>
              <a:t>chürzer</a:t>
            </a:r>
            <a:r>
              <a:rPr lang="de-CH" dirty="0"/>
              <a:t> </a:t>
            </a:r>
            <a:r>
              <a:rPr lang="de-CH" dirty="0" err="1"/>
              <a:t>schirbe</a:t>
            </a:r>
            <a:r>
              <a:rPr lang="de-CH" dirty="0"/>
              <a:t> und zweitens Wenn unsere Organisation einmal die Domain wechselt, müssen wir nur diese eine </a:t>
            </a:r>
            <a:r>
              <a:rPr lang="de-CH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@base</a:t>
            </a:r>
            <a:r>
              <a:rPr lang="de-CH" dirty="0"/>
              <a:t>-Zeile anpassen und nicht hunderte Zeilen im ganzen Code!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CH" dirty="0"/>
              <a:t>Jetzt </a:t>
            </a:r>
            <a:r>
              <a:rPr lang="de-CH" dirty="0" err="1"/>
              <a:t>tauched</a:t>
            </a:r>
            <a:r>
              <a:rPr lang="de-CH" dirty="0"/>
              <a:t> mir ab i d </a:t>
            </a:r>
            <a:r>
              <a:rPr lang="de-CH" b="1" dirty="0"/>
              <a:t>Syntax</a:t>
            </a:r>
            <a:r>
              <a:rPr lang="de-CH" dirty="0"/>
              <a:t>! Das </a:t>
            </a:r>
            <a:r>
              <a:rPr lang="de-CH" dirty="0" err="1"/>
              <a:t>erschte</a:t>
            </a:r>
            <a:r>
              <a:rPr lang="de-CH" dirty="0"/>
              <a:t> Zeichen, wo mir uns </a:t>
            </a:r>
            <a:r>
              <a:rPr lang="de-CH" dirty="0" err="1"/>
              <a:t>alueged</a:t>
            </a:r>
            <a:r>
              <a:rPr lang="de-CH" dirty="0"/>
              <a:t>, </a:t>
            </a:r>
            <a:r>
              <a:rPr lang="de-CH" dirty="0" err="1"/>
              <a:t>isch</a:t>
            </a:r>
            <a:r>
              <a:rPr lang="de-CH" dirty="0"/>
              <a:t> der </a:t>
            </a:r>
            <a:r>
              <a:rPr lang="de-CH" b="1" dirty="0"/>
              <a:t>Punkt</a:t>
            </a:r>
            <a:r>
              <a:rPr lang="de-CH" dirty="0"/>
              <a:t>. Genau wie </a:t>
            </a:r>
            <a:r>
              <a:rPr lang="de-CH" dirty="0" err="1"/>
              <a:t>imne</a:t>
            </a:r>
            <a:r>
              <a:rPr lang="de-CH" dirty="0"/>
              <a:t> normale Satz markiert der Punkt am Ende s Ende </a:t>
            </a:r>
            <a:r>
              <a:rPr lang="de-CH" dirty="0" err="1"/>
              <a:t>vo</a:t>
            </a:r>
            <a:r>
              <a:rPr lang="de-CH" dirty="0"/>
              <a:t> </a:t>
            </a:r>
            <a:r>
              <a:rPr lang="de-CH" dirty="0" err="1"/>
              <a:t>me</a:t>
            </a:r>
            <a:r>
              <a:rPr lang="de-CH" dirty="0"/>
              <a:t> vollständige Triple. Er trennt d </a:t>
            </a:r>
            <a:r>
              <a:rPr lang="de-CH" dirty="0" err="1"/>
              <a:t>Ussege</a:t>
            </a:r>
            <a:r>
              <a:rPr lang="de-CH" dirty="0"/>
              <a:t> klar voneinander, damit der Parser exakt weiss, wo </a:t>
            </a:r>
            <a:r>
              <a:rPr lang="de-CH" dirty="0" err="1"/>
              <a:t>eini</a:t>
            </a:r>
            <a:r>
              <a:rPr lang="de-CH" dirty="0"/>
              <a:t> aufhört und die </a:t>
            </a:r>
            <a:r>
              <a:rPr lang="de-CH" dirty="0" err="1"/>
              <a:t>nächschti</a:t>
            </a:r>
            <a:r>
              <a:rPr lang="de-CH" dirty="0"/>
              <a:t> anfängt.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Das </a:t>
            </a:r>
            <a:r>
              <a:rPr lang="en-US" dirty="0" err="1"/>
              <a:t>Smicolon</a:t>
            </a:r>
            <a:r>
              <a:rPr lang="en-US" dirty="0"/>
              <a:t> </a:t>
            </a:r>
            <a:r>
              <a:rPr lang="en-US" dirty="0" err="1"/>
              <a:t>ist</a:t>
            </a:r>
            <a:r>
              <a:rPr lang="en-US" dirty="0"/>
              <a:t> das </a:t>
            </a:r>
            <a:r>
              <a:rPr lang="en-US" dirty="0" err="1"/>
              <a:t>näcshste</a:t>
            </a:r>
            <a:r>
              <a:rPr lang="en-US" dirty="0"/>
              <a:t> </a:t>
            </a:r>
            <a:r>
              <a:rPr lang="en-US" dirty="0" err="1"/>
              <a:t>satzzeichen</a:t>
            </a:r>
            <a:r>
              <a:rPr lang="en-US" dirty="0"/>
              <a:t> </a:t>
            </a:r>
            <a:r>
              <a:rPr lang="en-US" dirty="0" err="1"/>
              <a:t>wir</a:t>
            </a:r>
            <a:r>
              <a:rPr lang="en-US" dirty="0"/>
              <a:t> </a:t>
            </a:r>
            <a:r>
              <a:rPr lang="en-US" dirty="0" err="1"/>
              <a:t>brauhcen</a:t>
            </a:r>
            <a:r>
              <a:rPr lang="en-US" dirty="0"/>
              <a:t> es um </a:t>
            </a:r>
            <a:r>
              <a:rPr lang="en-US" dirty="0" err="1"/>
              <a:t>meherre</a:t>
            </a:r>
            <a:r>
              <a:rPr lang="en-US" dirty="0"/>
              <a:t> </a:t>
            </a:r>
            <a:r>
              <a:rPr lang="en-US" dirty="0" err="1"/>
              <a:t>aussage</a:t>
            </a:r>
            <a:r>
              <a:rPr lang="en-US" dirty="0"/>
              <a:t> </a:t>
            </a:r>
            <a:r>
              <a:rPr lang="en-US" dirty="0" err="1"/>
              <a:t>über</a:t>
            </a:r>
            <a:r>
              <a:rPr lang="en-US" dirty="0"/>
              <a:t> </a:t>
            </a:r>
            <a:r>
              <a:rPr lang="en-US" dirty="0" err="1"/>
              <a:t>eine</a:t>
            </a:r>
            <a:r>
              <a:rPr lang="en-US" dirty="0"/>
              <a:t> </a:t>
            </a:r>
            <a:r>
              <a:rPr lang="en-US" dirty="0" err="1"/>
              <a:t>Subjekt</a:t>
            </a:r>
            <a:r>
              <a:rPr lang="en-US" dirty="0"/>
              <a:t> </a:t>
            </a:r>
            <a:r>
              <a:rPr lang="en-US" dirty="0" err="1"/>
              <a:t>zu</a:t>
            </a:r>
            <a:r>
              <a:rPr lang="en-US" dirty="0"/>
              <a:t> </a:t>
            </a:r>
            <a:r>
              <a:rPr lang="en-US" dirty="0" err="1"/>
              <a:t>machen</a:t>
            </a:r>
            <a:r>
              <a:rPr lang="en-US" dirty="0"/>
              <a:t> </a:t>
            </a:r>
            <a:r>
              <a:rPr lang="en-US" dirty="0" err="1"/>
              <a:t>ohen</a:t>
            </a:r>
            <a:r>
              <a:rPr lang="en-US" dirty="0"/>
              <a:t> es </a:t>
            </a:r>
            <a:r>
              <a:rPr lang="en-US" dirty="0" err="1"/>
              <a:t>jedes</a:t>
            </a:r>
            <a:r>
              <a:rPr lang="en-US" dirty="0"/>
              <a:t> mal </a:t>
            </a:r>
            <a:r>
              <a:rPr lang="en-US" dirty="0" err="1"/>
              <a:t>erenut</a:t>
            </a:r>
            <a:r>
              <a:rPr lang="en-US" dirty="0"/>
              <a:t> </a:t>
            </a:r>
            <a:r>
              <a:rPr lang="en-US" dirty="0" err="1"/>
              <a:t>z’nenne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/>
              <a:t>Wenn ig </a:t>
            </a:r>
            <a:r>
              <a:rPr lang="en-US" dirty="0" err="1"/>
              <a:t>jz</a:t>
            </a:r>
            <a:r>
              <a:rPr lang="en-US" dirty="0"/>
              <a:t> </a:t>
            </a:r>
            <a:r>
              <a:rPr lang="en-US" dirty="0" err="1"/>
              <a:t>möcht</a:t>
            </a:r>
            <a:r>
              <a:rPr lang="en-US" dirty="0"/>
              <a:t> es Auto </a:t>
            </a:r>
            <a:r>
              <a:rPr lang="en-US" dirty="0" err="1"/>
              <a:t>beschreibe</a:t>
            </a:r>
            <a:r>
              <a:rPr lang="en-US" dirty="0"/>
              <a:t> </a:t>
            </a:r>
            <a:r>
              <a:rPr lang="en-US" dirty="0" err="1"/>
              <a:t>chöi</a:t>
            </a:r>
            <a:r>
              <a:rPr lang="en-US" dirty="0"/>
              <a:t> mir </a:t>
            </a:r>
            <a:r>
              <a:rPr lang="en-US" dirty="0" err="1"/>
              <a:t>direkt</a:t>
            </a:r>
            <a:r>
              <a:rPr lang="en-US" dirty="0"/>
              <a:t> </a:t>
            </a:r>
            <a:r>
              <a:rPr lang="en-US" dirty="0" err="1"/>
              <a:t>ufliste</a:t>
            </a:r>
            <a:r>
              <a:rPr lang="en-US" dirty="0"/>
              <a:t> mis auto het </a:t>
            </a:r>
            <a:r>
              <a:rPr lang="en-US" dirty="0" err="1"/>
              <a:t>farb</a:t>
            </a:r>
            <a:r>
              <a:rPr lang="en-US" dirty="0"/>
              <a:t> rot het Ps 150 und </a:t>
            </a:r>
            <a:r>
              <a:rPr lang="en-US" dirty="0" err="1"/>
              <a:t>steht</a:t>
            </a:r>
            <a:r>
              <a:rPr lang="en-US" dirty="0"/>
              <a:t> in Garage Nord </a:t>
            </a:r>
            <a:r>
              <a:rPr lang="en-US" dirty="0" err="1"/>
              <a:t>ohne</a:t>
            </a:r>
            <a:r>
              <a:rPr lang="en-US" dirty="0"/>
              <a:t> </a:t>
            </a:r>
            <a:r>
              <a:rPr lang="en-US" dirty="0" err="1"/>
              <a:t>drbi</a:t>
            </a:r>
            <a:r>
              <a:rPr lang="en-US" dirty="0"/>
              <a:t> immer </a:t>
            </a:r>
            <a:r>
              <a:rPr lang="en-US" dirty="0" err="1"/>
              <a:t>weider</a:t>
            </a:r>
            <a:r>
              <a:rPr lang="en-US" dirty="0"/>
              <a:t> neu ds </a:t>
            </a:r>
            <a:r>
              <a:rPr lang="en-US" dirty="0" err="1"/>
              <a:t>erwähne</a:t>
            </a:r>
            <a:r>
              <a:rPr lang="en-US" dirty="0"/>
              <a:t> das mir </a:t>
            </a:r>
            <a:r>
              <a:rPr lang="en-US" dirty="0" err="1"/>
              <a:t>über</a:t>
            </a:r>
            <a:r>
              <a:rPr lang="en-US" dirty="0"/>
              <a:t> mis Auto rede</a:t>
            </a:r>
          </a:p>
          <a:p>
            <a:endParaRPr lang="en-US" dirty="0"/>
          </a:p>
          <a:p>
            <a:r>
              <a:rPr lang="en-US" dirty="0"/>
              <a:t>In </a:t>
            </a:r>
            <a:r>
              <a:rPr lang="en-US" dirty="0" err="1"/>
              <a:t>usem</a:t>
            </a:r>
            <a:r>
              <a:rPr lang="en-US" dirty="0"/>
              <a:t> </a:t>
            </a:r>
            <a:r>
              <a:rPr lang="en-US" dirty="0" err="1"/>
              <a:t>trutel</a:t>
            </a:r>
            <a:r>
              <a:rPr lang="en-US" dirty="0"/>
              <a:t> file </a:t>
            </a:r>
            <a:r>
              <a:rPr lang="en-US" dirty="0" err="1"/>
              <a:t>isch</a:t>
            </a:r>
            <a:r>
              <a:rPr lang="en-US" dirty="0"/>
              <a:t> ds so </a:t>
            </a:r>
            <a:r>
              <a:rPr lang="en-US" dirty="0" err="1"/>
              <a:t>schlank</a:t>
            </a:r>
            <a:r>
              <a:rPr lang="en-US" dirty="0"/>
              <a:t> </a:t>
            </a:r>
            <a:r>
              <a:rPr lang="en-US" dirty="0" err="1"/>
              <a:t>gahlte</a:t>
            </a:r>
            <a:r>
              <a:rPr lang="en-US" dirty="0"/>
              <a:t> </a:t>
            </a:r>
            <a:r>
              <a:rPr lang="en-US" dirty="0" err="1"/>
              <a:t>wie</a:t>
            </a:r>
            <a:r>
              <a:rPr lang="en-US" dirty="0"/>
              <a:t> hie </a:t>
            </a:r>
            <a:r>
              <a:rPr lang="en-US" dirty="0" err="1"/>
              <a:t>uf</a:t>
            </a:r>
            <a:r>
              <a:rPr lang="en-US" dirty="0"/>
              <a:t> der folie </a:t>
            </a:r>
            <a:r>
              <a:rPr lang="en-US" dirty="0" err="1"/>
              <a:t>aber</a:t>
            </a:r>
            <a:r>
              <a:rPr lang="en-US" dirty="0"/>
              <a:t> </a:t>
            </a:r>
            <a:r>
              <a:rPr lang="en-US" dirty="0" err="1"/>
              <a:t>als</a:t>
            </a:r>
            <a:r>
              <a:rPr lang="en-US" dirty="0"/>
              <a:t> triples </a:t>
            </a:r>
            <a:r>
              <a:rPr lang="en-US" dirty="0" err="1"/>
              <a:t>usgschriebe</a:t>
            </a:r>
            <a:r>
              <a:rPr lang="en-US" dirty="0"/>
              <a:t> </a:t>
            </a:r>
            <a:r>
              <a:rPr lang="en-US" dirty="0" err="1"/>
              <a:t>wäre</a:t>
            </a:r>
            <a:r>
              <a:rPr lang="en-US" dirty="0"/>
              <a:t> es immer no 3 </a:t>
            </a:r>
            <a:r>
              <a:rPr lang="en-US" dirty="0" err="1"/>
              <a:t>unabhängie</a:t>
            </a:r>
            <a:r>
              <a:rPr lang="en-US" dirty="0"/>
              <a:t> triples.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Sehr </a:t>
            </a:r>
            <a:r>
              <a:rPr lang="en-US" dirty="0" err="1"/>
              <a:t>ähnlihc</a:t>
            </a:r>
            <a:r>
              <a:rPr lang="en-US" dirty="0"/>
              <a:t> </a:t>
            </a:r>
            <a:r>
              <a:rPr lang="en-US" dirty="0" err="1"/>
              <a:t>zum</a:t>
            </a:r>
            <a:r>
              <a:rPr lang="en-US" dirty="0"/>
              <a:t> semicolon </a:t>
            </a:r>
            <a:r>
              <a:rPr lang="en-US" dirty="0" err="1"/>
              <a:t>isch</a:t>
            </a:r>
            <a:r>
              <a:rPr lang="en-US" dirty="0"/>
              <a:t> ds </a:t>
            </a:r>
            <a:r>
              <a:rPr lang="en-US" dirty="0" err="1"/>
              <a:t>komm</a:t>
            </a:r>
            <a:r>
              <a:rPr lang="en-US" dirty="0"/>
              <a:t> </a:t>
            </a:r>
            <a:r>
              <a:rPr lang="en-US" dirty="0" err="1"/>
              <a:t>nur</a:t>
            </a:r>
            <a:r>
              <a:rPr lang="en-US" dirty="0"/>
              <a:t> </a:t>
            </a:r>
            <a:r>
              <a:rPr lang="en-US" dirty="0" err="1"/>
              <a:t>ändert</a:t>
            </a:r>
            <a:r>
              <a:rPr lang="en-US" dirty="0"/>
              <a:t> </a:t>
            </a:r>
            <a:r>
              <a:rPr lang="en-US" dirty="0" err="1"/>
              <a:t>sich</a:t>
            </a:r>
            <a:r>
              <a:rPr lang="en-US" dirty="0"/>
              <a:t> hie das </a:t>
            </a:r>
            <a:r>
              <a:rPr lang="en-US" dirty="0" err="1"/>
              <a:t>nid</a:t>
            </a:r>
            <a:r>
              <a:rPr lang="en-US" dirty="0"/>
              <a:t> </a:t>
            </a:r>
            <a:r>
              <a:rPr lang="en-US" dirty="0" err="1"/>
              <a:t>nid</a:t>
            </a:r>
            <a:r>
              <a:rPr lang="en-US" dirty="0"/>
              <a:t> </a:t>
            </a:r>
            <a:r>
              <a:rPr lang="en-US" dirty="0" err="1"/>
              <a:t>nur</a:t>
            </a:r>
            <a:r>
              <a:rPr lang="en-US" dirty="0"/>
              <a:t> ds subject ds </a:t>
            </a:r>
            <a:r>
              <a:rPr lang="en-US" dirty="0" err="1"/>
              <a:t>gelich</a:t>
            </a:r>
            <a:r>
              <a:rPr lang="en-US" dirty="0"/>
              <a:t> </a:t>
            </a:r>
            <a:r>
              <a:rPr lang="en-US" dirty="0" err="1"/>
              <a:t>bliebt</a:t>
            </a:r>
            <a:r>
              <a:rPr lang="en-US" dirty="0"/>
              <a:t> sonder oh ds </a:t>
            </a:r>
            <a:r>
              <a:rPr lang="en-US" dirty="0" err="1"/>
              <a:t>prädikat</a:t>
            </a:r>
            <a:r>
              <a:rPr lang="en-US" dirty="0"/>
              <a:t>. So </a:t>
            </a:r>
            <a:r>
              <a:rPr lang="en-US" dirty="0" err="1"/>
              <a:t>chame</a:t>
            </a:r>
            <a:r>
              <a:rPr lang="en-US" dirty="0"/>
              <a:t> ah </a:t>
            </a:r>
            <a:r>
              <a:rPr lang="en-US" dirty="0" err="1"/>
              <a:t>ganzi</a:t>
            </a:r>
            <a:r>
              <a:rPr lang="en-US" dirty="0"/>
              <a:t> </a:t>
            </a:r>
            <a:r>
              <a:rPr lang="en-US" dirty="0" err="1"/>
              <a:t>Liste</a:t>
            </a:r>
            <a:r>
              <a:rPr lang="en-US" dirty="0"/>
              <a:t> von </a:t>
            </a:r>
            <a:r>
              <a:rPr lang="en-US" dirty="0" err="1"/>
              <a:t>Objekt</a:t>
            </a:r>
            <a:r>
              <a:rPr lang="en-US" dirty="0"/>
              <a:t> am </a:t>
            </a:r>
            <a:r>
              <a:rPr lang="en-US" dirty="0" err="1"/>
              <a:t>geliche</a:t>
            </a:r>
            <a:r>
              <a:rPr lang="en-US" dirty="0"/>
              <a:t> Subject </a:t>
            </a:r>
            <a:r>
              <a:rPr lang="en-US" dirty="0" err="1"/>
              <a:t>zuwise</a:t>
            </a:r>
            <a:r>
              <a:rPr lang="en-US" dirty="0"/>
              <a:t>. Die </a:t>
            </a:r>
            <a:r>
              <a:rPr lang="en-US" dirty="0" err="1"/>
              <a:t>einzlene</a:t>
            </a:r>
            <a:r>
              <a:rPr lang="en-US" dirty="0"/>
              <a:t> </a:t>
            </a:r>
            <a:r>
              <a:rPr lang="en-US" dirty="0" err="1"/>
              <a:t>Beziungen</a:t>
            </a:r>
            <a:r>
              <a:rPr lang="en-US" dirty="0"/>
              <a:t> </a:t>
            </a:r>
            <a:r>
              <a:rPr lang="en-US" dirty="0" err="1"/>
              <a:t>bleiben</a:t>
            </a:r>
            <a:r>
              <a:rPr lang="en-US" dirty="0"/>
              <a:t> </a:t>
            </a:r>
            <a:r>
              <a:rPr lang="en-US" dirty="0" err="1"/>
              <a:t>aber</a:t>
            </a:r>
            <a:r>
              <a:rPr lang="en-US" dirty="0"/>
              <a:t> </a:t>
            </a:r>
            <a:r>
              <a:rPr lang="en-US" dirty="0" err="1"/>
              <a:t>im</a:t>
            </a:r>
            <a:r>
              <a:rPr lang="en-US" dirty="0"/>
              <a:t> Graph </a:t>
            </a:r>
            <a:r>
              <a:rPr lang="en-US" dirty="0" err="1"/>
              <a:t>getrennt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/>
              <a:t>Mis auto het </a:t>
            </a:r>
            <a:r>
              <a:rPr lang="en-US" dirty="0" err="1"/>
              <a:t>ausstatiig</a:t>
            </a:r>
            <a:r>
              <a:rPr lang="en-US" dirty="0"/>
              <a:t>; es Navi, eh </a:t>
            </a:r>
            <a:r>
              <a:rPr lang="en-US" dirty="0" err="1"/>
              <a:t>sitzheizig</a:t>
            </a:r>
            <a:r>
              <a:rPr lang="en-US" dirty="0"/>
              <a:t> und eh </a:t>
            </a:r>
            <a:r>
              <a:rPr lang="en-US" dirty="0" err="1"/>
              <a:t>Tempomat</a:t>
            </a:r>
            <a:r>
              <a:rPr lang="en-US" dirty="0"/>
              <a:t>. Isch </a:t>
            </a:r>
            <a:r>
              <a:rPr lang="en-US" dirty="0" err="1"/>
              <a:t>übrigens</a:t>
            </a:r>
            <a:r>
              <a:rPr lang="en-US" dirty="0"/>
              <a:t> </a:t>
            </a:r>
            <a:r>
              <a:rPr lang="en-US" dirty="0" err="1"/>
              <a:t>alles</a:t>
            </a:r>
            <a:r>
              <a:rPr lang="en-US" dirty="0"/>
              <a:t> </a:t>
            </a:r>
            <a:r>
              <a:rPr lang="en-US" dirty="0" err="1"/>
              <a:t>frei</a:t>
            </a:r>
            <a:r>
              <a:rPr lang="en-US" dirty="0"/>
              <a:t> </a:t>
            </a:r>
            <a:r>
              <a:rPr lang="en-US" dirty="0" err="1"/>
              <a:t>erfunden</a:t>
            </a:r>
            <a:r>
              <a:rPr lang="en-US" dirty="0"/>
              <a:t> ig </a:t>
            </a:r>
            <a:r>
              <a:rPr lang="en-US" dirty="0" err="1"/>
              <a:t>fahre</a:t>
            </a:r>
            <a:r>
              <a:rPr lang="en-US" dirty="0"/>
              <a:t> eh </a:t>
            </a:r>
            <a:r>
              <a:rPr lang="en-US" dirty="0" err="1"/>
              <a:t>alte</a:t>
            </a:r>
            <a:r>
              <a:rPr lang="en-US" dirty="0"/>
              <a:t> </a:t>
            </a:r>
            <a:r>
              <a:rPr lang="en-US" dirty="0" err="1"/>
              <a:t>bmw</a:t>
            </a:r>
            <a:r>
              <a:rPr lang="en-US" dirty="0"/>
              <a:t> de het </a:t>
            </a:r>
            <a:r>
              <a:rPr lang="en-US" dirty="0" err="1"/>
              <a:t>nüt</a:t>
            </a:r>
            <a:r>
              <a:rPr lang="en-US" dirty="0"/>
              <a:t> </a:t>
            </a:r>
            <a:r>
              <a:rPr lang="en-US" dirty="0" err="1"/>
              <a:t>vo</a:t>
            </a:r>
            <a:r>
              <a:rPr lang="en-US" dirty="0"/>
              <a:t> dem </a:t>
            </a:r>
            <a:r>
              <a:rPr lang="en-US" dirty="0" err="1"/>
              <a:t>allem</a:t>
            </a:r>
            <a:r>
              <a:rPr lang="en-US" dirty="0"/>
              <a:t> XD</a:t>
            </a:r>
          </a:p>
          <a:p>
            <a:endParaRPr lang="en-US" dirty="0"/>
          </a:p>
          <a:p>
            <a:r>
              <a:rPr lang="en-US" dirty="0" err="1"/>
              <a:t>Bezige</a:t>
            </a:r>
            <a:r>
              <a:rPr lang="en-US" dirty="0"/>
              <a:t> </a:t>
            </a:r>
            <a:r>
              <a:rPr lang="en-US" dirty="0" err="1"/>
              <a:t>blibe</a:t>
            </a:r>
            <a:r>
              <a:rPr lang="en-US" dirty="0"/>
              <a:t> </a:t>
            </a:r>
            <a:r>
              <a:rPr lang="en-US" dirty="0" err="1"/>
              <a:t>aber</a:t>
            </a:r>
            <a:r>
              <a:rPr lang="en-US" dirty="0"/>
              <a:t> </a:t>
            </a:r>
            <a:r>
              <a:rPr lang="en-US" dirty="0" err="1"/>
              <a:t>trozdem</a:t>
            </a:r>
            <a:r>
              <a:rPr lang="en-US" dirty="0"/>
              <a:t> </a:t>
            </a:r>
            <a:r>
              <a:rPr lang="en-US" dirty="0" err="1"/>
              <a:t>trennt</a:t>
            </a:r>
            <a:r>
              <a:rPr lang="en-US" dirty="0"/>
              <a:t> also es </a:t>
            </a:r>
            <a:r>
              <a:rPr lang="en-US" dirty="0" err="1"/>
              <a:t>wird</a:t>
            </a:r>
            <a:r>
              <a:rPr lang="en-US" dirty="0"/>
              <a:t> </a:t>
            </a:r>
            <a:r>
              <a:rPr lang="en-US" dirty="0" err="1"/>
              <a:t>zu</a:t>
            </a:r>
            <a:r>
              <a:rPr lang="en-US" dirty="0"/>
              <a:t> </a:t>
            </a:r>
            <a:r>
              <a:rPr lang="en-US" dirty="0" err="1"/>
              <a:t>jedem</a:t>
            </a:r>
            <a:r>
              <a:rPr lang="en-US" dirty="0"/>
              <a:t> object eh </a:t>
            </a:r>
            <a:r>
              <a:rPr lang="en-US" dirty="0" err="1"/>
              <a:t>eigene</a:t>
            </a:r>
            <a:r>
              <a:rPr lang="en-US" dirty="0"/>
              <a:t> </a:t>
            </a:r>
            <a:r>
              <a:rPr lang="en-US" dirty="0" err="1"/>
              <a:t>verbindig</a:t>
            </a:r>
            <a:r>
              <a:rPr lang="en-US" dirty="0"/>
              <a:t> </a:t>
            </a:r>
            <a:r>
              <a:rPr lang="en-US" dirty="0" err="1"/>
              <a:t>gmacht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Mir </a:t>
            </a:r>
            <a:r>
              <a:rPr lang="en-US" dirty="0" err="1"/>
              <a:t>hei</a:t>
            </a:r>
            <a:r>
              <a:rPr lang="en-US" dirty="0"/>
              <a:t> </a:t>
            </a:r>
            <a:r>
              <a:rPr lang="en-US" dirty="0" err="1"/>
              <a:t>nebe</a:t>
            </a:r>
            <a:r>
              <a:rPr lang="en-US" dirty="0"/>
              <a:t> der syntax </a:t>
            </a:r>
            <a:r>
              <a:rPr lang="en-US" dirty="0" err="1"/>
              <a:t>gseh</a:t>
            </a:r>
            <a:r>
              <a:rPr lang="en-US" dirty="0"/>
              <a:t> </a:t>
            </a:r>
            <a:r>
              <a:rPr lang="en-US" dirty="0" err="1"/>
              <a:t>wie</a:t>
            </a:r>
            <a:r>
              <a:rPr lang="en-US" dirty="0"/>
              <a:t> mir eh prefix </a:t>
            </a:r>
            <a:r>
              <a:rPr lang="en-US" dirty="0" err="1"/>
              <a:t>schribe</a:t>
            </a:r>
            <a:r>
              <a:rPr lang="en-US" dirty="0"/>
              <a:t> </a:t>
            </a:r>
            <a:r>
              <a:rPr lang="en-US" dirty="0" err="1"/>
              <a:t>oder</a:t>
            </a:r>
            <a:r>
              <a:rPr lang="en-US" dirty="0"/>
              <a:t> </a:t>
            </a:r>
            <a:r>
              <a:rPr lang="en-US" dirty="0" err="1"/>
              <a:t>wie</a:t>
            </a:r>
            <a:r>
              <a:rPr lang="en-US" dirty="0"/>
              <a:t> mir </a:t>
            </a:r>
            <a:r>
              <a:rPr lang="en-US" dirty="0" err="1"/>
              <a:t>eingeschafte</a:t>
            </a:r>
            <a:r>
              <a:rPr lang="en-US" dirty="0"/>
              <a:t> </a:t>
            </a:r>
            <a:r>
              <a:rPr lang="en-US" dirty="0" err="1"/>
              <a:t>einere</a:t>
            </a:r>
            <a:r>
              <a:rPr lang="en-US" dirty="0"/>
              <a:t> </a:t>
            </a:r>
            <a:r>
              <a:rPr lang="en-US" dirty="0" err="1"/>
              <a:t>Ressource</a:t>
            </a:r>
            <a:r>
              <a:rPr lang="en-US" dirty="0"/>
              <a:t> </a:t>
            </a:r>
            <a:r>
              <a:rPr lang="en-US" dirty="0" err="1"/>
              <a:t>ahfüge</a:t>
            </a:r>
            <a:r>
              <a:rPr lang="en-US" dirty="0"/>
              <a:t> </a:t>
            </a:r>
            <a:r>
              <a:rPr lang="en-US" dirty="0" err="1"/>
              <a:t>aber</a:t>
            </a:r>
            <a:r>
              <a:rPr lang="en-US" dirty="0"/>
              <a:t> </a:t>
            </a:r>
            <a:r>
              <a:rPr lang="en-US" dirty="0" err="1"/>
              <a:t>wie</a:t>
            </a:r>
            <a:r>
              <a:rPr lang="en-US" dirty="0"/>
              <a:t> </a:t>
            </a:r>
            <a:r>
              <a:rPr lang="en-US" dirty="0" err="1"/>
              <a:t>sege</a:t>
            </a:r>
            <a:r>
              <a:rPr lang="en-US" dirty="0"/>
              <a:t> mir </a:t>
            </a:r>
            <a:r>
              <a:rPr lang="en-US" dirty="0" err="1"/>
              <a:t>zu</a:t>
            </a:r>
            <a:r>
              <a:rPr lang="en-US" dirty="0"/>
              <a:t> was eh </a:t>
            </a:r>
            <a:r>
              <a:rPr lang="en-US" dirty="0" err="1"/>
              <a:t>Ressource</a:t>
            </a:r>
            <a:r>
              <a:rPr lang="en-US" dirty="0"/>
              <a:t> </a:t>
            </a:r>
            <a:r>
              <a:rPr lang="en-US" dirty="0" err="1"/>
              <a:t>ghört</a:t>
            </a:r>
            <a:r>
              <a:rPr lang="en-US" dirty="0"/>
              <a:t>. </a:t>
            </a:r>
            <a:r>
              <a:rPr lang="en-US" dirty="0" err="1"/>
              <a:t>Wöu</a:t>
            </a:r>
            <a:r>
              <a:rPr lang="en-US" dirty="0"/>
              <a:t> ds eh </a:t>
            </a:r>
            <a:r>
              <a:rPr lang="en-US" dirty="0" err="1"/>
              <a:t>sehr</a:t>
            </a:r>
            <a:r>
              <a:rPr lang="en-US" dirty="0"/>
              <a:t> </a:t>
            </a:r>
            <a:r>
              <a:rPr lang="en-US" dirty="0" err="1"/>
              <a:t>häufig</a:t>
            </a:r>
            <a:r>
              <a:rPr lang="en-US" dirty="0"/>
              <a:t> </a:t>
            </a:r>
            <a:r>
              <a:rPr lang="en-US" dirty="0" err="1"/>
              <a:t>verwendest</a:t>
            </a:r>
            <a:r>
              <a:rPr lang="en-US" dirty="0"/>
              <a:t> </a:t>
            </a:r>
            <a:r>
              <a:rPr lang="en-US" dirty="0" err="1"/>
              <a:t>prädikat</a:t>
            </a:r>
            <a:r>
              <a:rPr lang="en-US" dirty="0"/>
              <a:t> </a:t>
            </a:r>
            <a:r>
              <a:rPr lang="en-US" dirty="0" err="1"/>
              <a:t>isch</a:t>
            </a:r>
            <a:r>
              <a:rPr lang="en-US" dirty="0"/>
              <a:t> gits </a:t>
            </a:r>
            <a:r>
              <a:rPr lang="en-US" dirty="0" err="1"/>
              <a:t>hier</a:t>
            </a:r>
            <a:r>
              <a:rPr lang="en-US" dirty="0"/>
              <a:t> eh </a:t>
            </a:r>
            <a:r>
              <a:rPr lang="en-US" dirty="0" err="1"/>
              <a:t>abkürzig</a:t>
            </a:r>
            <a:r>
              <a:rPr lang="en-US" dirty="0"/>
              <a:t> für ds English  “is a”. </a:t>
            </a:r>
            <a:r>
              <a:rPr lang="en-US" dirty="0" err="1"/>
              <a:t>Schribe</a:t>
            </a:r>
            <a:r>
              <a:rPr lang="en-US" dirty="0"/>
              <a:t> mir </a:t>
            </a:r>
            <a:r>
              <a:rPr lang="en-US" dirty="0" err="1"/>
              <a:t>eifach</a:t>
            </a:r>
            <a:r>
              <a:rPr lang="en-US" dirty="0"/>
              <a:t> es “a”.  So </a:t>
            </a:r>
            <a:r>
              <a:rPr lang="en-US" dirty="0" err="1"/>
              <a:t>abkürzige</a:t>
            </a:r>
            <a:r>
              <a:rPr lang="en-US" dirty="0"/>
              <a:t> </a:t>
            </a:r>
            <a:r>
              <a:rPr lang="en-US" dirty="0" err="1"/>
              <a:t>ermöglich</a:t>
            </a:r>
            <a:r>
              <a:rPr lang="en-US" dirty="0"/>
              <a:t> es </a:t>
            </a:r>
            <a:r>
              <a:rPr lang="en-US" dirty="0" err="1"/>
              <a:t>üs</a:t>
            </a:r>
            <a:r>
              <a:rPr lang="en-US" dirty="0"/>
              <a:t> </a:t>
            </a:r>
            <a:r>
              <a:rPr lang="en-US" dirty="0" err="1"/>
              <a:t>üsi</a:t>
            </a:r>
            <a:r>
              <a:rPr lang="en-US" dirty="0"/>
              <a:t> </a:t>
            </a:r>
            <a:r>
              <a:rPr lang="en-US" dirty="0" err="1"/>
              <a:t>zile</a:t>
            </a:r>
            <a:r>
              <a:rPr lang="en-US" dirty="0"/>
              <a:t> no </a:t>
            </a:r>
            <a:r>
              <a:rPr lang="en-US" dirty="0" err="1"/>
              <a:t>effizienter</a:t>
            </a:r>
            <a:r>
              <a:rPr lang="en-US" dirty="0"/>
              <a:t> und </a:t>
            </a:r>
            <a:r>
              <a:rPr lang="en-US" dirty="0" err="1"/>
              <a:t>chürzer</a:t>
            </a:r>
            <a:r>
              <a:rPr lang="en-US" dirty="0"/>
              <a:t> ds </a:t>
            </a:r>
            <a:r>
              <a:rPr lang="en-US" dirty="0" err="1"/>
              <a:t>schribe</a:t>
            </a:r>
            <a:r>
              <a:rPr lang="en-US" dirty="0"/>
              <a:t> </a:t>
            </a:r>
            <a:r>
              <a:rPr lang="en-US" dirty="0" err="1"/>
              <a:t>aui</a:t>
            </a:r>
            <a:r>
              <a:rPr lang="en-US" dirty="0"/>
              <a:t> 3 usage </a:t>
            </a:r>
            <a:r>
              <a:rPr lang="en-US" dirty="0" err="1"/>
              <a:t>hier</a:t>
            </a:r>
            <a:r>
              <a:rPr lang="en-US" dirty="0"/>
              <a:t> </a:t>
            </a:r>
            <a:r>
              <a:rPr lang="en-US" dirty="0" err="1"/>
              <a:t>uf</a:t>
            </a:r>
            <a:r>
              <a:rPr lang="en-US" dirty="0"/>
              <a:t> der folie </a:t>
            </a:r>
            <a:r>
              <a:rPr lang="en-US" dirty="0" err="1"/>
              <a:t>bedeüte</a:t>
            </a:r>
            <a:r>
              <a:rPr lang="en-US" dirty="0"/>
              <a:t> für eh computer </a:t>
            </a:r>
            <a:r>
              <a:rPr lang="en-US" dirty="0" err="1"/>
              <a:t>geanu</a:t>
            </a:r>
            <a:r>
              <a:rPr lang="en-US" dirty="0"/>
              <a:t> ds </a:t>
            </a:r>
            <a:r>
              <a:rPr lang="en-US" dirty="0" err="1"/>
              <a:t>gliche</a:t>
            </a:r>
            <a:r>
              <a:rPr lang="en-US" dirty="0"/>
              <a:t> das ds seminar 3 </a:t>
            </a:r>
            <a:r>
              <a:rPr lang="en-US" dirty="0" err="1"/>
              <a:t>zu</a:t>
            </a:r>
            <a:r>
              <a:rPr lang="en-US" dirty="0"/>
              <a:t> </a:t>
            </a:r>
            <a:r>
              <a:rPr lang="en-US" dirty="0" err="1"/>
              <a:t>lehrveranstatlige</a:t>
            </a:r>
            <a:r>
              <a:rPr lang="en-US" dirty="0"/>
              <a:t> </a:t>
            </a:r>
            <a:r>
              <a:rPr lang="en-US" dirty="0" err="1"/>
              <a:t>ghöre</a:t>
            </a:r>
            <a:r>
              <a:rPr lang="en-US" dirty="0"/>
              <a:t>  </a:t>
            </a:r>
            <a:r>
              <a:rPr lang="en-US" dirty="0" err="1"/>
              <a:t>aber</a:t>
            </a:r>
            <a:r>
              <a:rPr lang="en-US" dirty="0"/>
              <a:t>. </a:t>
            </a:r>
            <a:r>
              <a:rPr lang="en-US" dirty="0" err="1"/>
              <a:t>Unterschide</a:t>
            </a:r>
            <a:r>
              <a:rPr lang="en-US" dirty="0"/>
              <a:t> </a:t>
            </a:r>
            <a:r>
              <a:rPr lang="en-US" dirty="0" err="1"/>
              <a:t>sich</a:t>
            </a:r>
            <a:r>
              <a:rPr lang="en-US" dirty="0"/>
              <a:t> </a:t>
            </a:r>
            <a:r>
              <a:rPr lang="en-US" dirty="0" err="1"/>
              <a:t>aber</a:t>
            </a:r>
            <a:r>
              <a:rPr lang="en-US" dirty="0"/>
              <a:t> </a:t>
            </a:r>
            <a:r>
              <a:rPr lang="en-US" dirty="0" err="1"/>
              <a:t>massiv</a:t>
            </a:r>
            <a:r>
              <a:rPr lang="en-US" dirty="0"/>
              <a:t> in </a:t>
            </a:r>
            <a:r>
              <a:rPr lang="en-US" dirty="0" err="1"/>
              <a:t>ihere</a:t>
            </a:r>
            <a:r>
              <a:rPr lang="en-US" dirty="0"/>
              <a:t> </a:t>
            </a:r>
            <a:r>
              <a:rPr lang="en-US" dirty="0" err="1"/>
              <a:t>zeichanhzahl</a:t>
            </a:r>
            <a:r>
              <a:rPr lang="en-US" dirty="0"/>
              <a:t> und </a:t>
            </a:r>
            <a:r>
              <a:rPr lang="en-US" dirty="0" err="1"/>
              <a:t>menschlichem</a:t>
            </a:r>
            <a:r>
              <a:rPr lang="en-US" dirty="0"/>
              <a:t> </a:t>
            </a:r>
            <a:r>
              <a:rPr lang="en-US" dirty="0" err="1"/>
              <a:t>verständis</a:t>
            </a:r>
            <a:r>
              <a:rPr lang="en-US" dirty="0"/>
              <a:t>. Mir </a:t>
            </a:r>
            <a:r>
              <a:rPr lang="en-US" dirty="0" err="1"/>
              <a:t>gfaut</a:t>
            </a:r>
            <a:r>
              <a:rPr lang="en-US" dirty="0"/>
              <a:t> da die 3 </a:t>
            </a:r>
            <a:r>
              <a:rPr lang="en-US" dirty="0" err="1"/>
              <a:t>zile</a:t>
            </a:r>
            <a:r>
              <a:rPr lang="en-US" dirty="0"/>
              <a:t> </a:t>
            </a:r>
            <a:r>
              <a:rPr lang="en-US" dirty="0" err="1"/>
              <a:t>scho</a:t>
            </a:r>
            <a:r>
              <a:rPr lang="en-US" dirty="0"/>
              <a:t> </a:t>
            </a:r>
            <a:r>
              <a:rPr lang="en-US" dirty="0" err="1"/>
              <a:t>mit</a:t>
            </a:r>
            <a:r>
              <a:rPr lang="en-US" dirty="0"/>
              <a:t> </a:t>
            </a:r>
            <a:r>
              <a:rPr lang="en-US" dirty="0" err="1"/>
              <a:t>abstand</a:t>
            </a:r>
            <a:r>
              <a:rPr lang="en-US" dirty="0"/>
              <a:t> am </a:t>
            </a:r>
            <a:r>
              <a:rPr lang="en-US" dirty="0" err="1"/>
              <a:t>beste</a:t>
            </a:r>
            <a:r>
              <a:rPr lang="en-US" dirty="0"/>
              <a:t>. Nach mine </a:t>
            </a:r>
            <a:r>
              <a:rPr lang="en-US" dirty="0" err="1"/>
              <a:t>nachforschige</a:t>
            </a:r>
            <a:r>
              <a:rPr lang="en-US" dirty="0"/>
              <a:t> </a:t>
            </a:r>
            <a:r>
              <a:rPr lang="en-US" dirty="0" err="1"/>
              <a:t>isch</a:t>
            </a:r>
            <a:r>
              <a:rPr lang="en-US" dirty="0"/>
              <a:t> </a:t>
            </a:r>
            <a:r>
              <a:rPr lang="en-US" dirty="0" err="1"/>
              <a:t>aber</a:t>
            </a:r>
            <a:r>
              <a:rPr lang="en-US" dirty="0"/>
              <a:t> das a die </a:t>
            </a:r>
            <a:r>
              <a:rPr lang="en-US" dirty="0" err="1"/>
              <a:t>einzige</a:t>
            </a:r>
            <a:r>
              <a:rPr lang="en-US" dirty="0"/>
              <a:t> </a:t>
            </a:r>
            <a:r>
              <a:rPr lang="en-US" dirty="0" err="1"/>
              <a:t>abkürzigs</a:t>
            </a:r>
            <a:r>
              <a:rPr lang="en-US" dirty="0"/>
              <a:t> </a:t>
            </a:r>
            <a:r>
              <a:rPr lang="en-US" dirty="0" err="1"/>
              <a:t>wos</a:t>
            </a:r>
            <a:r>
              <a:rPr lang="en-US" dirty="0"/>
              <a:t> so </a:t>
            </a:r>
            <a:r>
              <a:rPr lang="en-US" dirty="0" err="1"/>
              <a:t>geit</a:t>
            </a:r>
            <a:r>
              <a:rPr lang="en-US" dirty="0"/>
              <a:t> es git also </a:t>
            </a:r>
            <a:r>
              <a:rPr lang="en-US" dirty="0" err="1"/>
              <a:t>kes</a:t>
            </a:r>
            <a:r>
              <a:rPr lang="en-US" dirty="0"/>
              <a:t> B </a:t>
            </a:r>
            <a:r>
              <a:rPr lang="en-US" dirty="0" err="1"/>
              <a:t>oder</a:t>
            </a:r>
            <a:r>
              <a:rPr lang="en-US" dirty="0"/>
              <a:t> C wo oh für eh </a:t>
            </a:r>
            <a:r>
              <a:rPr lang="en-US" dirty="0" err="1"/>
              <a:t>abkürzig</a:t>
            </a:r>
            <a:r>
              <a:rPr lang="en-US" dirty="0"/>
              <a:t> </a:t>
            </a:r>
            <a:r>
              <a:rPr lang="en-US" dirty="0" err="1"/>
              <a:t>im</a:t>
            </a:r>
            <a:r>
              <a:rPr lang="en-US" dirty="0"/>
              <a:t> </a:t>
            </a:r>
            <a:r>
              <a:rPr lang="en-US" dirty="0" err="1"/>
              <a:t>rdf</a:t>
            </a:r>
            <a:r>
              <a:rPr lang="en-US" dirty="0"/>
              <a:t>  </a:t>
            </a:r>
            <a:r>
              <a:rPr lang="en-US" dirty="0" err="1"/>
              <a:t>stöh</a:t>
            </a:r>
            <a:r>
              <a:rPr lang="en-US" dirty="0"/>
              <a:t> </a:t>
            </a:r>
            <a:r>
              <a:rPr lang="en-US" dirty="0" err="1"/>
              <a:t>sondern</a:t>
            </a:r>
            <a:r>
              <a:rPr lang="en-US" dirty="0"/>
              <a:t> ds hie </a:t>
            </a:r>
            <a:r>
              <a:rPr lang="en-US" dirty="0" err="1"/>
              <a:t>isch</a:t>
            </a:r>
            <a:r>
              <a:rPr lang="en-US" dirty="0"/>
              <a:t> eh absolute </a:t>
            </a:r>
            <a:r>
              <a:rPr lang="en-US" dirty="0" err="1"/>
              <a:t>usname</a:t>
            </a:r>
            <a:r>
              <a:rPr lang="en-US" dirty="0"/>
              <a:t>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Im</a:t>
            </a:r>
            <a:r>
              <a:rPr lang="en-US" dirty="0"/>
              <a:t> </a:t>
            </a:r>
            <a:r>
              <a:rPr lang="en-US" dirty="0" err="1"/>
              <a:t>Gegensatz</a:t>
            </a:r>
            <a:r>
              <a:rPr lang="en-US" dirty="0"/>
              <a:t> </a:t>
            </a:r>
            <a:r>
              <a:rPr lang="en-US" dirty="0" err="1"/>
              <a:t>zu</a:t>
            </a:r>
            <a:r>
              <a:rPr lang="en-US" dirty="0"/>
              <a:t> IRI’s die auf Objekten </a:t>
            </a:r>
            <a:r>
              <a:rPr lang="en-US" dirty="0" err="1"/>
              <a:t>verweisen</a:t>
            </a:r>
            <a:r>
              <a:rPr lang="en-US" dirty="0"/>
              <a:t> </a:t>
            </a:r>
            <a:r>
              <a:rPr lang="en-US" dirty="0" err="1"/>
              <a:t>enthalten</a:t>
            </a:r>
            <a:r>
              <a:rPr lang="en-US" dirty="0"/>
              <a:t> </a:t>
            </a:r>
            <a:r>
              <a:rPr lang="en-US" dirty="0" err="1"/>
              <a:t>Literale</a:t>
            </a:r>
            <a:r>
              <a:rPr lang="en-US" dirty="0"/>
              <a:t> die </a:t>
            </a:r>
            <a:r>
              <a:rPr lang="en-US" dirty="0" err="1"/>
              <a:t>eignetlihce</a:t>
            </a:r>
            <a:r>
              <a:rPr lang="en-US" dirty="0"/>
              <a:t> </a:t>
            </a:r>
            <a:r>
              <a:rPr lang="en-US" dirty="0" err="1"/>
              <a:t>Rohdaten</a:t>
            </a:r>
            <a:r>
              <a:rPr lang="en-US" dirty="0"/>
              <a:t> (</a:t>
            </a:r>
            <a:r>
              <a:rPr lang="en-US" dirty="0" err="1"/>
              <a:t>Datenwerte</a:t>
            </a:r>
            <a:r>
              <a:rPr lang="en-US" dirty="0"/>
              <a:t>) des </a:t>
            </a:r>
            <a:r>
              <a:rPr lang="en-US" dirty="0" err="1"/>
              <a:t>Wissensgraphen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/>
              <a:t>Ein Literal </a:t>
            </a:r>
            <a:r>
              <a:rPr lang="en-US" dirty="0" err="1"/>
              <a:t>ist</a:t>
            </a:r>
            <a:r>
              <a:rPr lang="en-US" dirty="0"/>
              <a:t> also </a:t>
            </a:r>
            <a:r>
              <a:rPr lang="en-US" dirty="0" err="1"/>
              <a:t>ein</a:t>
            </a:r>
            <a:r>
              <a:rPr lang="en-US" dirty="0"/>
              <a:t> Wert und </a:t>
            </a:r>
            <a:r>
              <a:rPr lang="en-US" dirty="0" err="1"/>
              <a:t>keine</a:t>
            </a:r>
            <a:r>
              <a:rPr lang="en-US" dirty="0"/>
              <a:t> </a:t>
            </a:r>
            <a:r>
              <a:rPr lang="en-US" dirty="0" err="1"/>
              <a:t>eigenständige</a:t>
            </a:r>
            <a:r>
              <a:rPr lang="en-US" dirty="0"/>
              <a:t> </a:t>
            </a:r>
            <a:r>
              <a:rPr lang="en-US" dirty="0" err="1"/>
              <a:t>Ressource</a:t>
            </a:r>
            <a:r>
              <a:rPr lang="en-US" dirty="0"/>
              <a:t>. Ein Literal </a:t>
            </a:r>
            <a:r>
              <a:rPr lang="en-US" dirty="0" err="1"/>
              <a:t>steht</a:t>
            </a:r>
            <a:r>
              <a:rPr lang="en-US" dirty="0"/>
              <a:t> immer </a:t>
            </a:r>
            <a:r>
              <a:rPr lang="en-US" dirty="0" err="1"/>
              <a:t>ausschlischlihc</a:t>
            </a:r>
            <a:r>
              <a:rPr lang="en-US" dirty="0"/>
              <a:t> an der </a:t>
            </a:r>
            <a:r>
              <a:rPr lang="en-US" dirty="0" err="1"/>
              <a:t>Objekt</a:t>
            </a:r>
            <a:r>
              <a:rPr lang="en-US" dirty="0"/>
              <a:t> </a:t>
            </a:r>
            <a:r>
              <a:rPr lang="en-US" dirty="0" err="1"/>
              <a:t>Postiotion</a:t>
            </a:r>
            <a:r>
              <a:rPr lang="en-US" dirty="0"/>
              <a:t> des Triples</a:t>
            </a:r>
          </a:p>
          <a:p>
            <a:endParaRPr lang="en-US" dirty="0"/>
          </a:p>
          <a:p>
            <a:r>
              <a:rPr lang="en-US" dirty="0"/>
              <a:t>Wir </a:t>
            </a:r>
            <a:r>
              <a:rPr lang="en-US" dirty="0" err="1"/>
              <a:t>haben</a:t>
            </a:r>
            <a:r>
              <a:rPr lang="en-US" dirty="0"/>
              <a:t> </a:t>
            </a:r>
            <a:r>
              <a:rPr lang="en-US" dirty="0" err="1"/>
              <a:t>hier</a:t>
            </a:r>
            <a:r>
              <a:rPr lang="en-US" dirty="0"/>
              <a:t> </a:t>
            </a:r>
            <a:r>
              <a:rPr lang="en-US" dirty="0" err="1"/>
              <a:t>viele</a:t>
            </a:r>
            <a:r>
              <a:rPr lang="en-US" dirty="0"/>
              <a:t> </a:t>
            </a:r>
            <a:r>
              <a:rPr lang="en-US" dirty="0" err="1"/>
              <a:t>verschidene</a:t>
            </a:r>
            <a:r>
              <a:rPr lang="en-US" dirty="0"/>
              <a:t> </a:t>
            </a:r>
            <a:r>
              <a:rPr lang="en-US" dirty="0" err="1"/>
              <a:t>datentypen</a:t>
            </a:r>
            <a:r>
              <a:rPr lang="en-US" dirty="0"/>
              <a:t> </a:t>
            </a:r>
            <a:r>
              <a:rPr lang="en-US" dirty="0" err="1"/>
              <a:t>zum</a:t>
            </a:r>
            <a:r>
              <a:rPr lang="en-US" dirty="0"/>
              <a:t> </a:t>
            </a:r>
            <a:r>
              <a:rPr lang="en-US" dirty="0" err="1"/>
              <a:t>bespiel</a:t>
            </a:r>
            <a:r>
              <a:rPr lang="en-US" dirty="0"/>
              <a:t> </a:t>
            </a:r>
            <a:r>
              <a:rPr lang="en-US" dirty="0" err="1"/>
              <a:t>ein</a:t>
            </a:r>
            <a:r>
              <a:rPr lang="en-US" dirty="0"/>
              <a:t> String für </a:t>
            </a:r>
            <a:r>
              <a:rPr lang="en-US" dirty="0" err="1"/>
              <a:t>eine</a:t>
            </a:r>
            <a:r>
              <a:rPr lang="en-US" dirty="0"/>
              <a:t> Namen </a:t>
            </a:r>
            <a:r>
              <a:rPr lang="en-US" dirty="0" err="1"/>
              <a:t>xsd:string</a:t>
            </a:r>
            <a:endParaRPr lang="en-US" dirty="0"/>
          </a:p>
          <a:p>
            <a:r>
              <a:rPr lang="en-US" dirty="0" err="1"/>
              <a:t>Dannach</a:t>
            </a:r>
            <a:r>
              <a:rPr lang="en-US" dirty="0"/>
              <a:t> </a:t>
            </a:r>
            <a:r>
              <a:rPr lang="en-US" dirty="0" err="1"/>
              <a:t>gitb</a:t>
            </a:r>
            <a:r>
              <a:rPr lang="en-US" dirty="0"/>
              <a:t> es </a:t>
            </a:r>
            <a:r>
              <a:rPr lang="en-US" dirty="0" err="1"/>
              <a:t>typisierte</a:t>
            </a:r>
            <a:r>
              <a:rPr lang="en-US" dirty="0"/>
              <a:t> </a:t>
            </a:r>
            <a:r>
              <a:rPr lang="en-US" dirty="0" err="1"/>
              <a:t>Literale</a:t>
            </a:r>
            <a:r>
              <a:rPr lang="en-US" dirty="0"/>
              <a:t> </a:t>
            </a:r>
            <a:r>
              <a:rPr lang="en-US" dirty="0" err="1"/>
              <a:t>zum</a:t>
            </a:r>
            <a:r>
              <a:rPr lang="en-US" dirty="0"/>
              <a:t> </a:t>
            </a:r>
            <a:r>
              <a:rPr lang="en-US" dirty="0" err="1"/>
              <a:t>Beispie</a:t>
            </a:r>
            <a:r>
              <a:rPr lang="en-US" dirty="0"/>
              <a:t> 2026-08-11 </a:t>
            </a:r>
            <a:r>
              <a:rPr lang="en-US" dirty="0" err="1"/>
              <a:t>als</a:t>
            </a:r>
            <a:r>
              <a:rPr lang="en-US" dirty="0"/>
              <a:t> </a:t>
            </a:r>
            <a:r>
              <a:rPr lang="en-US" dirty="0" err="1"/>
              <a:t>xsd:date</a:t>
            </a:r>
            <a:r>
              <a:rPr lang="en-US" dirty="0"/>
              <a:t> </a:t>
            </a:r>
            <a:r>
              <a:rPr lang="en-US" dirty="0" err="1"/>
              <a:t>oder</a:t>
            </a:r>
            <a:r>
              <a:rPr lang="en-US" dirty="0"/>
              <a:t> 21.6 </a:t>
            </a:r>
            <a:r>
              <a:rPr lang="en-US" dirty="0" err="1"/>
              <a:t>als</a:t>
            </a:r>
            <a:r>
              <a:rPr lang="en-US" dirty="0"/>
              <a:t> </a:t>
            </a:r>
            <a:r>
              <a:rPr lang="en-US" dirty="0" err="1"/>
              <a:t>xsd</a:t>
            </a:r>
            <a:r>
              <a:rPr lang="en-US" dirty="0"/>
              <a:t> decimal</a:t>
            </a:r>
          </a:p>
          <a:p>
            <a:endParaRPr lang="en-US" dirty="0"/>
          </a:p>
          <a:p>
            <a:r>
              <a:rPr lang="en-US" dirty="0"/>
              <a:t>Zudem </a:t>
            </a:r>
            <a:r>
              <a:rPr lang="en-US" dirty="0" err="1"/>
              <a:t>gitb</a:t>
            </a:r>
            <a:r>
              <a:rPr lang="en-US" dirty="0"/>
              <a:t> es </a:t>
            </a:r>
            <a:r>
              <a:rPr lang="en-US" dirty="0" err="1"/>
              <a:t>sprachlitaral</a:t>
            </a:r>
            <a:r>
              <a:rPr lang="en-US" dirty="0"/>
              <a:t> </a:t>
            </a:r>
            <a:r>
              <a:rPr lang="en-US" dirty="0" err="1"/>
              <a:t>aber</a:t>
            </a:r>
            <a:r>
              <a:rPr lang="en-US" dirty="0"/>
              <a:t> </a:t>
            </a:r>
            <a:r>
              <a:rPr lang="en-US" dirty="0" err="1"/>
              <a:t>dazu</a:t>
            </a:r>
            <a:r>
              <a:rPr lang="en-US" dirty="0"/>
              <a:t> </a:t>
            </a:r>
            <a:r>
              <a:rPr lang="en-US" dirty="0" err="1"/>
              <a:t>kommen</a:t>
            </a:r>
            <a:r>
              <a:rPr lang="en-US" dirty="0"/>
              <a:t> </a:t>
            </a:r>
            <a:r>
              <a:rPr lang="en-US" dirty="0" err="1"/>
              <a:t>wir</a:t>
            </a:r>
            <a:r>
              <a:rPr lang="en-US" dirty="0"/>
              <a:t> </a:t>
            </a:r>
            <a:r>
              <a:rPr lang="en-US" dirty="0" err="1"/>
              <a:t>jetzt</a:t>
            </a:r>
            <a:r>
              <a:rPr lang="en-US" dirty="0"/>
              <a:t> </a:t>
            </a:r>
            <a:r>
              <a:rPr lang="en-US" dirty="0" err="1"/>
              <a:t>gelich</a:t>
            </a:r>
            <a:r>
              <a:rPr lang="en-US" dirty="0"/>
              <a:t> auf der </a:t>
            </a:r>
            <a:r>
              <a:rPr lang="en-US" dirty="0" err="1"/>
              <a:t>nächsten</a:t>
            </a:r>
            <a:r>
              <a:rPr lang="en-US" dirty="0"/>
              <a:t> folie</a:t>
            </a:r>
          </a:p>
          <a:p>
            <a:endParaRPr lang="en-US" dirty="0"/>
          </a:p>
          <a:p>
            <a:r>
              <a:rPr lang="en-US" dirty="0" err="1"/>
              <a:t>Genau</a:t>
            </a:r>
            <a:r>
              <a:rPr lang="en-US" dirty="0"/>
              <a:t> </a:t>
            </a:r>
            <a:r>
              <a:rPr lang="en-US" dirty="0" err="1"/>
              <a:t>vill</a:t>
            </a:r>
            <a:r>
              <a:rPr lang="en-US" dirty="0"/>
              <a:t> </a:t>
            </a:r>
            <a:r>
              <a:rPr lang="en-US" dirty="0" err="1"/>
              <a:t>noch</a:t>
            </a:r>
            <a:r>
              <a:rPr lang="en-US" dirty="0"/>
              <a:t> </a:t>
            </a:r>
            <a:r>
              <a:rPr lang="en-US" dirty="0" err="1"/>
              <a:t>zur</a:t>
            </a:r>
            <a:r>
              <a:rPr lang="en-US" dirty="0"/>
              <a:t> </a:t>
            </a:r>
            <a:r>
              <a:rPr lang="en-US" dirty="0" err="1"/>
              <a:t>schriebweise</a:t>
            </a:r>
            <a:r>
              <a:rPr lang="en-US" dirty="0"/>
              <a:t> turtle </a:t>
            </a:r>
            <a:r>
              <a:rPr lang="en-US" dirty="0" err="1"/>
              <a:t>erkent</a:t>
            </a:r>
            <a:r>
              <a:rPr lang="en-US" dirty="0"/>
              <a:t> hie </a:t>
            </a:r>
            <a:r>
              <a:rPr lang="en-US" dirty="0" err="1"/>
              <a:t>bim</a:t>
            </a:r>
            <a:r>
              <a:rPr lang="en-US" dirty="0"/>
              <a:t> </a:t>
            </a:r>
            <a:r>
              <a:rPr lang="en-US" dirty="0" err="1"/>
              <a:t>intippe</a:t>
            </a:r>
            <a:r>
              <a:rPr lang="en-US" dirty="0"/>
              <a:t> </a:t>
            </a:r>
            <a:r>
              <a:rPr lang="en-US" dirty="0" err="1"/>
              <a:t>vo</a:t>
            </a:r>
            <a:r>
              <a:rPr lang="en-US" dirty="0"/>
              <a:t> </a:t>
            </a:r>
            <a:r>
              <a:rPr lang="en-US" dirty="0" err="1"/>
              <a:t>einer</a:t>
            </a:r>
            <a:r>
              <a:rPr lang="en-US" dirty="0"/>
              <a:t> </a:t>
            </a:r>
            <a:r>
              <a:rPr lang="en-US" dirty="0" err="1"/>
              <a:t>zahl</a:t>
            </a:r>
            <a:r>
              <a:rPr lang="en-US" dirty="0"/>
              <a:t> </a:t>
            </a:r>
            <a:r>
              <a:rPr lang="en-US" dirty="0" err="1"/>
              <a:t>automatisch</a:t>
            </a:r>
            <a:r>
              <a:rPr lang="en-US" dirty="0"/>
              <a:t> um </a:t>
            </a:r>
            <a:r>
              <a:rPr lang="en-US" dirty="0" err="1"/>
              <a:t>wele</a:t>
            </a:r>
            <a:r>
              <a:rPr lang="en-US" dirty="0"/>
              <a:t> </a:t>
            </a:r>
            <a:r>
              <a:rPr lang="en-US" dirty="0" err="1"/>
              <a:t>datetyp</a:t>
            </a:r>
            <a:r>
              <a:rPr lang="en-US" dirty="0"/>
              <a:t> es </a:t>
            </a:r>
            <a:r>
              <a:rPr lang="en-US" dirty="0" err="1"/>
              <a:t>sich</a:t>
            </a:r>
            <a:r>
              <a:rPr lang="en-US" dirty="0"/>
              <a:t> </a:t>
            </a:r>
            <a:r>
              <a:rPr lang="en-US" dirty="0" err="1"/>
              <a:t>handelt</a:t>
            </a:r>
            <a:r>
              <a:rPr lang="en-US" dirty="0"/>
              <a:t> </a:t>
            </a:r>
            <a:r>
              <a:rPr lang="en-US" dirty="0" err="1"/>
              <a:t>als</a:t>
            </a:r>
            <a:r>
              <a:rPr lang="en-US" dirty="0"/>
              <a:t> </a:t>
            </a:r>
            <a:r>
              <a:rPr lang="en-US" dirty="0" err="1"/>
              <a:t>wenn</a:t>
            </a:r>
            <a:r>
              <a:rPr lang="en-US" dirty="0"/>
              <a:t> mir </a:t>
            </a:r>
            <a:r>
              <a:rPr lang="en-US" dirty="0" err="1"/>
              <a:t>nur</a:t>
            </a:r>
            <a:r>
              <a:rPr lang="en-US" dirty="0"/>
              <a:t> 26 </a:t>
            </a:r>
            <a:r>
              <a:rPr lang="en-US" dirty="0" err="1"/>
              <a:t>schrieb</a:t>
            </a:r>
            <a:r>
              <a:rPr lang="en-US" dirty="0"/>
              <a:t> </a:t>
            </a:r>
            <a:r>
              <a:rPr lang="en-US" dirty="0" err="1"/>
              <a:t>wir</a:t>
            </a:r>
            <a:r>
              <a:rPr lang="en-US" dirty="0"/>
              <a:t> es eh </a:t>
            </a:r>
            <a:r>
              <a:rPr lang="en-US" dirty="0" err="1"/>
              <a:t>automatisch</a:t>
            </a:r>
            <a:r>
              <a:rPr lang="en-US" dirty="0"/>
              <a:t> eh integer und </a:t>
            </a:r>
            <a:r>
              <a:rPr lang="en-US" dirty="0" err="1"/>
              <a:t>wenn</a:t>
            </a:r>
            <a:r>
              <a:rPr lang="en-US" dirty="0"/>
              <a:t> mir </a:t>
            </a:r>
            <a:r>
              <a:rPr lang="en-US" dirty="0" err="1"/>
              <a:t>aber</a:t>
            </a:r>
            <a:r>
              <a:rPr lang="en-US" dirty="0"/>
              <a:t> 26.1 </a:t>
            </a:r>
            <a:r>
              <a:rPr lang="en-US" dirty="0" err="1"/>
              <a:t>schribe</a:t>
            </a:r>
            <a:r>
              <a:rPr lang="en-US" dirty="0"/>
              <a:t> </a:t>
            </a:r>
            <a:r>
              <a:rPr lang="en-US" dirty="0" err="1"/>
              <a:t>wird</a:t>
            </a:r>
            <a:r>
              <a:rPr lang="en-US" dirty="0"/>
              <a:t> es decimal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Genau</a:t>
            </a:r>
            <a:r>
              <a:rPr lang="en-US" dirty="0"/>
              <a:t> das </a:t>
            </a:r>
            <a:r>
              <a:rPr lang="en-US" dirty="0" err="1"/>
              <a:t>näcshte</a:t>
            </a:r>
            <a:r>
              <a:rPr lang="en-US" dirty="0"/>
              <a:t> wo mir </a:t>
            </a:r>
            <a:r>
              <a:rPr lang="en-US" dirty="0" err="1"/>
              <a:t>ahluäge</a:t>
            </a:r>
            <a:r>
              <a:rPr lang="en-US" dirty="0"/>
              <a:t> </a:t>
            </a:r>
            <a:r>
              <a:rPr lang="en-US" dirty="0" err="1"/>
              <a:t>sind</a:t>
            </a:r>
            <a:r>
              <a:rPr lang="en-US" dirty="0"/>
              <a:t> </a:t>
            </a:r>
            <a:r>
              <a:rPr lang="en-US" dirty="0" err="1"/>
              <a:t>sprachtags</a:t>
            </a:r>
            <a:r>
              <a:rPr lang="en-US" dirty="0"/>
              <a:t> die mache das mir eh literal </a:t>
            </a:r>
            <a:r>
              <a:rPr lang="en-US" dirty="0" err="1"/>
              <a:t>mit</a:t>
            </a:r>
            <a:r>
              <a:rPr lang="en-US" dirty="0"/>
              <a:t> </a:t>
            </a:r>
            <a:r>
              <a:rPr lang="en-US" dirty="0" err="1"/>
              <a:t>einer</a:t>
            </a:r>
            <a:r>
              <a:rPr lang="en-US" dirty="0"/>
              <a:t> </a:t>
            </a:r>
            <a:r>
              <a:rPr lang="en-US" dirty="0" err="1"/>
              <a:t>sprach</a:t>
            </a:r>
            <a:r>
              <a:rPr lang="en-US" dirty="0"/>
              <a:t> </a:t>
            </a:r>
            <a:r>
              <a:rPr lang="en-US" dirty="0" err="1"/>
              <a:t>chöi</a:t>
            </a:r>
            <a:r>
              <a:rPr lang="en-US" dirty="0"/>
              <a:t>  </a:t>
            </a:r>
            <a:r>
              <a:rPr lang="en-US" dirty="0" err="1"/>
              <a:t>vergä</a:t>
            </a:r>
            <a:r>
              <a:rPr lang="en-US" dirty="0"/>
              <a:t> </a:t>
            </a:r>
            <a:r>
              <a:rPr lang="en-US" dirty="0" err="1"/>
              <a:t>oder</a:t>
            </a:r>
            <a:r>
              <a:rPr lang="en-US" dirty="0"/>
              <a:t> das </a:t>
            </a:r>
            <a:r>
              <a:rPr lang="en-US" dirty="0" err="1"/>
              <a:t>äbä</a:t>
            </a:r>
            <a:r>
              <a:rPr lang="en-US" dirty="0"/>
              <a:t> </a:t>
            </a:r>
            <a:r>
              <a:rPr lang="en-US" dirty="0" err="1"/>
              <a:t>ermögliche</a:t>
            </a:r>
            <a:r>
              <a:rPr lang="en-US" dirty="0"/>
              <a:t> das object </a:t>
            </a:r>
            <a:r>
              <a:rPr lang="en-US" dirty="0" err="1"/>
              <a:t>uf</a:t>
            </a:r>
            <a:r>
              <a:rPr lang="en-US" dirty="0"/>
              <a:t> </a:t>
            </a:r>
            <a:r>
              <a:rPr lang="en-US" dirty="0" err="1"/>
              <a:t>unterschieldiche</a:t>
            </a:r>
            <a:r>
              <a:rPr lang="en-US" dirty="0"/>
              <a:t> </a:t>
            </a:r>
            <a:r>
              <a:rPr lang="en-US" dirty="0" err="1"/>
              <a:t>sprache</a:t>
            </a:r>
            <a:r>
              <a:rPr lang="en-US" dirty="0"/>
              <a:t> </a:t>
            </a:r>
            <a:r>
              <a:rPr lang="en-US" dirty="0" err="1"/>
              <a:t>anders</a:t>
            </a:r>
            <a:r>
              <a:rPr lang="en-US" dirty="0"/>
              <a:t> </a:t>
            </a:r>
            <a:r>
              <a:rPr lang="en-US" dirty="0" err="1"/>
              <a:t>heisse</a:t>
            </a:r>
            <a:r>
              <a:rPr lang="en-US" dirty="0"/>
              <a:t>. Ig </a:t>
            </a:r>
            <a:r>
              <a:rPr lang="en-US" dirty="0" err="1"/>
              <a:t>denke</a:t>
            </a:r>
            <a:r>
              <a:rPr lang="en-US" dirty="0"/>
              <a:t> </a:t>
            </a:r>
            <a:r>
              <a:rPr lang="en-US" dirty="0" err="1"/>
              <a:t>vorallem</a:t>
            </a:r>
            <a:r>
              <a:rPr lang="en-US" dirty="0"/>
              <a:t> </a:t>
            </a:r>
            <a:r>
              <a:rPr lang="en-US" dirty="0" err="1"/>
              <a:t>im</a:t>
            </a:r>
            <a:r>
              <a:rPr lang="en-US" dirty="0"/>
              <a:t> BLW wo oh Andere </a:t>
            </a:r>
            <a:r>
              <a:rPr lang="en-US" dirty="0" err="1"/>
              <a:t>Landessprache</a:t>
            </a:r>
            <a:r>
              <a:rPr lang="en-US" dirty="0"/>
              <a:t> muss </a:t>
            </a:r>
            <a:r>
              <a:rPr lang="en-US" dirty="0" err="1"/>
              <a:t>abdecke</a:t>
            </a:r>
            <a:r>
              <a:rPr lang="en-US" dirty="0"/>
              <a:t> </a:t>
            </a:r>
            <a:r>
              <a:rPr lang="en-US" dirty="0" err="1"/>
              <a:t>isch</a:t>
            </a:r>
            <a:r>
              <a:rPr lang="en-US" dirty="0"/>
              <a:t> ds eh </a:t>
            </a:r>
            <a:r>
              <a:rPr lang="en-US" dirty="0" err="1"/>
              <a:t>hoch</a:t>
            </a:r>
            <a:r>
              <a:rPr lang="en-US" dirty="0"/>
              <a:t> </a:t>
            </a:r>
            <a:r>
              <a:rPr lang="en-US" dirty="0" err="1"/>
              <a:t>relvante</a:t>
            </a:r>
            <a:r>
              <a:rPr lang="en-US" dirty="0"/>
              <a:t> function. </a:t>
            </a:r>
            <a:r>
              <a:rPr lang="en-US" dirty="0" err="1"/>
              <a:t>Genau</a:t>
            </a:r>
            <a:r>
              <a:rPr lang="en-US" dirty="0"/>
              <a:t> und der </a:t>
            </a:r>
            <a:r>
              <a:rPr lang="en-US" dirty="0" err="1"/>
              <a:t>grösst</a:t>
            </a:r>
            <a:r>
              <a:rPr lang="en-US" dirty="0"/>
              <a:t> </a:t>
            </a:r>
            <a:r>
              <a:rPr lang="en-US" dirty="0" err="1"/>
              <a:t>nutze</a:t>
            </a:r>
            <a:r>
              <a:rPr lang="en-US" dirty="0"/>
              <a:t> </a:t>
            </a:r>
            <a:r>
              <a:rPr lang="en-US" dirty="0" err="1"/>
              <a:t>ishc</a:t>
            </a:r>
            <a:r>
              <a:rPr lang="en-US" dirty="0"/>
              <a:t> </a:t>
            </a:r>
            <a:r>
              <a:rPr lang="en-US" dirty="0" err="1"/>
              <a:t>vermutlich</a:t>
            </a:r>
            <a:r>
              <a:rPr lang="en-US" dirty="0"/>
              <a:t> das </a:t>
            </a:r>
            <a:r>
              <a:rPr lang="en-US" dirty="0" err="1"/>
              <a:t>ebe</a:t>
            </a:r>
            <a:r>
              <a:rPr lang="en-US" dirty="0"/>
              <a:t> </a:t>
            </a:r>
            <a:r>
              <a:rPr lang="en-US" dirty="0" err="1"/>
              <a:t>ner</a:t>
            </a:r>
            <a:r>
              <a:rPr lang="en-US" dirty="0"/>
              <a:t> eh end </a:t>
            </a:r>
            <a:r>
              <a:rPr lang="en-US" dirty="0" err="1"/>
              <a:t>benutzer</a:t>
            </a:r>
            <a:r>
              <a:rPr lang="en-US" dirty="0"/>
              <a:t> oh </a:t>
            </a:r>
            <a:r>
              <a:rPr lang="en-US" dirty="0" err="1"/>
              <a:t>ih</a:t>
            </a:r>
            <a:r>
              <a:rPr lang="en-US" dirty="0"/>
              <a:t> sire </a:t>
            </a:r>
            <a:r>
              <a:rPr lang="en-US" dirty="0" err="1"/>
              <a:t>sprache</a:t>
            </a:r>
            <a:r>
              <a:rPr lang="en-US" dirty="0"/>
              <a:t> cha die </a:t>
            </a:r>
            <a:r>
              <a:rPr lang="en-US" dirty="0" err="1"/>
              <a:t>gsuchte</a:t>
            </a:r>
            <a:r>
              <a:rPr lang="en-US" dirty="0"/>
              <a:t> </a:t>
            </a:r>
            <a:r>
              <a:rPr lang="en-US" dirty="0" err="1"/>
              <a:t>abfrage</a:t>
            </a:r>
            <a:r>
              <a:rPr lang="en-US" dirty="0"/>
              <a:t> </a:t>
            </a:r>
            <a:r>
              <a:rPr lang="en-US" dirty="0" err="1"/>
              <a:t>stelle</a:t>
            </a:r>
            <a:r>
              <a:rPr lang="en-US" dirty="0"/>
              <a:t> und ds </a:t>
            </a:r>
            <a:r>
              <a:rPr lang="en-US" dirty="0" err="1"/>
              <a:t>richtige</a:t>
            </a:r>
            <a:r>
              <a:rPr lang="en-US" dirty="0"/>
              <a:t> </a:t>
            </a:r>
            <a:r>
              <a:rPr lang="en-US" dirty="0" err="1"/>
              <a:t>wird</a:t>
            </a:r>
            <a:r>
              <a:rPr lang="en-US" dirty="0"/>
              <a:t> </a:t>
            </a:r>
            <a:r>
              <a:rPr lang="en-US" dirty="0" err="1"/>
              <a:t>finde</a:t>
            </a:r>
            <a:r>
              <a:rPr lang="en-US" dirty="0"/>
              <a:t> </a:t>
            </a:r>
            <a:r>
              <a:rPr lang="en-US" dirty="0" err="1"/>
              <a:t>solang</a:t>
            </a:r>
            <a:r>
              <a:rPr lang="en-US" dirty="0"/>
              <a:t> </a:t>
            </a:r>
            <a:r>
              <a:rPr lang="en-US" dirty="0" err="1"/>
              <a:t>alles</a:t>
            </a:r>
            <a:r>
              <a:rPr lang="en-US" dirty="0"/>
              <a:t> </a:t>
            </a:r>
            <a:r>
              <a:rPr lang="en-US" dirty="0" err="1"/>
              <a:t>ihpfegt</a:t>
            </a:r>
            <a:r>
              <a:rPr lang="en-US" dirty="0"/>
              <a:t> </a:t>
            </a:r>
            <a:r>
              <a:rPr lang="en-US" dirty="0" err="1"/>
              <a:t>isch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Im</a:t>
            </a:r>
            <a:r>
              <a:rPr lang="en-US" dirty="0"/>
              <a:t> </a:t>
            </a:r>
            <a:r>
              <a:rPr lang="en-US" dirty="0" err="1"/>
              <a:t>Beispiel</a:t>
            </a:r>
            <a:r>
              <a:rPr lang="en-US" dirty="0"/>
              <a:t> </a:t>
            </a:r>
            <a:r>
              <a:rPr lang="en-US" dirty="0" err="1"/>
              <a:t>gesh</a:t>
            </a:r>
            <a:r>
              <a:rPr lang="en-US" dirty="0"/>
              <a:t> mir das ah der </a:t>
            </a:r>
            <a:r>
              <a:rPr lang="en-US" dirty="0" err="1"/>
              <a:t>gliche</a:t>
            </a:r>
            <a:r>
              <a:rPr lang="en-US" dirty="0"/>
              <a:t> </a:t>
            </a:r>
            <a:r>
              <a:rPr lang="en-US" dirty="0" err="1"/>
              <a:t>stelle</a:t>
            </a:r>
            <a:r>
              <a:rPr lang="en-US" dirty="0"/>
              <a:t> </a:t>
            </a:r>
            <a:r>
              <a:rPr lang="en-US" dirty="0" err="1"/>
              <a:t>im</a:t>
            </a:r>
            <a:r>
              <a:rPr lang="en-US" dirty="0"/>
              <a:t> code gad </a:t>
            </a:r>
            <a:r>
              <a:rPr lang="en-US" dirty="0" err="1"/>
              <a:t>aui</a:t>
            </a:r>
            <a:r>
              <a:rPr lang="en-US" dirty="0"/>
              <a:t> </a:t>
            </a:r>
            <a:r>
              <a:rPr lang="en-US" dirty="0" err="1"/>
              <a:t>sprachtags</a:t>
            </a:r>
            <a:r>
              <a:rPr lang="en-US" dirty="0"/>
              <a:t> ah der </a:t>
            </a:r>
            <a:r>
              <a:rPr lang="en-US" dirty="0" err="1"/>
              <a:t>gleiche</a:t>
            </a:r>
            <a:r>
              <a:rPr lang="en-US" dirty="0"/>
              <a:t> </a:t>
            </a:r>
            <a:r>
              <a:rPr lang="en-US" dirty="0" err="1"/>
              <a:t>stell</a:t>
            </a:r>
            <a:r>
              <a:rPr lang="en-US" dirty="0"/>
              <a:t> </a:t>
            </a:r>
            <a:r>
              <a:rPr lang="en-US" dirty="0" err="1"/>
              <a:t>vergeh</a:t>
            </a:r>
            <a:r>
              <a:rPr lang="en-US" dirty="0"/>
              <a:t> </a:t>
            </a:r>
            <a:r>
              <a:rPr lang="en-US" dirty="0" err="1"/>
              <a:t>werde</a:t>
            </a:r>
            <a:r>
              <a:rPr lang="en-US" dirty="0"/>
              <a:t> </a:t>
            </a:r>
            <a:r>
              <a:rPr lang="en-US" dirty="0" err="1"/>
              <a:t>indem</a:t>
            </a:r>
            <a:r>
              <a:rPr lang="en-US" dirty="0"/>
              <a:t> meh </a:t>
            </a:r>
            <a:r>
              <a:rPr lang="en-US" dirty="0" err="1"/>
              <a:t>si</a:t>
            </a:r>
            <a:r>
              <a:rPr lang="en-US" dirty="0"/>
              <a:t> </a:t>
            </a:r>
            <a:r>
              <a:rPr lang="en-US" dirty="0" err="1"/>
              <a:t>ufgrreit</a:t>
            </a:r>
            <a:r>
              <a:rPr lang="en-US" dirty="0"/>
              <a:t> </a:t>
            </a:r>
            <a:r>
              <a:rPr lang="en-US" dirty="0" err="1"/>
              <a:t>anahnd</a:t>
            </a:r>
            <a:r>
              <a:rPr lang="en-US" dirty="0"/>
              <a:t> </a:t>
            </a:r>
            <a:r>
              <a:rPr lang="en-US" dirty="0" err="1"/>
              <a:t>mit</a:t>
            </a:r>
            <a:r>
              <a:rPr lang="en-US" dirty="0"/>
              <a:t> </a:t>
            </a:r>
            <a:r>
              <a:rPr lang="en-US" dirty="0" err="1"/>
              <a:t>einem</a:t>
            </a:r>
            <a:r>
              <a:rPr lang="en-US" dirty="0"/>
              <a:t> </a:t>
            </a:r>
            <a:r>
              <a:rPr lang="en-US" dirty="0" err="1"/>
              <a:t>komma</a:t>
            </a:r>
            <a:r>
              <a:rPr lang="en-US" dirty="0"/>
              <a:t> </a:t>
            </a:r>
            <a:r>
              <a:rPr lang="en-US" dirty="0" err="1"/>
              <a:t>trennt</a:t>
            </a:r>
            <a:r>
              <a:rPr lang="en-US" dirty="0"/>
              <a:t> also </a:t>
            </a:r>
            <a:r>
              <a:rPr lang="en-US" dirty="0" err="1"/>
              <a:t>zerst</a:t>
            </a:r>
            <a:r>
              <a:rPr lang="en-US" dirty="0"/>
              <a:t> @de </a:t>
            </a:r>
            <a:r>
              <a:rPr lang="en-US" dirty="0" err="1"/>
              <a:t>uf</a:t>
            </a:r>
            <a:r>
              <a:rPr lang="en-US" dirty="0"/>
              <a:t> Deutsch </a:t>
            </a:r>
            <a:r>
              <a:rPr lang="en-US" dirty="0" err="1"/>
              <a:t>Wissensräume</a:t>
            </a:r>
            <a:r>
              <a:rPr lang="en-US" dirty="0"/>
              <a:t> und </a:t>
            </a:r>
            <a:r>
              <a:rPr lang="en-US" dirty="0" err="1"/>
              <a:t>ner</a:t>
            </a:r>
            <a:r>
              <a:rPr lang="en-US" dirty="0"/>
              <a:t> </a:t>
            </a:r>
            <a:r>
              <a:rPr lang="en-US" dirty="0" err="1"/>
              <a:t>uf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@ Englisch Space of Knowledge.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Geanu</a:t>
            </a:r>
            <a:r>
              <a:rPr lang="en-US" dirty="0"/>
              <a:t> </a:t>
            </a:r>
            <a:r>
              <a:rPr lang="en-US" dirty="0" err="1"/>
              <a:t>chöme</a:t>
            </a:r>
            <a:r>
              <a:rPr lang="en-US" dirty="0"/>
              <a:t> mir </a:t>
            </a:r>
            <a:r>
              <a:rPr lang="en-US" dirty="0" err="1"/>
              <a:t>zu</a:t>
            </a:r>
            <a:r>
              <a:rPr lang="en-US" dirty="0"/>
              <a:t> de </a:t>
            </a:r>
            <a:r>
              <a:rPr lang="en-US" dirty="0" err="1"/>
              <a:t>blanknodes</a:t>
            </a:r>
            <a:r>
              <a:rPr lang="en-US" dirty="0"/>
              <a:t> das </a:t>
            </a:r>
            <a:r>
              <a:rPr lang="en-US" dirty="0" err="1"/>
              <a:t>sind</a:t>
            </a:r>
            <a:r>
              <a:rPr lang="en-US" dirty="0"/>
              <a:t> </a:t>
            </a:r>
            <a:r>
              <a:rPr lang="en-US" dirty="0" err="1"/>
              <a:t>eig</a:t>
            </a:r>
            <a:r>
              <a:rPr lang="en-US" dirty="0"/>
              <a:t> object wo es </a:t>
            </a:r>
            <a:r>
              <a:rPr lang="en-US" dirty="0" err="1"/>
              <a:t>ke</a:t>
            </a:r>
            <a:r>
              <a:rPr lang="en-US" dirty="0"/>
              <a:t> </a:t>
            </a:r>
            <a:r>
              <a:rPr lang="en-US" dirty="0" err="1"/>
              <a:t>globale</a:t>
            </a:r>
            <a:r>
              <a:rPr lang="en-US" dirty="0"/>
              <a:t> IRI git </a:t>
            </a:r>
            <a:r>
              <a:rPr lang="en-US" dirty="0" err="1"/>
              <a:t>oder</a:t>
            </a:r>
            <a:r>
              <a:rPr lang="en-US" dirty="0"/>
              <a:t> meh </a:t>
            </a:r>
            <a:r>
              <a:rPr lang="en-US" dirty="0" err="1"/>
              <a:t>sie</a:t>
            </a:r>
            <a:r>
              <a:rPr lang="en-US" dirty="0"/>
              <a:t> extra </a:t>
            </a:r>
            <a:r>
              <a:rPr lang="en-US" dirty="0" err="1"/>
              <a:t>nid</a:t>
            </a:r>
            <a:r>
              <a:rPr lang="en-US" dirty="0"/>
              <a:t> wo </a:t>
            </a:r>
            <a:r>
              <a:rPr lang="en-US" dirty="0" err="1"/>
              <a:t>ahbinde</a:t>
            </a:r>
            <a:r>
              <a:rPr lang="en-US" dirty="0"/>
              <a:t>, </a:t>
            </a:r>
            <a:r>
              <a:rPr lang="en-US" dirty="0" err="1"/>
              <a:t>sie</a:t>
            </a:r>
            <a:r>
              <a:rPr lang="en-US" dirty="0"/>
              <a:t> </a:t>
            </a:r>
            <a:r>
              <a:rPr lang="en-US" dirty="0" err="1"/>
              <a:t>sind</a:t>
            </a:r>
            <a:r>
              <a:rPr lang="en-US" dirty="0"/>
              <a:t> super für </a:t>
            </a:r>
            <a:r>
              <a:rPr lang="en-US" dirty="0" err="1"/>
              <a:t>eiegen</a:t>
            </a:r>
            <a:r>
              <a:rPr lang="en-US" dirty="0"/>
              <a:t> locale </a:t>
            </a:r>
            <a:r>
              <a:rPr lang="en-US" dirty="0" err="1"/>
              <a:t>relevante</a:t>
            </a:r>
            <a:r>
              <a:rPr lang="en-US" dirty="0"/>
              <a:t>  details </a:t>
            </a:r>
            <a:r>
              <a:rPr lang="en-US" dirty="0" err="1"/>
              <a:t>oder</a:t>
            </a:r>
            <a:r>
              <a:rPr lang="en-US" dirty="0"/>
              <a:t> </a:t>
            </a:r>
            <a:r>
              <a:rPr lang="en-US" dirty="0" err="1"/>
              <a:t>zum</a:t>
            </a:r>
            <a:r>
              <a:rPr lang="en-US" dirty="0"/>
              <a:t> </a:t>
            </a:r>
            <a:r>
              <a:rPr lang="en-US" dirty="0" err="1"/>
              <a:t>verschachlte</a:t>
            </a:r>
            <a:r>
              <a:rPr lang="en-US" dirty="0"/>
              <a:t> </a:t>
            </a:r>
            <a:r>
              <a:rPr lang="en-US" dirty="0" err="1"/>
              <a:t>vo</a:t>
            </a:r>
            <a:r>
              <a:rPr lang="en-US" dirty="0"/>
              <a:t> usage wo </a:t>
            </a:r>
            <a:r>
              <a:rPr lang="en-US" dirty="0" err="1"/>
              <a:t>noramlerwis</a:t>
            </a:r>
            <a:r>
              <a:rPr lang="en-US" dirty="0"/>
              <a:t> </a:t>
            </a:r>
            <a:r>
              <a:rPr lang="en-US" dirty="0" err="1"/>
              <a:t>nid</a:t>
            </a:r>
            <a:r>
              <a:rPr lang="en-US" dirty="0"/>
              <a:t> in </a:t>
            </a:r>
            <a:r>
              <a:rPr lang="en-US" dirty="0" err="1"/>
              <a:t>einem</a:t>
            </a:r>
            <a:r>
              <a:rPr lang="en-US" dirty="0"/>
              <a:t> </a:t>
            </a:r>
            <a:r>
              <a:rPr lang="en-US" dirty="0" err="1"/>
              <a:t>einzige</a:t>
            </a:r>
            <a:r>
              <a:rPr lang="en-US" dirty="0"/>
              <a:t> triple </a:t>
            </a:r>
            <a:r>
              <a:rPr lang="en-US" dirty="0" err="1"/>
              <a:t>platz</a:t>
            </a:r>
            <a:r>
              <a:rPr lang="en-US" dirty="0"/>
              <a:t> </a:t>
            </a:r>
            <a:r>
              <a:rPr lang="en-US" dirty="0" err="1"/>
              <a:t>hätte</a:t>
            </a:r>
            <a:r>
              <a:rPr lang="en-US" dirty="0"/>
              <a:t>. </a:t>
            </a:r>
          </a:p>
          <a:p>
            <a:endParaRPr lang="en-US" dirty="0"/>
          </a:p>
          <a:p>
            <a:r>
              <a:rPr lang="en-US" dirty="0"/>
              <a:t>Wenn mir </a:t>
            </a:r>
            <a:r>
              <a:rPr lang="en-US" dirty="0" err="1"/>
              <a:t>üs</a:t>
            </a:r>
            <a:r>
              <a:rPr lang="en-US" dirty="0"/>
              <a:t> hie ds </a:t>
            </a:r>
            <a:r>
              <a:rPr lang="en-US" dirty="0" err="1"/>
              <a:t>Biepsiel</a:t>
            </a:r>
            <a:r>
              <a:rPr lang="en-US" dirty="0"/>
              <a:t> </a:t>
            </a:r>
            <a:r>
              <a:rPr lang="en-US" dirty="0" err="1"/>
              <a:t>ahluägä</a:t>
            </a:r>
            <a:r>
              <a:rPr lang="en-US" dirty="0"/>
              <a:t> </a:t>
            </a:r>
            <a:r>
              <a:rPr lang="en-US" dirty="0" err="1"/>
              <a:t>gseh</a:t>
            </a:r>
            <a:r>
              <a:rPr lang="en-US" dirty="0"/>
              <a:t> mir </a:t>
            </a:r>
            <a:r>
              <a:rPr lang="en-US" dirty="0" err="1"/>
              <a:t>möchte</a:t>
            </a:r>
            <a:r>
              <a:rPr lang="en-US" dirty="0"/>
              <a:t> </a:t>
            </a:r>
            <a:r>
              <a:rPr lang="en-US" dirty="0" err="1"/>
              <a:t>jz</a:t>
            </a:r>
            <a:r>
              <a:rPr lang="en-US" dirty="0"/>
              <a:t> </a:t>
            </a:r>
            <a:r>
              <a:rPr lang="en-US" dirty="0" err="1"/>
              <a:t>dere</a:t>
            </a:r>
            <a:r>
              <a:rPr lang="en-US" dirty="0"/>
              <a:t> </a:t>
            </a:r>
            <a:r>
              <a:rPr lang="en-US" dirty="0" err="1"/>
              <a:t>Verahstalltig</a:t>
            </a:r>
            <a:r>
              <a:rPr lang="en-US" dirty="0"/>
              <a:t> eh </a:t>
            </a:r>
            <a:r>
              <a:rPr lang="en-US" dirty="0" err="1"/>
              <a:t>addrese</a:t>
            </a:r>
            <a:r>
              <a:rPr lang="en-US" dirty="0"/>
              <a:t> </a:t>
            </a:r>
            <a:r>
              <a:rPr lang="en-US" dirty="0" err="1"/>
              <a:t>hinzufüge</a:t>
            </a:r>
            <a:r>
              <a:rPr lang="en-US" dirty="0"/>
              <a:t>. Eh </a:t>
            </a:r>
            <a:r>
              <a:rPr lang="en-US" dirty="0" err="1"/>
              <a:t>adresse</a:t>
            </a:r>
            <a:r>
              <a:rPr lang="en-US" dirty="0"/>
              <a:t> </a:t>
            </a:r>
            <a:r>
              <a:rPr lang="en-US" dirty="0" err="1"/>
              <a:t>besteit</a:t>
            </a:r>
            <a:r>
              <a:rPr lang="en-US" dirty="0"/>
              <a:t> </a:t>
            </a:r>
            <a:r>
              <a:rPr lang="en-US" dirty="0" err="1"/>
              <a:t>aber</a:t>
            </a:r>
            <a:r>
              <a:rPr lang="en-US" dirty="0"/>
              <a:t> </a:t>
            </a:r>
            <a:r>
              <a:rPr lang="en-US" dirty="0" err="1"/>
              <a:t>meist</a:t>
            </a:r>
            <a:r>
              <a:rPr lang="en-US" dirty="0"/>
              <a:t> us </a:t>
            </a:r>
            <a:r>
              <a:rPr lang="en-US" dirty="0" err="1"/>
              <a:t>mehrer</a:t>
            </a:r>
            <a:r>
              <a:rPr lang="en-US" dirty="0"/>
              <a:t> </a:t>
            </a:r>
            <a:r>
              <a:rPr lang="en-US" dirty="0" err="1"/>
              <a:t>angabe</a:t>
            </a:r>
            <a:r>
              <a:rPr lang="en-US" dirty="0"/>
              <a:t> </a:t>
            </a:r>
            <a:r>
              <a:rPr lang="en-US" dirty="0" err="1"/>
              <a:t>wie</a:t>
            </a:r>
            <a:r>
              <a:rPr lang="en-US" dirty="0"/>
              <a:t> </a:t>
            </a:r>
            <a:r>
              <a:rPr lang="en-US" dirty="0" err="1"/>
              <a:t>strasse</a:t>
            </a:r>
            <a:r>
              <a:rPr lang="en-US" dirty="0"/>
              <a:t> und ort. </a:t>
            </a:r>
            <a:r>
              <a:rPr lang="en-US" dirty="0" err="1"/>
              <a:t>Anstatt</a:t>
            </a:r>
            <a:r>
              <a:rPr lang="en-US" dirty="0"/>
              <a:t> </a:t>
            </a:r>
            <a:r>
              <a:rPr lang="en-US" dirty="0" err="1"/>
              <a:t>jz</a:t>
            </a:r>
            <a:r>
              <a:rPr lang="en-US" dirty="0"/>
              <a:t> </a:t>
            </a:r>
            <a:r>
              <a:rPr lang="en-US" dirty="0" err="1"/>
              <a:t>dere</a:t>
            </a:r>
            <a:r>
              <a:rPr lang="en-US" dirty="0"/>
              <a:t> </a:t>
            </a:r>
            <a:r>
              <a:rPr lang="en-US" dirty="0" err="1"/>
              <a:t>Adresse</a:t>
            </a:r>
            <a:r>
              <a:rPr lang="en-US" dirty="0"/>
              <a:t> eh </a:t>
            </a:r>
            <a:r>
              <a:rPr lang="en-US" dirty="0" err="1"/>
              <a:t>eigene</a:t>
            </a:r>
            <a:r>
              <a:rPr lang="en-US" dirty="0"/>
              <a:t> IRI z </a:t>
            </a:r>
            <a:r>
              <a:rPr lang="en-US" dirty="0" err="1"/>
              <a:t>vergä</a:t>
            </a:r>
            <a:r>
              <a:rPr lang="en-US" dirty="0"/>
              <a:t> </a:t>
            </a:r>
            <a:r>
              <a:rPr lang="en-US" dirty="0" err="1"/>
              <a:t>nütze</a:t>
            </a:r>
            <a:r>
              <a:rPr lang="en-US" dirty="0"/>
              <a:t> mir </a:t>
            </a:r>
            <a:r>
              <a:rPr lang="en-US" dirty="0" err="1"/>
              <a:t>jetzt</a:t>
            </a:r>
            <a:r>
              <a:rPr lang="en-US" dirty="0"/>
              <a:t> eh </a:t>
            </a:r>
            <a:r>
              <a:rPr lang="en-US" dirty="0" err="1"/>
              <a:t>blanknode</a:t>
            </a:r>
            <a:r>
              <a:rPr lang="en-US" dirty="0"/>
              <a:t> </a:t>
            </a:r>
            <a:r>
              <a:rPr lang="en-US" dirty="0" err="1"/>
              <a:t>dargstellt</a:t>
            </a:r>
            <a:r>
              <a:rPr lang="en-US" dirty="0"/>
              <a:t> </a:t>
            </a:r>
            <a:r>
              <a:rPr lang="en-US" dirty="0" err="1"/>
              <a:t>durhc</a:t>
            </a:r>
            <a:r>
              <a:rPr lang="en-US" dirty="0"/>
              <a:t> </a:t>
            </a:r>
            <a:r>
              <a:rPr lang="en-US" dirty="0" err="1"/>
              <a:t>dei</a:t>
            </a:r>
            <a:r>
              <a:rPr lang="en-US" dirty="0"/>
              <a:t> </a:t>
            </a:r>
            <a:r>
              <a:rPr lang="en-US" dirty="0" err="1"/>
              <a:t>eckige</a:t>
            </a:r>
            <a:r>
              <a:rPr lang="en-US" dirty="0"/>
              <a:t> </a:t>
            </a:r>
            <a:r>
              <a:rPr lang="en-US" dirty="0" err="1"/>
              <a:t>klammer</a:t>
            </a:r>
            <a:r>
              <a:rPr lang="en-US" dirty="0"/>
              <a:t>. Ds </a:t>
            </a:r>
            <a:r>
              <a:rPr lang="en-US" dirty="0" err="1"/>
              <a:t>bedütet</a:t>
            </a:r>
            <a:r>
              <a:rPr lang="en-US" dirty="0"/>
              <a:t> </a:t>
            </a:r>
            <a:r>
              <a:rPr lang="en-US" dirty="0" err="1"/>
              <a:t>jetzt</a:t>
            </a:r>
            <a:r>
              <a:rPr lang="en-US" dirty="0"/>
              <a:t> </a:t>
            </a:r>
            <a:r>
              <a:rPr lang="en-US" dirty="0" err="1"/>
              <a:t>über</a:t>
            </a:r>
            <a:r>
              <a:rPr lang="en-US" dirty="0"/>
              <a:t> ds </a:t>
            </a:r>
            <a:r>
              <a:rPr lang="en-US" dirty="0" err="1"/>
              <a:t>prädikat</a:t>
            </a:r>
            <a:r>
              <a:rPr lang="en-US" dirty="0"/>
              <a:t> “</a:t>
            </a:r>
            <a:r>
              <a:rPr lang="en-US" dirty="0" err="1"/>
              <a:t>adresse</a:t>
            </a:r>
            <a:r>
              <a:rPr lang="en-US" dirty="0"/>
              <a:t>” </a:t>
            </a:r>
            <a:r>
              <a:rPr lang="en-US" dirty="0" err="1"/>
              <a:t>verwise</a:t>
            </a:r>
            <a:r>
              <a:rPr lang="en-US" dirty="0"/>
              <a:t> mir auf es </a:t>
            </a:r>
            <a:r>
              <a:rPr lang="en-US" dirty="0" err="1"/>
              <a:t>ananoymes</a:t>
            </a:r>
            <a:r>
              <a:rPr lang="en-US" dirty="0"/>
              <a:t> </a:t>
            </a:r>
            <a:r>
              <a:rPr lang="en-US" dirty="0" err="1"/>
              <a:t>Objekt</a:t>
            </a:r>
            <a:r>
              <a:rPr lang="en-US" dirty="0"/>
              <a:t>. Ds object het </a:t>
            </a:r>
            <a:r>
              <a:rPr lang="en-US" dirty="0" err="1"/>
              <a:t>jz</a:t>
            </a:r>
            <a:r>
              <a:rPr lang="en-US" dirty="0"/>
              <a:t> </a:t>
            </a:r>
            <a:r>
              <a:rPr lang="en-US" dirty="0" err="1"/>
              <a:t>selber</a:t>
            </a:r>
            <a:r>
              <a:rPr lang="en-US" dirty="0"/>
              <a:t> 2  </a:t>
            </a:r>
            <a:r>
              <a:rPr lang="en-US" dirty="0" err="1"/>
              <a:t>Eigenschafte</a:t>
            </a:r>
            <a:r>
              <a:rPr lang="en-US" dirty="0"/>
              <a:t>: Strasse </a:t>
            </a:r>
            <a:r>
              <a:rPr lang="en-US" dirty="0" err="1"/>
              <a:t>mit</a:t>
            </a:r>
            <a:r>
              <a:rPr lang="en-US" dirty="0"/>
              <a:t> Wert “</a:t>
            </a:r>
            <a:r>
              <a:rPr lang="en-US" dirty="0" err="1"/>
              <a:t>Rämisstrasse</a:t>
            </a:r>
            <a:r>
              <a:rPr lang="en-US" dirty="0"/>
              <a:t>” und den Ort </a:t>
            </a:r>
            <a:r>
              <a:rPr lang="en-US" dirty="0" err="1"/>
              <a:t>mit</a:t>
            </a:r>
            <a:r>
              <a:rPr lang="en-US" dirty="0"/>
              <a:t> “</a:t>
            </a:r>
            <a:r>
              <a:rPr lang="en-US" dirty="0" err="1"/>
              <a:t>züri</a:t>
            </a:r>
            <a:r>
              <a:rPr lang="en-US" dirty="0"/>
              <a:t>”.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Zum </a:t>
            </a:r>
            <a:r>
              <a:rPr lang="en-US" dirty="0" err="1"/>
              <a:t>abschluss</a:t>
            </a:r>
            <a:r>
              <a:rPr lang="en-US" dirty="0"/>
              <a:t> </a:t>
            </a:r>
            <a:r>
              <a:rPr lang="en-US" dirty="0" err="1"/>
              <a:t>schuaen</a:t>
            </a:r>
            <a:r>
              <a:rPr lang="en-US" dirty="0"/>
              <a:t> </a:t>
            </a:r>
            <a:r>
              <a:rPr lang="en-US" dirty="0" err="1"/>
              <a:t>wir</a:t>
            </a:r>
            <a:r>
              <a:rPr lang="en-US" dirty="0"/>
              <a:t> </a:t>
            </a:r>
            <a:r>
              <a:rPr lang="en-US" dirty="0" err="1"/>
              <a:t>uns</a:t>
            </a:r>
            <a:r>
              <a:rPr lang="en-US" dirty="0"/>
              <a:t> collections an. ds </a:t>
            </a:r>
            <a:r>
              <a:rPr lang="en-US" dirty="0" err="1"/>
              <a:t>bruhce</a:t>
            </a:r>
            <a:r>
              <a:rPr lang="en-US" dirty="0"/>
              <a:t> mir um in </a:t>
            </a:r>
            <a:r>
              <a:rPr lang="en-US" dirty="0" err="1"/>
              <a:t>rdf</a:t>
            </a:r>
            <a:r>
              <a:rPr lang="en-US" dirty="0"/>
              <a:t> </a:t>
            </a:r>
            <a:r>
              <a:rPr lang="en-US" dirty="0" err="1"/>
              <a:t>reihenfolge</a:t>
            </a:r>
            <a:r>
              <a:rPr lang="en-US" dirty="0"/>
              <a:t> </a:t>
            </a:r>
            <a:r>
              <a:rPr lang="en-US" dirty="0" err="1"/>
              <a:t>chöne</a:t>
            </a:r>
            <a:r>
              <a:rPr lang="en-US" dirty="0"/>
              <a:t> </a:t>
            </a:r>
            <a:r>
              <a:rPr lang="en-US" dirty="0" err="1"/>
              <a:t>abdsbilde</a:t>
            </a:r>
            <a:r>
              <a:rPr lang="en-US" dirty="0"/>
              <a:t>. </a:t>
            </a:r>
            <a:r>
              <a:rPr lang="en-US" dirty="0" err="1"/>
              <a:t>Normalerwis</a:t>
            </a:r>
            <a:r>
              <a:rPr lang="en-US" dirty="0"/>
              <a:t> </a:t>
            </a:r>
            <a:r>
              <a:rPr lang="en-US" dirty="0" err="1"/>
              <a:t>isch</a:t>
            </a:r>
            <a:r>
              <a:rPr lang="en-US" dirty="0"/>
              <a:t> ja eh RDF-</a:t>
            </a:r>
            <a:r>
              <a:rPr lang="en-US" dirty="0" err="1"/>
              <a:t>Grpah</a:t>
            </a:r>
            <a:r>
              <a:rPr lang="en-US" dirty="0"/>
              <a:t> </a:t>
            </a:r>
            <a:r>
              <a:rPr lang="en-US" dirty="0" err="1"/>
              <a:t>ungeordnet</a:t>
            </a:r>
            <a:r>
              <a:rPr lang="en-US" dirty="0"/>
              <a:t> </a:t>
            </a:r>
            <a:r>
              <a:rPr lang="en-US" dirty="0" err="1"/>
              <a:t>söu</a:t>
            </a:r>
            <a:r>
              <a:rPr lang="en-US" dirty="0"/>
              <a:t> </a:t>
            </a:r>
            <a:r>
              <a:rPr lang="en-US" dirty="0" err="1"/>
              <a:t>heisse</a:t>
            </a:r>
            <a:r>
              <a:rPr lang="en-US" dirty="0"/>
              <a:t> es spilt an </a:t>
            </a:r>
            <a:r>
              <a:rPr lang="en-US" dirty="0" err="1"/>
              <a:t>sich</a:t>
            </a:r>
            <a:r>
              <a:rPr lang="en-US" dirty="0"/>
              <a:t> </a:t>
            </a:r>
            <a:r>
              <a:rPr lang="en-US" dirty="0" err="1"/>
              <a:t>ke</a:t>
            </a:r>
            <a:r>
              <a:rPr lang="en-US" dirty="0"/>
              <a:t> </a:t>
            </a:r>
            <a:r>
              <a:rPr lang="en-US" dirty="0" err="1"/>
              <a:t>rolle</a:t>
            </a:r>
            <a:r>
              <a:rPr lang="en-US" dirty="0"/>
              <a:t> </a:t>
            </a:r>
            <a:r>
              <a:rPr lang="en-US" dirty="0" err="1"/>
              <a:t>weles</a:t>
            </a:r>
            <a:r>
              <a:rPr lang="en-US" dirty="0"/>
              <a:t> triple </a:t>
            </a:r>
            <a:r>
              <a:rPr lang="en-US" dirty="0" err="1"/>
              <a:t>zerst</a:t>
            </a:r>
            <a:r>
              <a:rPr lang="en-US" dirty="0"/>
              <a:t> </a:t>
            </a:r>
            <a:r>
              <a:rPr lang="en-US" dirty="0" err="1"/>
              <a:t>chunt</a:t>
            </a:r>
            <a:r>
              <a:rPr lang="en-US" dirty="0"/>
              <a:t> und </a:t>
            </a:r>
            <a:r>
              <a:rPr lang="en-US" dirty="0" err="1"/>
              <a:t>weles</a:t>
            </a:r>
            <a:r>
              <a:rPr lang="en-US" dirty="0"/>
              <a:t> </a:t>
            </a:r>
            <a:r>
              <a:rPr lang="en-US" dirty="0" err="1"/>
              <a:t>als</a:t>
            </a:r>
            <a:r>
              <a:rPr lang="en-US" dirty="0"/>
              <a:t> </a:t>
            </a:r>
            <a:r>
              <a:rPr lang="en-US" dirty="0" err="1"/>
              <a:t>letzt</a:t>
            </a:r>
            <a:r>
              <a:rPr lang="en-US" dirty="0"/>
              <a:t> es </a:t>
            </a:r>
            <a:r>
              <a:rPr lang="en-US" dirty="0" err="1"/>
              <a:t>wird</a:t>
            </a:r>
            <a:r>
              <a:rPr lang="en-US" dirty="0"/>
              <a:t> am </a:t>
            </a:r>
            <a:r>
              <a:rPr lang="en-US" dirty="0" err="1"/>
              <a:t>schluss</a:t>
            </a:r>
            <a:r>
              <a:rPr lang="en-US" dirty="0"/>
              <a:t> </a:t>
            </a:r>
            <a:r>
              <a:rPr lang="en-US" dirty="0" err="1"/>
              <a:t>genau</a:t>
            </a:r>
            <a:r>
              <a:rPr lang="en-US" dirty="0"/>
              <a:t> </a:t>
            </a:r>
            <a:r>
              <a:rPr lang="en-US" dirty="0" err="1"/>
              <a:t>glich</a:t>
            </a:r>
            <a:r>
              <a:rPr lang="en-US" dirty="0"/>
              <a:t> </a:t>
            </a:r>
            <a:r>
              <a:rPr lang="en-US" dirty="0" err="1"/>
              <a:t>abbildet</a:t>
            </a:r>
            <a:r>
              <a:rPr lang="en-US" dirty="0"/>
              <a:t> </a:t>
            </a:r>
            <a:r>
              <a:rPr lang="en-US" dirty="0" err="1"/>
              <a:t>werde</a:t>
            </a:r>
            <a:r>
              <a:rPr lang="en-US" dirty="0"/>
              <a:t>. Also die </a:t>
            </a:r>
            <a:r>
              <a:rPr lang="en-US" dirty="0" err="1"/>
              <a:t>menge</a:t>
            </a:r>
            <a:r>
              <a:rPr lang="en-US" dirty="0"/>
              <a:t> an triples in </a:t>
            </a:r>
            <a:r>
              <a:rPr lang="en-US" dirty="0" err="1"/>
              <a:t>einem</a:t>
            </a:r>
            <a:r>
              <a:rPr lang="en-US" dirty="0"/>
              <a:t> graph </a:t>
            </a:r>
            <a:r>
              <a:rPr lang="en-US" dirty="0" err="1"/>
              <a:t>isch</a:t>
            </a:r>
            <a:r>
              <a:rPr lang="en-US" dirty="0"/>
              <a:t> </a:t>
            </a:r>
            <a:r>
              <a:rPr lang="en-US" dirty="0" err="1"/>
              <a:t>ungeordent</a:t>
            </a:r>
            <a:r>
              <a:rPr lang="en-US" dirty="0"/>
              <a:t>. </a:t>
            </a:r>
            <a:r>
              <a:rPr lang="en-US" dirty="0" err="1"/>
              <a:t>Heisst</a:t>
            </a:r>
            <a:r>
              <a:rPr lang="en-US" dirty="0"/>
              <a:t> </a:t>
            </a:r>
            <a:r>
              <a:rPr lang="en-US" dirty="0" err="1"/>
              <a:t>jz</a:t>
            </a:r>
            <a:r>
              <a:rPr lang="en-US" dirty="0"/>
              <a:t> hie </a:t>
            </a:r>
            <a:r>
              <a:rPr lang="en-US" dirty="0" err="1"/>
              <a:t>ih</a:t>
            </a:r>
            <a:r>
              <a:rPr lang="en-US" dirty="0"/>
              <a:t> </a:t>
            </a:r>
            <a:r>
              <a:rPr lang="en-US" dirty="0" err="1"/>
              <a:t>usem</a:t>
            </a:r>
            <a:r>
              <a:rPr lang="en-US" dirty="0"/>
              <a:t> </a:t>
            </a:r>
            <a:r>
              <a:rPr lang="en-US" dirty="0" err="1"/>
              <a:t>beispeil</a:t>
            </a:r>
            <a:r>
              <a:rPr lang="en-US" dirty="0"/>
              <a:t> </a:t>
            </a:r>
            <a:r>
              <a:rPr lang="en-US" dirty="0" err="1"/>
              <a:t>mit</a:t>
            </a:r>
            <a:r>
              <a:rPr lang="en-US" dirty="0"/>
              <a:t> dem </a:t>
            </a:r>
            <a:r>
              <a:rPr lang="en-US" dirty="0" err="1"/>
              <a:t>modul</a:t>
            </a:r>
            <a:r>
              <a:rPr lang="en-US" dirty="0"/>
              <a:t> wo </a:t>
            </a:r>
            <a:r>
              <a:rPr lang="en-US" dirty="0" err="1"/>
              <a:t>einheit</a:t>
            </a:r>
            <a:r>
              <a:rPr lang="en-US" dirty="0"/>
              <a:t> ABC </a:t>
            </a:r>
            <a:r>
              <a:rPr lang="en-US" dirty="0" err="1"/>
              <a:t>enthaltet</a:t>
            </a:r>
            <a:r>
              <a:rPr lang="en-US" dirty="0"/>
              <a:t> und gabs </a:t>
            </a:r>
            <a:r>
              <a:rPr lang="en-US" dirty="0" err="1"/>
              <a:t>keni</a:t>
            </a:r>
            <a:r>
              <a:rPr lang="en-US" dirty="0"/>
              <a:t> </a:t>
            </a:r>
            <a:r>
              <a:rPr lang="en-US" dirty="0" err="1"/>
              <a:t>reihefolg</a:t>
            </a:r>
            <a:r>
              <a:rPr lang="en-US" dirty="0"/>
              <a:t> </a:t>
            </a:r>
            <a:r>
              <a:rPr lang="en-US" dirty="0" err="1"/>
              <a:t>wele</a:t>
            </a:r>
            <a:r>
              <a:rPr lang="en-US" dirty="0"/>
              <a:t> Einheit </a:t>
            </a:r>
            <a:r>
              <a:rPr lang="en-US" dirty="0" err="1"/>
              <a:t>nach</a:t>
            </a:r>
            <a:r>
              <a:rPr lang="en-US" dirty="0"/>
              <a:t> </a:t>
            </a:r>
            <a:r>
              <a:rPr lang="en-US" dirty="0" err="1"/>
              <a:t>weler</a:t>
            </a:r>
            <a:r>
              <a:rPr lang="en-US" dirty="0"/>
              <a:t> Einheit muss </a:t>
            </a:r>
            <a:r>
              <a:rPr lang="en-US" dirty="0" err="1"/>
              <a:t>abgschlosse</a:t>
            </a:r>
            <a:r>
              <a:rPr lang="en-US" dirty="0"/>
              <a:t> </a:t>
            </a:r>
            <a:r>
              <a:rPr lang="en-US" dirty="0" err="1"/>
              <a:t>werde</a:t>
            </a:r>
            <a:r>
              <a:rPr lang="en-US" dirty="0"/>
              <a:t> um ds Modul ds </a:t>
            </a:r>
            <a:r>
              <a:rPr lang="en-US" dirty="0" err="1"/>
              <a:t>bestah</a:t>
            </a:r>
            <a:r>
              <a:rPr lang="en-US" dirty="0"/>
              <a:t>. Um </a:t>
            </a:r>
            <a:r>
              <a:rPr lang="en-US" dirty="0" err="1"/>
              <a:t>jz</a:t>
            </a:r>
            <a:r>
              <a:rPr lang="en-US" dirty="0"/>
              <a:t> hie die </a:t>
            </a:r>
            <a:r>
              <a:rPr lang="en-US" dirty="0" err="1"/>
              <a:t>Riehenfolg</a:t>
            </a:r>
            <a:r>
              <a:rPr lang="en-US" dirty="0"/>
              <a:t> </a:t>
            </a:r>
            <a:r>
              <a:rPr lang="en-US" dirty="0" err="1"/>
              <a:t>chöne</a:t>
            </a:r>
            <a:r>
              <a:rPr lang="en-US" dirty="0"/>
              <a:t> </a:t>
            </a:r>
            <a:r>
              <a:rPr lang="en-US" dirty="0" err="1"/>
              <a:t>darstelle</a:t>
            </a:r>
            <a:r>
              <a:rPr lang="en-US" dirty="0"/>
              <a:t> </a:t>
            </a:r>
            <a:r>
              <a:rPr lang="en-US" dirty="0" err="1"/>
              <a:t>bruche</a:t>
            </a:r>
            <a:r>
              <a:rPr lang="en-US" dirty="0"/>
              <a:t> mir die collection um </a:t>
            </a:r>
            <a:r>
              <a:rPr lang="en-US" dirty="0" err="1"/>
              <a:t>genau</a:t>
            </a:r>
            <a:r>
              <a:rPr lang="en-US" dirty="0"/>
              <a:t> die </a:t>
            </a:r>
            <a:r>
              <a:rPr lang="en-US" dirty="0" err="1"/>
              <a:t>riehnfolge</a:t>
            </a:r>
            <a:r>
              <a:rPr lang="en-US" dirty="0"/>
              <a:t> </a:t>
            </a:r>
            <a:r>
              <a:rPr lang="en-US" dirty="0" err="1"/>
              <a:t>vor</a:t>
            </a:r>
            <a:r>
              <a:rPr lang="en-US" dirty="0"/>
              <a:t> ds </a:t>
            </a:r>
            <a:r>
              <a:rPr lang="en-US" dirty="0" err="1"/>
              <a:t>gä</a:t>
            </a:r>
            <a:r>
              <a:rPr lang="en-US" dirty="0"/>
              <a:t>. Mit dem </a:t>
            </a:r>
            <a:r>
              <a:rPr lang="en-US" dirty="0" err="1"/>
              <a:t>rdf:first</a:t>
            </a:r>
            <a:r>
              <a:rPr lang="en-US" dirty="0"/>
              <a:t> und </a:t>
            </a:r>
            <a:r>
              <a:rPr lang="en-US" dirty="0" err="1"/>
              <a:t>rdf:rest</a:t>
            </a:r>
            <a:r>
              <a:rPr lang="en-US" dirty="0"/>
              <a:t> </a:t>
            </a:r>
            <a:r>
              <a:rPr lang="en-US" dirty="0" err="1"/>
              <a:t>gebe</a:t>
            </a:r>
            <a:r>
              <a:rPr lang="en-US" dirty="0"/>
              <a:t> mir </a:t>
            </a:r>
            <a:r>
              <a:rPr lang="en-US" dirty="0" err="1"/>
              <a:t>vor</a:t>
            </a:r>
            <a:r>
              <a:rPr lang="en-US" dirty="0"/>
              <a:t> </a:t>
            </a:r>
            <a:r>
              <a:rPr lang="en-US" dirty="0" err="1"/>
              <a:t>weles</a:t>
            </a:r>
            <a:r>
              <a:rPr lang="en-US" dirty="0"/>
              <a:t> element </a:t>
            </a:r>
            <a:r>
              <a:rPr lang="en-US" dirty="0" err="1"/>
              <a:t>uf</a:t>
            </a:r>
            <a:r>
              <a:rPr lang="en-US" dirty="0"/>
              <a:t> </a:t>
            </a:r>
            <a:r>
              <a:rPr lang="en-US" dirty="0" err="1"/>
              <a:t>weles</a:t>
            </a:r>
            <a:r>
              <a:rPr lang="en-US" dirty="0"/>
              <a:t> </a:t>
            </a:r>
            <a:r>
              <a:rPr lang="en-US" dirty="0" err="1"/>
              <a:t>folgt</a:t>
            </a:r>
            <a:r>
              <a:rPr lang="en-US" dirty="0"/>
              <a:t>. die </a:t>
            </a:r>
            <a:r>
              <a:rPr lang="en-US" dirty="0" err="1"/>
              <a:t>befhel</a:t>
            </a:r>
            <a:r>
              <a:rPr lang="en-US" dirty="0"/>
              <a:t> </a:t>
            </a:r>
            <a:r>
              <a:rPr lang="en-US" dirty="0" err="1"/>
              <a:t>müsse</a:t>
            </a:r>
            <a:r>
              <a:rPr lang="en-US" dirty="0"/>
              <a:t> mir </a:t>
            </a:r>
            <a:r>
              <a:rPr lang="en-US" dirty="0" err="1"/>
              <a:t>aber</a:t>
            </a:r>
            <a:r>
              <a:rPr lang="en-US" dirty="0"/>
              <a:t> </a:t>
            </a:r>
            <a:r>
              <a:rPr lang="en-US" dirty="0" err="1"/>
              <a:t>nid</a:t>
            </a:r>
            <a:r>
              <a:rPr lang="en-US" dirty="0"/>
              <a:t> </a:t>
            </a:r>
            <a:r>
              <a:rPr lang="en-US" dirty="0" err="1"/>
              <a:t>schirbe</a:t>
            </a:r>
            <a:r>
              <a:rPr lang="en-US" dirty="0"/>
              <a:t> sonder </a:t>
            </a:r>
            <a:r>
              <a:rPr lang="en-US" dirty="0" err="1"/>
              <a:t>versteit</a:t>
            </a:r>
            <a:r>
              <a:rPr lang="en-US" dirty="0"/>
              <a:t> der parser </a:t>
            </a:r>
            <a:r>
              <a:rPr lang="en-US" dirty="0" err="1"/>
              <a:t>automatisch</a:t>
            </a:r>
            <a:r>
              <a:rPr lang="en-US" dirty="0"/>
              <a:t> </a:t>
            </a:r>
            <a:r>
              <a:rPr lang="en-US" dirty="0" err="1"/>
              <a:t>über</a:t>
            </a:r>
            <a:r>
              <a:rPr lang="en-US" dirty="0"/>
              <a:t> die </a:t>
            </a:r>
            <a:r>
              <a:rPr lang="en-US" dirty="0" err="1"/>
              <a:t>runde</a:t>
            </a:r>
            <a:r>
              <a:rPr lang="en-US" dirty="0"/>
              <a:t> </a:t>
            </a:r>
            <a:r>
              <a:rPr lang="en-US" dirty="0" err="1"/>
              <a:t>kalmmere</a:t>
            </a:r>
            <a:r>
              <a:rPr lang="en-US" dirty="0"/>
              <a:t>. </a:t>
            </a:r>
          </a:p>
          <a:p>
            <a:endParaRPr lang="en-US" dirty="0"/>
          </a:p>
          <a:p>
            <a:r>
              <a:rPr lang="en-US" dirty="0"/>
              <a:t>Ds </a:t>
            </a:r>
            <a:r>
              <a:rPr lang="en-US" dirty="0" err="1"/>
              <a:t>gannze</a:t>
            </a:r>
            <a:r>
              <a:rPr lang="en-US" dirty="0"/>
              <a:t> </a:t>
            </a:r>
            <a:r>
              <a:rPr lang="en-US" dirty="0" err="1"/>
              <a:t>isch</a:t>
            </a:r>
            <a:r>
              <a:rPr lang="en-US" dirty="0"/>
              <a:t> </a:t>
            </a:r>
            <a:r>
              <a:rPr lang="en-US" dirty="0" err="1"/>
              <a:t>nützlich</a:t>
            </a:r>
            <a:r>
              <a:rPr lang="en-US" dirty="0"/>
              <a:t> bi situation wo </a:t>
            </a:r>
            <a:r>
              <a:rPr lang="en-US" dirty="0" err="1"/>
              <a:t>Reihfolge</a:t>
            </a:r>
            <a:r>
              <a:rPr lang="en-US" dirty="0"/>
              <a:t> eh </a:t>
            </a:r>
            <a:r>
              <a:rPr lang="en-US" dirty="0" err="1"/>
              <a:t>tatsächliche</a:t>
            </a:r>
            <a:r>
              <a:rPr lang="en-US" dirty="0"/>
              <a:t> </a:t>
            </a:r>
            <a:r>
              <a:rPr lang="en-US" dirty="0" err="1"/>
              <a:t>rolle</a:t>
            </a:r>
            <a:r>
              <a:rPr lang="en-US" dirty="0"/>
              <a:t> spilt </a:t>
            </a:r>
            <a:r>
              <a:rPr lang="en-US" dirty="0" err="1"/>
              <a:t>wie</a:t>
            </a:r>
            <a:r>
              <a:rPr lang="en-US" dirty="0"/>
              <a:t> </a:t>
            </a:r>
            <a:r>
              <a:rPr lang="en-US" dirty="0" err="1"/>
              <a:t>Prozessschritte</a:t>
            </a:r>
            <a:r>
              <a:rPr lang="en-US" dirty="0"/>
              <a:t> </a:t>
            </a:r>
            <a:r>
              <a:rPr lang="en-US" dirty="0" err="1"/>
              <a:t>oder</a:t>
            </a:r>
            <a:r>
              <a:rPr lang="en-US" dirty="0"/>
              <a:t> </a:t>
            </a:r>
            <a:r>
              <a:rPr lang="en-US" dirty="0" err="1"/>
              <a:t>Rangliste</a:t>
            </a:r>
            <a:r>
              <a:rPr lang="en-US"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Geanu</a:t>
            </a:r>
            <a:r>
              <a:rPr lang="en-US" dirty="0"/>
              <a:t> hie no mis </a:t>
            </a:r>
            <a:r>
              <a:rPr lang="en-US" dirty="0" err="1"/>
              <a:t>abschluss</a:t>
            </a:r>
            <a:r>
              <a:rPr lang="en-US" dirty="0"/>
              <a:t> resume </a:t>
            </a:r>
            <a:r>
              <a:rPr lang="en-US" dirty="0" err="1"/>
              <a:t>woni</a:t>
            </a:r>
            <a:r>
              <a:rPr lang="en-US" dirty="0"/>
              <a:t> mal no </a:t>
            </a:r>
            <a:r>
              <a:rPr lang="en-US" dirty="0" err="1"/>
              <a:t>paar</a:t>
            </a:r>
            <a:r>
              <a:rPr lang="en-US" dirty="0"/>
              <a:t> </a:t>
            </a:r>
            <a:r>
              <a:rPr lang="en-US" dirty="0" err="1"/>
              <a:t>bulletpoint</a:t>
            </a:r>
            <a:r>
              <a:rPr lang="en-US" dirty="0"/>
              <a:t> wet </a:t>
            </a:r>
            <a:r>
              <a:rPr lang="en-US" dirty="0" err="1"/>
              <a:t>highlighte</a:t>
            </a:r>
            <a:r>
              <a:rPr lang="en-US" dirty="0"/>
              <a:t>:</a:t>
            </a:r>
          </a:p>
          <a:p>
            <a:endParaRPr lang="en-US" dirty="0"/>
          </a:p>
          <a:p>
            <a:r>
              <a:rPr lang="en-US" dirty="0"/>
              <a:t>Prefix und </a:t>
            </a:r>
            <a:r>
              <a:rPr lang="en-US" dirty="0" err="1"/>
              <a:t>Abkürzige</a:t>
            </a:r>
            <a:r>
              <a:rPr lang="en-US" dirty="0"/>
              <a:t> </a:t>
            </a:r>
            <a:r>
              <a:rPr lang="en-US" dirty="0" err="1"/>
              <a:t>verbesssere</a:t>
            </a:r>
            <a:r>
              <a:rPr lang="en-US" dirty="0"/>
              <a:t> </a:t>
            </a:r>
            <a:r>
              <a:rPr lang="en-US" dirty="0" err="1"/>
              <a:t>längi</a:t>
            </a:r>
            <a:r>
              <a:rPr lang="en-US" dirty="0"/>
              <a:t> und </a:t>
            </a:r>
            <a:r>
              <a:rPr lang="en-US" dirty="0" err="1"/>
              <a:t>lesbarkeit</a:t>
            </a:r>
            <a:r>
              <a:rPr lang="en-US" dirty="0"/>
              <a:t> </a:t>
            </a:r>
            <a:r>
              <a:rPr lang="en-US" dirty="0" err="1"/>
              <a:t>vom</a:t>
            </a:r>
            <a:r>
              <a:rPr lang="en-US" dirty="0"/>
              <a:t> code</a:t>
            </a:r>
          </a:p>
          <a:p>
            <a:r>
              <a:rPr lang="en-US" dirty="0"/>
              <a:t>Typen, </a:t>
            </a:r>
            <a:r>
              <a:rPr lang="en-US" dirty="0" err="1"/>
              <a:t>Literale</a:t>
            </a:r>
            <a:r>
              <a:rPr lang="en-US" dirty="0"/>
              <a:t> und </a:t>
            </a:r>
            <a:r>
              <a:rPr lang="en-US" dirty="0" err="1"/>
              <a:t>Liste</a:t>
            </a:r>
            <a:r>
              <a:rPr lang="en-US" dirty="0"/>
              <a:t> mache </a:t>
            </a:r>
            <a:r>
              <a:rPr lang="en-US" dirty="0" err="1"/>
              <a:t>Inhalte</a:t>
            </a:r>
            <a:r>
              <a:rPr lang="en-US" dirty="0"/>
              <a:t> </a:t>
            </a:r>
            <a:r>
              <a:rPr lang="en-US" dirty="0" err="1"/>
              <a:t>präzise</a:t>
            </a:r>
            <a:endParaRPr lang="en-US" dirty="0"/>
          </a:p>
          <a:p>
            <a:r>
              <a:rPr lang="en-US" dirty="0" err="1"/>
              <a:t>Bezigen</a:t>
            </a:r>
            <a:r>
              <a:rPr lang="en-US" dirty="0"/>
              <a:t> </a:t>
            </a:r>
            <a:r>
              <a:rPr lang="en-US" dirty="0" err="1"/>
              <a:t>verbinde</a:t>
            </a:r>
            <a:r>
              <a:rPr lang="en-US" dirty="0"/>
              <a:t> </a:t>
            </a:r>
            <a:r>
              <a:rPr lang="en-US" dirty="0" err="1"/>
              <a:t>fakten</a:t>
            </a:r>
            <a:r>
              <a:rPr lang="en-US" dirty="0"/>
              <a:t> </a:t>
            </a:r>
            <a:r>
              <a:rPr lang="en-US" dirty="0" err="1"/>
              <a:t>zu</a:t>
            </a:r>
            <a:r>
              <a:rPr lang="en-US" dirty="0"/>
              <a:t> </a:t>
            </a:r>
            <a:r>
              <a:rPr lang="en-US" dirty="0" err="1"/>
              <a:t>einem</a:t>
            </a:r>
            <a:r>
              <a:rPr lang="en-US" dirty="0"/>
              <a:t> </a:t>
            </a:r>
            <a:r>
              <a:rPr lang="en-US" dirty="0" err="1"/>
              <a:t>navigierbare</a:t>
            </a:r>
            <a:r>
              <a:rPr lang="en-US" dirty="0"/>
              <a:t> Graph</a:t>
            </a:r>
          </a:p>
          <a:p>
            <a:r>
              <a:rPr lang="en-US" dirty="0"/>
              <a:t> </a:t>
            </a:r>
            <a:r>
              <a:rPr lang="en-US" dirty="0" err="1"/>
              <a:t>throreitscher</a:t>
            </a:r>
            <a:r>
              <a:rPr lang="en-US" dirty="0"/>
              <a:t> </a:t>
            </a:r>
            <a:r>
              <a:rPr lang="en-US" dirty="0" err="1"/>
              <a:t>gewinn</a:t>
            </a:r>
            <a:r>
              <a:rPr lang="en-US" dirty="0"/>
              <a:t>: </a:t>
            </a:r>
            <a:r>
              <a:rPr lang="en-US" dirty="0" err="1"/>
              <a:t>Semantik</a:t>
            </a:r>
            <a:r>
              <a:rPr lang="en-US" dirty="0"/>
              <a:t> </a:t>
            </a:r>
            <a:r>
              <a:rPr lang="en-US" dirty="0" err="1"/>
              <a:t>wird</a:t>
            </a:r>
            <a:r>
              <a:rPr lang="en-US" dirty="0"/>
              <a:t> </a:t>
            </a:r>
            <a:r>
              <a:rPr lang="en-US" dirty="0" err="1"/>
              <a:t>explizit</a:t>
            </a:r>
            <a:r>
              <a:rPr lang="en-US" dirty="0"/>
              <a:t> und </a:t>
            </a:r>
            <a:r>
              <a:rPr lang="en-US" dirty="0" err="1"/>
              <a:t>maschinenverarbeitbar</a:t>
            </a:r>
            <a:endParaRPr lang="en-US" dirty="0"/>
          </a:p>
          <a:p>
            <a:r>
              <a:rPr lang="en-US" dirty="0"/>
              <a:t>Und der </a:t>
            </a:r>
            <a:r>
              <a:rPr lang="en-US" dirty="0" err="1"/>
              <a:t>Praktisch</a:t>
            </a:r>
            <a:r>
              <a:rPr lang="en-US" dirty="0"/>
              <a:t> </a:t>
            </a:r>
            <a:r>
              <a:rPr lang="en-US" dirty="0" err="1"/>
              <a:t>gwinn</a:t>
            </a:r>
            <a:r>
              <a:rPr lang="en-US" dirty="0"/>
              <a:t> </a:t>
            </a:r>
            <a:r>
              <a:rPr lang="en-US" dirty="0" err="1"/>
              <a:t>daten</a:t>
            </a:r>
            <a:r>
              <a:rPr lang="en-US" dirty="0"/>
              <a:t> </a:t>
            </a:r>
            <a:r>
              <a:rPr lang="en-US" dirty="0" err="1"/>
              <a:t>chöi</a:t>
            </a:r>
            <a:r>
              <a:rPr lang="en-US" dirty="0"/>
              <a:t> </a:t>
            </a:r>
            <a:r>
              <a:rPr lang="en-US" dirty="0" err="1"/>
              <a:t>integriert</a:t>
            </a:r>
            <a:r>
              <a:rPr lang="en-US" dirty="0"/>
              <a:t> </a:t>
            </a:r>
            <a:r>
              <a:rPr lang="en-US" dirty="0" err="1"/>
              <a:t>abgfargt</a:t>
            </a:r>
            <a:r>
              <a:rPr lang="en-US" dirty="0"/>
              <a:t> und </a:t>
            </a:r>
            <a:r>
              <a:rPr lang="en-US" dirty="0" err="1"/>
              <a:t>weiterverwendet</a:t>
            </a:r>
            <a:r>
              <a:rPr lang="en-US" dirty="0"/>
              <a:t> </a:t>
            </a:r>
            <a:r>
              <a:rPr lang="en-US" dirty="0" err="1"/>
              <a:t>werde</a:t>
            </a:r>
            <a:r>
              <a:rPr lang="en-US" dirty="0"/>
              <a:t>.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93A708-B57D-0616-34C6-0C39FB7FA2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CC9B65C-202E-4B60-AC92-06EA8D72493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BE73031-0378-99C2-5E50-A70CC4F53DC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58207B-EE7B-13B0-875F-42BC027EB6D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71472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7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svg"/><Relationship Id="rId5" Type="http://schemas.openxmlformats.org/officeDocument/2006/relationships/image" Target="../media/image5.svg"/><Relationship Id="rId4" Type="http://schemas.openxmlformats.org/officeDocument/2006/relationships/image" Target="../media/image4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svg"/><Relationship Id="rId5" Type="http://schemas.openxmlformats.org/officeDocument/2006/relationships/image" Target="../media/image10.svg"/><Relationship Id="rId4" Type="http://schemas.openxmlformats.org/officeDocument/2006/relationships/image" Target="../media/image9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svg"/><Relationship Id="rId5" Type="http://schemas.openxmlformats.org/officeDocument/2006/relationships/image" Target="../media/image14.svg"/><Relationship Id="rId4" Type="http://schemas.openxmlformats.org/officeDocument/2006/relationships/image" Target="../media/image13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9.svg"/><Relationship Id="rId4" Type="http://schemas.openxmlformats.org/officeDocument/2006/relationships/image" Target="../media/image18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2.svg"/><Relationship Id="rId4" Type="http://schemas.openxmlformats.org/officeDocument/2006/relationships/image" Target="../media/image21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7" Type="http://schemas.openxmlformats.org/officeDocument/2006/relationships/image" Target="../media/image27.sv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6.svg"/><Relationship Id="rId5" Type="http://schemas.openxmlformats.org/officeDocument/2006/relationships/image" Target="../media/image25.svg"/><Relationship Id="rId4" Type="http://schemas.openxmlformats.org/officeDocument/2006/relationships/image" Target="../media/image24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sv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0.svg"/><Relationship Id="rId4" Type="http://schemas.openxmlformats.org/officeDocument/2006/relationships/image" Target="../media/image29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sv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sv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3.sv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sv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7.svg"/><Relationship Id="rId5" Type="http://schemas.openxmlformats.org/officeDocument/2006/relationships/image" Target="../media/image36.svg"/><Relationship Id="rId4" Type="http://schemas.openxmlformats.org/officeDocument/2006/relationships/image" Target="../media/image35.sv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sv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svg"/><Relationship Id="rId3" Type="http://schemas.openxmlformats.org/officeDocument/2006/relationships/image" Target="../media/image23.jpeg"/><Relationship Id="rId7" Type="http://schemas.openxmlformats.org/officeDocument/2006/relationships/image" Target="../media/image42.sv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1.svg"/><Relationship Id="rId5" Type="http://schemas.openxmlformats.org/officeDocument/2006/relationships/image" Target="../media/image40.svg"/><Relationship Id="rId4" Type="http://schemas.openxmlformats.org/officeDocument/2006/relationships/image" Target="../media/image39.sv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w3.org/TR/turtle/" TargetMode="Externa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61923"/>
          </a:solidFill>
          <a:ln/>
        </p:spPr>
        <p:txBody>
          <a:bodyPr/>
          <a:lstStyle/>
          <a:p>
            <a:endParaRPr lang="de-CH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alphaModFix amt="55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0" y="-298"/>
            <a:ext cx="9144000" cy="57150"/>
          </a:xfrm>
          <a:prstGeom prst="rect">
            <a:avLst/>
          </a:prstGeom>
          <a:solidFill>
            <a:srgbClr val="D8232A"/>
          </a:solidFill>
          <a:ln/>
        </p:spPr>
        <p:txBody>
          <a:bodyPr/>
          <a:lstStyle/>
          <a:p>
            <a:endParaRPr lang="de-CH"/>
          </a:p>
        </p:txBody>
      </p:sp>
      <p:sp>
        <p:nvSpPr>
          <p:cNvPr id="7" name="Text 3"/>
          <p:cNvSpPr/>
          <p:nvPr/>
        </p:nvSpPr>
        <p:spPr>
          <a:xfrm>
            <a:off x="6258074" y="266700"/>
            <a:ext cx="3214494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endParaRPr lang="en-US" sz="860" dirty="0"/>
          </a:p>
        </p:txBody>
      </p:sp>
      <p:sp>
        <p:nvSpPr>
          <p:cNvPr id="8" name="Text 4"/>
          <p:cNvSpPr/>
          <p:nvPr/>
        </p:nvSpPr>
        <p:spPr>
          <a:xfrm>
            <a:off x="640035" y="3211041"/>
            <a:ext cx="1787604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Aft>
                <a:spcPts val="972"/>
              </a:spcAft>
              <a:buNone/>
            </a:pPr>
            <a:r>
              <a:rPr lang="en-US" sz="940" kern="0" spc="187" dirty="0">
                <a:solidFill>
                  <a:srgbClr val="D8232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RDF 1.1 TURTLE</a:t>
            </a:r>
            <a:endParaRPr lang="en-US" sz="940" dirty="0"/>
          </a:p>
        </p:txBody>
      </p:sp>
      <p:sp>
        <p:nvSpPr>
          <p:cNvPr id="9" name="Text 5"/>
          <p:cNvSpPr/>
          <p:nvPr/>
        </p:nvSpPr>
        <p:spPr>
          <a:xfrm>
            <a:off x="640035" y="3398341"/>
            <a:ext cx="4019743" cy="723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4460" b="1" kern="0" spc="-290" dirty="0">
                <a:solidFill>
                  <a:srgbClr val="F5F7F9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RDF 1.1 Turtle</a:t>
            </a:r>
            <a:endParaRPr lang="en-US" sz="4460" dirty="0"/>
          </a:p>
        </p:txBody>
      </p:sp>
      <p:sp>
        <p:nvSpPr>
          <p:cNvPr id="10" name="Shape 6"/>
          <p:cNvSpPr/>
          <p:nvPr/>
        </p:nvSpPr>
        <p:spPr>
          <a:xfrm>
            <a:off x="640966" y="4220989"/>
            <a:ext cx="1095375" cy="9525"/>
          </a:xfrm>
          <a:prstGeom prst="rect">
            <a:avLst/>
          </a:prstGeom>
          <a:solidFill>
            <a:srgbClr val="D8232A"/>
          </a:solidFill>
          <a:ln/>
        </p:spPr>
        <p:txBody>
          <a:bodyPr/>
          <a:lstStyle/>
          <a:p>
            <a:endParaRPr lang="de-CH"/>
          </a:p>
        </p:txBody>
      </p:sp>
      <p:sp>
        <p:nvSpPr>
          <p:cNvPr id="11" name="Text 7"/>
          <p:cNvSpPr/>
          <p:nvPr/>
        </p:nvSpPr>
        <p:spPr>
          <a:xfrm>
            <a:off x="640035" y="4345260"/>
            <a:ext cx="4246014" cy="20478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972"/>
              </a:spcBef>
              <a:buNone/>
            </a:pPr>
            <a:r>
              <a:rPr lang="en-US" sz="1190" dirty="0">
                <a:solidFill>
                  <a:srgbClr val="C5CBCE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Theorie, Funktionen und Nutzen im Überblick</a:t>
            </a:r>
            <a:endParaRPr lang="en-US" sz="1190" dirty="0"/>
          </a:p>
        </p:txBody>
      </p:sp>
      <p:sp>
        <p:nvSpPr>
          <p:cNvPr id="12" name="Text 8"/>
          <p:cNvSpPr/>
          <p:nvPr/>
        </p:nvSpPr>
        <p:spPr>
          <a:xfrm>
            <a:off x="640035" y="4585320"/>
            <a:ext cx="5087250" cy="20478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405"/>
              </a:spcBef>
              <a:buNone/>
            </a:pPr>
            <a:r>
              <a:rPr lang="en-US" sz="1190" dirty="0">
                <a:solidFill>
                  <a:srgbClr val="C5CBCE"/>
                </a:solidFill>
                <a:latin typeface="-apple-system" pitchFamily="34" charset="0"/>
                <a:ea typeface="-apple-system" pitchFamily="34" charset="-122"/>
              </a:rPr>
              <a:t>Michael Schüpbach</a:t>
            </a:r>
            <a:endParaRPr lang="en-US" sz="1190" dirty="0"/>
          </a:p>
        </p:txBody>
      </p:sp>
      <p:sp>
        <p:nvSpPr>
          <p:cNvPr id="13" name="Text 9"/>
          <p:cNvSpPr/>
          <p:nvPr/>
        </p:nvSpPr>
        <p:spPr>
          <a:xfrm>
            <a:off x="8173120" y="4740176"/>
            <a:ext cx="606140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790" dirty="0">
                <a:solidFill>
                  <a:srgbClr val="8A949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00 / 15</a:t>
            </a:r>
            <a:endParaRPr lang="en-US" sz="79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5F7F9"/>
          </a:solidFill>
          <a:ln/>
        </p:spPr>
        <p:txBody>
          <a:bodyPr/>
          <a:lstStyle/>
          <a:p>
            <a:endParaRPr lang="de-CH"/>
          </a:p>
        </p:txBody>
      </p:sp>
      <p:sp>
        <p:nvSpPr>
          <p:cNvPr id="3" name="Shape 1"/>
          <p:cNvSpPr/>
          <p:nvPr/>
        </p:nvSpPr>
        <p:spPr>
          <a:xfrm>
            <a:off x="0" y="-484"/>
            <a:ext cx="9144000" cy="52388"/>
          </a:xfrm>
          <a:prstGeom prst="rect">
            <a:avLst/>
          </a:prstGeom>
          <a:solidFill>
            <a:srgbClr val="D8232A"/>
          </a:solidFill>
          <a:ln/>
        </p:spPr>
        <p:txBody>
          <a:bodyPr/>
          <a:lstStyle/>
          <a:p>
            <a:endParaRPr lang="de-CH"/>
          </a:p>
        </p:txBody>
      </p:sp>
      <p:sp>
        <p:nvSpPr>
          <p:cNvPr id="4" name="Shape 2"/>
          <p:cNvSpPr/>
          <p:nvPr/>
        </p:nvSpPr>
        <p:spPr>
          <a:xfrm>
            <a:off x="8943417" y="0"/>
            <a:ext cx="200025" cy="5143500"/>
          </a:xfrm>
          <a:prstGeom prst="rect">
            <a:avLst/>
          </a:prstGeom>
          <a:solidFill>
            <a:srgbClr val="002B49"/>
          </a:solidFill>
          <a:ln/>
        </p:spPr>
        <p:txBody>
          <a:bodyPr/>
          <a:lstStyle/>
          <a:p>
            <a:endParaRPr lang="de-CH"/>
          </a:p>
        </p:txBody>
      </p:sp>
      <p:sp>
        <p:nvSpPr>
          <p:cNvPr id="5" name="Text 3"/>
          <p:cNvSpPr/>
          <p:nvPr/>
        </p:nvSpPr>
        <p:spPr>
          <a:xfrm>
            <a:off x="640035" y="266700"/>
            <a:ext cx="1725692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60" b="1" kern="0" spc="156" dirty="0">
                <a:solidFill>
                  <a:srgbClr val="D8232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01 | GRUNDLAGEN</a:t>
            </a:r>
            <a:endParaRPr lang="en-US" sz="860" dirty="0"/>
          </a:p>
        </p:txBody>
      </p:sp>
      <p:sp>
        <p:nvSpPr>
          <p:cNvPr id="6" name="Text 4"/>
          <p:cNvSpPr/>
          <p:nvPr/>
        </p:nvSpPr>
        <p:spPr>
          <a:xfrm>
            <a:off x="640035" y="451619"/>
            <a:ext cx="7782089" cy="4429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648"/>
              </a:spcBef>
              <a:buNone/>
            </a:pPr>
            <a:r>
              <a:rPr lang="en-US" sz="2740" b="1" kern="0" spc="-164" dirty="0">
                <a:solidFill>
                  <a:srgbClr val="002B49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Warum RDF Wissen als Graph beschreibt</a:t>
            </a:r>
            <a:endParaRPr lang="en-US" sz="2740" dirty="0"/>
          </a:p>
        </p:txBody>
      </p:sp>
      <p:sp>
        <p:nvSpPr>
          <p:cNvPr id="7" name="Text 5"/>
          <p:cNvSpPr/>
          <p:nvPr/>
        </p:nvSpPr>
        <p:spPr>
          <a:xfrm>
            <a:off x="640035" y="1497062"/>
            <a:ext cx="5037817" cy="20478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90" dirty="0">
                <a:solidFill>
                  <a:srgbClr val="414E57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- RDF modelliert </a:t>
            </a:r>
            <a:r>
              <a:rPr lang="en-US" sz="1190" dirty="0" err="1">
                <a:solidFill>
                  <a:srgbClr val="414E57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Aussagen</a:t>
            </a:r>
            <a:r>
              <a:rPr lang="en-US" sz="1190" dirty="0">
                <a:solidFill>
                  <a:srgbClr val="414E57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 </a:t>
            </a:r>
            <a:r>
              <a:rPr lang="en-US" sz="1190" dirty="0" err="1">
                <a:solidFill>
                  <a:srgbClr val="414E57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als</a:t>
            </a:r>
            <a:r>
              <a:rPr lang="en-US" sz="1190" dirty="0">
                <a:solidFill>
                  <a:srgbClr val="414E57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 Beziehungen</a:t>
            </a:r>
            <a:endParaRPr lang="en-US" sz="1190" dirty="0"/>
          </a:p>
        </p:txBody>
      </p:sp>
      <p:sp>
        <p:nvSpPr>
          <p:cNvPr id="8" name="Text 6"/>
          <p:cNvSpPr/>
          <p:nvPr/>
        </p:nvSpPr>
        <p:spPr>
          <a:xfrm>
            <a:off x="640035" y="1916683"/>
            <a:ext cx="5197048" cy="20478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90" dirty="0">
                <a:solidFill>
                  <a:srgbClr val="414E57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- Jede Aussage besteht aus Subjekt, Prädikat und Objekt</a:t>
            </a:r>
            <a:endParaRPr lang="en-US" sz="1190" dirty="0"/>
          </a:p>
        </p:txBody>
      </p:sp>
      <p:sp>
        <p:nvSpPr>
          <p:cNvPr id="9" name="Text 7"/>
          <p:cNvSpPr/>
          <p:nvPr/>
        </p:nvSpPr>
        <p:spPr>
          <a:xfrm>
            <a:off x="640035" y="2336304"/>
            <a:ext cx="4445295" cy="20478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90" dirty="0">
                <a:solidFill>
                  <a:srgbClr val="414E57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- Der Graph verbindet einzelne Fakten zu einem</a:t>
            </a:r>
            <a:endParaRPr lang="en-US" sz="1190" dirty="0"/>
          </a:p>
        </p:txBody>
      </p:sp>
      <p:sp>
        <p:nvSpPr>
          <p:cNvPr id="10" name="Text 8"/>
          <p:cNvSpPr/>
          <p:nvPr/>
        </p:nvSpPr>
        <p:spPr>
          <a:xfrm>
            <a:off x="640035" y="2524944"/>
            <a:ext cx="2797746" cy="20478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90" dirty="0">
                <a:solidFill>
                  <a:srgbClr val="414E57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erweiterbaren Wissensmodell</a:t>
            </a:r>
            <a:endParaRPr lang="en-US" sz="1190" dirty="0"/>
          </a:p>
        </p:txBody>
      </p:sp>
      <p:sp>
        <p:nvSpPr>
          <p:cNvPr id="11" name="Text 9"/>
          <p:cNvSpPr/>
          <p:nvPr/>
        </p:nvSpPr>
        <p:spPr>
          <a:xfrm>
            <a:off x="640035" y="2944564"/>
            <a:ext cx="5083865" cy="20478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90" dirty="0">
                <a:solidFill>
                  <a:srgbClr val="414E57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- Nutzen: Daten aus unterschiedlichen Quellen können</a:t>
            </a:r>
            <a:endParaRPr lang="en-US" sz="1190" dirty="0"/>
          </a:p>
        </p:txBody>
      </p:sp>
      <p:sp>
        <p:nvSpPr>
          <p:cNvPr id="12" name="Text 10"/>
          <p:cNvSpPr/>
          <p:nvPr/>
        </p:nvSpPr>
        <p:spPr>
          <a:xfrm>
            <a:off x="640035" y="3133204"/>
            <a:ext cx="2976905" cy="20478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90" dirty="0">
                <a:solidFill>
                  <a:srgbClr val="414E57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gemeinsam verstanden werden</a:t>
            </a:r>
            <a:endParaRPr lang="en-US" sz="1190" dirty="0"/>
          </a:p>
        </p:txBody>
      </p:sp>
      <p:sp>
        <p:nvSpPr>
          <p:cNvPr id="13" name="Shape 11"/>
          <p:cNvSpPr/>
          <p:nvPr/>
        </p:nvSpPr>
        <p:spPr>
          <a:xfrm>
            <a:off x="5487405" y="1441066"/>
            <a:ext cx="2924175" cy="2209800"/>
          </a:xfrm>
          <a:prstGeom prst="rect">
            <a:avLst/>
          </a:prstGeom>
          <a:solidFill>
            <a:srgbClr val="002B49"/>
          </a:solidFill>
          <a:ln/>
          <a:effectLst>
            <a:outerShdw blurRad="101600" dist="103453" dir="2700000" algn="bl" rotWithShape="0">
              <a:srgbClr val="D8232A">
                <a:alpha val="100000"/>
              </a:srgbClr>
            </a:outerShdw>
          </a:effectLst>
        </p:spPr>
        <p:txBody>
          <a:bodyPr/>
          <a:lstStyle/>
          <a:p>
            <a:endParaRPr lang="de-CH"/>
          </a:p>
        </p:txBody>
      </p:sp>
      <p:pic>
        <p:nvPicPr>
          <p:cNvPr id="14" name="Image 0" descr="preencoded.png"/>
          <p:cNvPicPr>
            <a:picLocks noChangeAspect="1"/>
          </p:cNvPicPr>
          <p:nvPr/>
        </p:nvPicPr>
        <p:blipFill>
          <a:blip r:embed="rId3">
            <a:alphaModFix amt="70000"/>
          </a:blip>
          <a:stretch>
            <a:fillRect/>
          </a:stretch>
        </p:blipFill>
        <p:spPr>
          <a:xfrm>
            <a:off x="5486474" y="1440135"/>
            <a:ext cx="2926035" cy="2211660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5669310" y="2754734"/>
            <a:ext cx="2314635" cy="1190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720" kern="0" spc="115" dirty="0">
                <a:solidFill>
                  <a:srgbClr val="879CA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RDF ALS GERICHTETER GRAPH</a:t>
            </a:r>
            <a:endParaRPr lang="en-US" sz="720" dirty="0"/>
          </a:p>
        </p:txBody>
      </p:sp>
      <p:sp>
        <p:nvSpPr>
          <p:cNvPr id="16" name="Text 13"/>
          <p:cNvSpPr/>
          <p:nvPr/>
        </p:nvSpPr>
        <p:spPr>
          <a:xfrm>
            <a:off x="5669310" y="2967856"/>
            <a:ext cx="2083043" cy="5077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440" b="1" dirty="0">
                <a:solidFill>
                  <a:srgbClr val="F5F7F9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Aussagen werden</a:t>
            </a:r>
            <a:endParaRPr lang="en-US" sz="1440" dirty="0"/>
          </a:p>
          <a:p>
            <a:pPr marL="0" indent="0" algn="l">
              <a:lnSpc>
                <a:spcPts val="2160"/>
              </a:lnSpc>
              <a:buNone/>
            </a:pPr>
            <a:r>
              <a:rPr lang="en-US" sz="1440" b="1" dirty="0">
                <a:solidFill>
                  <a:srgbClr val="F5F7F9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Beziehungen.</a:t>
            </a:r>
            <a:endParaRPr lang="en-US" sz="1440" dirty="0"/>
          </a:p>
        </p:txBody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40966" y="1388976"/>
            <a:ext cx="4295775" cy="419100"/>
          </a:xfrm>
          <a:prstGeom prst="rect">
            <a:avLst/>
          </a:prstGeom>
        </p:spPr>
      </p:pic>
      <p:pic>
        <p:nvPicPr>
          <p:cNvPr id="18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40966" y="1808597"/>
            <a:ext cx="4295775" cy="419100"/>
          </a:xfrm>
          <a:prstGeom prst="rect">
            <a:avLst/>
          </a:prstGeom>
        </p:spPr>
      </p:pic>
      <p:pic>
        <p:nvPicPr>
          <p:cNvPr id="19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40966" y="2227287"/>
            <a:ext cx="4295775" cy="609600"/>
          </a:xfrm>
          <a:prstGeom prst="rect">
            <a:avLst/>
          </a:prstGeom>
        </p:spPr>
      </p:pic>
      <p:pic>
        <p:nvPicPr>
          <p:cNvPr id="20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40966" y="2835548"/>
            <a:ext cx="4295775" cy="614363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5F7F9"/>
          </a:solidFill>
          <a:ln/>
        </p:spPr>
        <p:txBody>
          <a:bodyPr/>
          <a:lstStyle/>
          <a:p>
            <a:endParaRPr lang="de-CH"/>
          </a:p>
        </p:txBody>
      </p:sp>
      <p:sp>
        <p:nvSpPr>
          <p:cNvPr id="3" name="Shape 1"/>
          <p:cNvSpPr/>
          <p:nvPr/>
        </p:nvSpPr>
        <p:spPr>
          <a:xfrm>
            <a:off x="0" y="-484"/>
            <a:ext cx="9144000" cy="52388"/>
          </a:xfrm>
          <a:prstGeom prst="rect">
            <a:avLst/>
          </a:prstGeom>
          <a:solidFill>
            <a:srgbClr val="D8232A"/>
          </a:solidFill>
          <a:ln/>
        </p:spPr>
        <p:txBody>
          <a:bodyPr/>
          <a:lstStyle/>
          <a:p>
            <a:endParaRPr lang="de-CH"/>
          </a:p>
        </p:txBody>
      </p:sp>
      <p:sp>
        <p:nvSpPr>
          <p:cNvPr id="4" name="Text 2"/>
          <p:cNvSpPr/>
          <p:nvPr/>
        </p:nvSpPr>
        <p:spPr>
          <a:xfrm>
            <a:off x="640035" y="266700"/>
            <a:ext cx="1725692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60" b="1" kern="0" spc="156" dirty="0">
                <a:solidFill>
                  <a:srgbClr val="D8232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02 | GRUNDLAGEN</a:t>
            </a:r>
            <a:endParaRPr lang="en-US" sz="860" dirty="0"/>
          </a:p>
        </p:txBody>
      </p:sp>
      <p:sp>
        <p:nvSpPr>
          <p:cNvPr id="5" name="Text 3"/>
          <p:cNvSpPr/>
          <p:nvPr/>
        </p:nvSpPr>
        <p:spPr>
          <a:xfrm>
            <a:off x="640035" y="451619"/>
            <a:ext cx="7987077" cy="4429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648"/>
              </a:spcBef>
              <a:buNone/>
            </a:pPr>
            <a:r>
              <a:rPr lang="en-US" sz="2740" b="1" kern="0" spc="-164" dirty="0">
                <a:solidFill>
                  <a:srgbClr val="002B49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Das Triple als kleinste Informationseinheit</a:t>
            </a:r>
            <a:endParaRPr lang="en-US" sz="2740" dirty="0"/>
          </a:p>
        </p:txBody>
      </p:sp>
      <p:sp>
        <p:nvSpPr>
          <p:cNvPr id="6" name="Shape 4"/>
          <p:cNvSpPr/>
          <p:nvPr/>
        </p:nvSpPr>
        <p:spPr>
          <a:xfrm>
            <a:off x="639812" y="1388938"/>
            <a:ext cx="2524125" cy="985838"/>
          </a:xfrm>
          <a:prstGeom prst="rect">
            <a:avLst/>
          </a:prstGeom>
          <a:solidFill>
            <a:srgbClr val="EEF2F4"/>
          </a:solidFill>
          <a:ln/>
        </p:spPr>
        <p:txBody>
          <a:bodyPr/>
          <a:lstStyle/>
          <a:p>
            <a:endParaRPr lang="de-CH"/>
          </a:p>
        </p:txBody>
      </p:sp>
      <p:sp>
        <p:nvSpPr>
          <p:cNvPr id="7" name="Text 5"/>
          <p:cNvSpPr/>
          <p:nvPr/>
        </p:nvSpPr>
        <p:spPr>
          <a:xfrm>
            <a:off x="804565" y="1550194"/>
            <a:ext cx="672599" cy="1190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720" kern="0" spc="101" dirty="0">
                <a:solidFill>
                  <a:srgbClr val="D8232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SUBJEKT</a:t>
            </a:r>
            <a:endParaRPr lang="en-US" sz="720" dirty="0"/>
          </a:p>
        </p:txBody>
      </p:sp>
      <p:sp>
        <p:nvSpPr>
          <p:cNvPr id="8" name="Text 6"/>
          <p:cNvSpPr/>
          <p:nvPr/>
        </p:nvSpPr>
        <p:spPr>
          <a:xfrm>
            <a:off x="804565" y="1763316"/>
            <a:ext cx="2168076" cy="4679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97"/>
              </a:lnSpc>
              <a:buNone/>
            </a:pPr>
            <a:r>
              <a:rPr lang="en-US" sz="1330" b="1" dirty="0">
                <a:solidFill>
                  <a:srgbClr val="002B49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Worüber wird etwas</a:t>
            </a:r>
            <a:endParaRPr lang="en-US" sz="1330" dirty="0"/>
          </a:p>
          <a:p>
            <a:pPr marL="0" indent="0" algn="l">
              <a:lnSpc>
                <a:spcPts val="1997"/>
              </a:lnSpc>
              <a:buNone/>
            </a:pPr>
            <a:r>
              <a:rPr lang="en-US" sz="1330" b="1" dirty="0">
                <a:solidFill>
                  <a:srgbClr val="002B49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ausgesagt?</a:t>
            </a:r>
            <a:endParaRPr lang="en-US" sz="1330" dirty="0"/>
          </a:p>
        </p:txBody>
      </p:sp>
      <p:sp>
        <p:nvSpPr>
          <p:cNvPr id="9" name="Shape 7"/>
          <p:cNvSpPr/>
          <p:nvPr/>
        </p:nvSpPr>
        <p:spPr>
          <a:xfrm>
            <a:off x="3309826" y="1388938"/>
            <a:ext cx="2524125" cy="985838"/>
          </a:xfrm>
          <a:prstGeom prst="rect">
            <a:avLst/>
          </a:prstGeom>
          <a:solidFill>
            <a:srgbClr val="EEF2F4"/>
          </a:solidFill>
          <a:ln/>
        </p:spPr>
        <p:txBody>
          <a:bodyPr/>
          <a:lstStyle/>
          <a:p>
            <a:endParaRPr lang="de-CH"/>
          </a:p>
        </p:txBody>
      </p:sp>
      <p:sp>
        <p:nvSpPr>
          <p:cNvPr id="10" name="Text 8"/>
          <p:cNvSpPr/>
          <p:nvPr/>
        </p:nvSpPr>
        <p:spPr>
          <a:xfrm>
            <a:off x="3474541" y="1550194"/>
            <a:ext cx="760534" cy="1190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720" kern="0" spc="101" dirty="0">
                <a:solidFill>
                  <a:srgbClr val="002B4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PRÄDIKAT</a:t>
            </a:r>
            <a:endParaRPr lang="en-US" sz="720" dirty="0"/>
          </a:p>
        </p:txBody>
      </p:sp>
      <p:sp>
        <p:nvSpPr>
          <p:cNvPr id="11" name="Text 9"/>
          <p:cNvSpPr/>
          <p:nvPr/>
        </p:nvSpPr>
        <p:spPr>
          <a:xfrm>
            <a:off x="3474541" y="1763316"/>
            <a:ext cx="2545646" cy="4679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97"/>
              </a:lnSpc>
              <a:buNone/>
            </a:pPr>
            <a:r>
              <a:rPr lang="en-US" sz="1330" b="1" dirty="0">
                <a:solidFill>
                  <a:srgbClr val="002B49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Welche Beziehung oder</a:t>
            </a:r>
            <a:endParaRPr lang="en-US" sz="1330" dirty="0"/>
          </a:p>
          <a:p>
            <a:pPr marL="0" indent="0" algn="l">
              <a:lnSpc>
                <a:spcPts val="1997"/>
              </a:lnSpc>
              <a:buNone/>
            </a:pPr>
            <a:r>
              <a:rPr lang="en-US" sz="1330" b="1" dirty="0">
                <a:solidFill>
                  <a:srgbClr val="002B49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Eigenschaft besteht?</a:t>
            </a:r>
            <a:endParaRPr lang="en-US" sz="1330" dirty="0"/>
          </a:p>
        </p:txBody>
      </p:sp>
      <p:sp>
        <p:nvSpPr>
          <p:cNvPr id="12" name="Shape 10"/>
          <p:cNvSpPr/>
          <p:nvPr/>
        </p:nvSpPr>
        <p:spPr>
          <a:xfrm>
            <a:off x="5979877" y="1388938"/>
            <a:ext cx="2524125" cy="985838"/>
          </a:xfrm>
          <a:prstGeom prst="rect">
            <a:avLst/>
          </a:prstGeom>
          <a:solidFill>
            <a:srgbClr val="EEF2F4"/>
          </a:solidFill>
          <a:ln/>
        </p:spPr>
        <p:txBody>
          <a:bodyPr/>
          <a:lstStyle/>
          <a:p>
            <a:endParaRPr lang="de-CH"/>
          </a:p>
        </p:txBody>
      </p:sp>
      <p:sp>
        <p:nvSpPr>
          <p:cNvPr id="13" name="Text 11"/>
          <p:cNvSpPr/>
          <p:nvPr/>
        </p:nvSpPr>
        <p:spPr>
          <a:xfrm>
            <a:off x="6144592" y="1550194"/>
            <a:ext cx="584664" cy="1190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720" kern="0" spc="101" dirty="0">
                <a:solidFill>
                  <a:srgbClr val="D8232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OBJEKT</a:t>
            </a:r>
            <a:endParaRPr lang="en-US" sz="720" dirty="0"/>
          </a:p>
        </p:txBody>
      </p:sp>
      <p:sp>
        <p:nvSpPr>
          <p:cNvPr id="14" name="Text 12"/>
          <p:cNvSpPr/>
          <p:nvPr/>
        </p:nvSpPr>
        <p:spPr>
          <a:xfrm>
            <a:off x="6144592" y="1763316"/>
            <a:ext cx="2703716" cy="4679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97"/>
              </a:lnSpc>
              <a:buNone/>
            </a:pPr>
            <a:r>
              <a:rPr lang="en-US" sz="1330" b="1" dirty="0">
                <a:solidFill>
                  <a:srgbClr val="002B49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Womit oder mit welchem</a:t>
            </a:r>
            <a:endParaRPr lang="en-US" sz="1330" dirty="0"/>
          </a:p>
          <a:p>
            <a:pPr marL="0" indent="0" algn="l">
              <a:lnSpc>
                <a:spcPts val="1997"/>
              </a:lnSpc>
              <a:buNone/>
            </a:pPr>
            <a:r>
              <a:rPr lang="en-US" sz="1330" b="1" dirty="0">
                <a:solidFill>
                  <a:srgbClr val="002B49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Wert wird es verbunden?</a:t>
            </a:r>
            <a:endParaRPr lang="en-US" sz="1330" dirty="0"/>
          </a:p>
        </p:txBody>
      </p:sp>
      <p:sp>
        <p:nvSpPr>
          <p:cNvPr id="15" name="Shape 13"/>
          <p:cNvSpPr/>
          <p:nvPr/>
        </p:nvSpPr>
        <p:spPr>
          <a:xfrm>
            <a:off x="640482" y="3734023"/>
            <a:ext cx="7862887" cy="895350"/>
          </a:xfrm>
          <a:prstGeom prst="rect">
            <a:avLst/>
          </a:prstGeom>
          <a:solidFill>
            <a:srgbClr val="002B49"/>
          </a:solidFill>
          <a:ln/>
        </p:spPr>
        <p:txBody>
          <a:bodyPr/>
          <a:lstStyle/>
          <a:p>
            <a:endParaRPr lang="de-CH"/>
          </a:p>
        </p:txBody>
      </p:sp>
      <p:sp>
        <p:nvSpPr>
          <p:cNvPr id="16" name="Text 14"/>
          <p:cNvSpPr/>
          <p:nvPr/>
        </p:nvSpPr>
        <p:spPr>
          <a:xfrm>
            <a:off x="896020" y="3983534"/>
            <a:ext cx="4830797" cy="20478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90" dirty="0">
                <a:solidFill>
                  <a:srgbClr val="F5F7F9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- Nutzen: Jede Aussage bleibt eindeutig prüfbar und</a:t>
            </a:r>
            <a:endParaRPr lang="en-US" sz="1190" dirty="0"/>
          </a:p>
        </p:txBody>
      </p:sp>
      <p:sp>
        <p:nvSpPr>
          <p:cNvPr id="17" name="Text 15"/>
          <p:cNvSpPr/>
          <p:nvPr/>
        </p:nvSpPr>
        <p:spPr>
          <a:xfrm>
            <a:off x="896020" y="4172173"/>
            <a:ext cx="1310007" cy="20478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90" dirty="0">
                <a:solidFill>
                  <a:srgbClr val="F5F7F9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kombinierbar</a:t>
            </a:r>
            <a:endParaRPr lang="en-US" sz="1190" dirty="0"/>
          </a:p>
        </p:txBody>
      </p:sp>
      <p:sp>
        <p:nvSpPr>
          <p:cNvPr id="18" name="Shape 16"/>
          <p:cNvSpPr/>
          <p:nvPr/>
        </p:nvSpPr>
        <p:spPr>
          <a:xfrm>
            <a:off x="5261409" y="3888804"/>
            <a:ext cx="2986088" cy="585788"/>
          </a:xfrm>
          <a:prstGeom prst="rect">
            <a:avLst/>
          </a:prstGeom>
          <a:ln/>
        </p:spPr>
        <p:txBody>
          <a:bodyPr/>
          <a:lstStyle/>
          <a:p>
            <a:endParaRPr lang="de-CH"/>
          </a:p>
        </p:txBody>
      </p:sp>
      <p:sp>
        <p:nvSpPr>
          <p:cNvPr id="19" name="Text 17"/>
          <p:cNvSpPr/>
          <p:nvPr/>
        </p:nvSpPr>
        <p:spPr>
          <a:xfrm>
            <a:off x="5448672" y="3893269"/>
            <a:ext cx="779591" cy="1190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720" kern="0" spc="115" dirty="0">
                <a:solidFill>
                  <a:srgbClr val="879CA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BEISPIEL</a:t>
            </a:r>
            <a:endParaRPr lang="en-US" sz="720" dirty="0"/>
          </a:p>
        </p:txBody>
      </p:sp>
      <p:sp>
        <p:nvSpPr>
          <p:cNvPr id="20" name="Text 18"/>
          <p:cNvSpPr/>
          <p:nvPr/>
        </p:nvSpPr>
        <p:spPr>
          <a:xfrm>
            <a:off x="5448672" y="4086597"/>
            <a:ext cx="2355555" cy="3751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66"/>
              </a:lnSpc>
              <a:buNone/>
            </a:pPr>
            <a:r>
              <a:rPr lang="en-US" sz="1040" kern="0" spc="-21" dirty="0">
                <a:solidFill>
                  <a:srgbClr val="D8232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:buch17 :geschriebenVon</a:t>
            </a:r>
            <a:endParaRPr lang="en-US" sz="1040" dirty="0"/>
          </a:p>
          <a:p>
            <a:pPr marL="0" indent="0" algn="l">
              <a:lnSpc>
                <a:spcPts val="1566"/>
              </a:lnSpc>
              <a:buNone/>
            </a:pPr>
            <a:r>
              <a:rPr lang="en-US" sz="1040" kern="0" spc="-21" dirty="0">
                <a:solidFill>
                  <a:srgbClr val="D8232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:AutorinMeyer .</a:t>
            </a:r>
            <a:endParaRPr lang="en-US" sz="1040" dirty="0"/>
          </a:p>
        </p:txBody>
      </p:sp>
      <p:pic>
        <p:nvPicPr>
          <p:cNvPr id="21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39812" y="1388938"/>
            <a:ext cx="2524125" cy="985838"/>
          </a:xfrm>
          <a:prstGeom prst="rect">
            <a:avLst/>
          </a:prstGeom>
        </p:spPr>
      </p:pic>
      <p:pic>
        <p:nvPicPr>
          <p:cNvPr id="22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309826" y="1388938"/>
            <a:ext cx="2524125" cy="985838"/>
          </a:xfrm>
          <a:prstGeom prst="rect">
            <a:avLst/>
          </a:prstGeom>
        </p:spPr>
      </p:pic>
      <p:pic>
        <p:nvPicPr>
          <p:cNvPr id="23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979877" y="1388938"/>
            <a:ext cx="2524125" cy="985838"/>
          </a:xfrm>
          <a:prstGeom prst="rect">
            <a:avLst/>
          </a:prstGeom>
        </p:spPr>
      </p:pic>
      <p:pic>
        <p:nvPicPr>
          <p:cNvPr id="24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261409" y="3888804"/>
            <a:ext cx="2986088" cy="58578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EF2F4"/>
          </a:solidFill>
          <a:ln/>
        </p:spPr>
        <p:txBody>
          <a:bodyPr/>
          <a:lstStyle/>
          <a:p>
            <a:endParaRPr lang="de-CH"/>
          </a:p>
        </p:txBody>
      </p:sp>
      <p:sp>
        <p:nvSpPr>
          <p:cNvPr id="3" name="Shape 1"/>
          <p:cNvSpPr/>
          <p:nvPr/>
        </p:nvSpPr>
        <p:spPr>
          <a:xfrm>
            <a:off x="-484" y="0"/>
            <a:ext cx="3567113" cy="5143500"/>
          </a:xfrm>
          <a:prstGeom prst="rect">
            <a:avLst/>
          </a:prstGeom>
          <a:solidFill>
            <a:srgbClr val="002B49"/>
          </a:solidFill>
          <a:ln/>
        </p:spPr>
        <p:txBody>
          <a:bodyPr/>
          <a:lstStyle/>
          <a:p>
            <a:endParaRPr lang="de-CH"/>
          </a:p>
        </p:txBody>
      </p:sp>
      <p:sp>
        <p:nvSpPr>
          <p:cNvPr id="4" name="Shape 2"/>
          <p:cNvSpPr/>
          <p:nvPr/>
        </p:nvSpPr>
        <p:spPr>
          <a:xfrm>
            <a:off x="0" y="-484"/>
            <a:ext cx="9144000" cy="52388"/>
          </a:xfrm>
          <a:prstGeom prst="rect">
            <a:avLst/>
          </a:prstGeom>
          <a:solidFill>
            <a:srgbClr val="D8232A"/>
          </a:solidFill>
          <a:ln/>
        </p:spPr>
        <p:txBody>
          <a:bodyPr/>
          <a:lstStyle/>
          <a:p>
            <a:endParaRPr lang="de-CH"/>
          </a:p>
        </p:txBody>
      </p:sp>
      <p:sp>
        <p:nvSpPr>
          <p:cNvPr id="5" name="Text 3"/>
          <p:cNvSpPr/>
          <p:nvPr/>
        </p:nvSpPr>
        <p:spPr>
          <a:xfrm>
            <a:off x="640035" y="420960"/>
            <a:ext cx="1614443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60" b="1" kern="0" spc="156" dirty="0">
                <a:solidFill>
                  <a:srgbClr val="D8232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03 | IDENTITÄT</a:t>
            </a:r>
            <a:endParaRPr lang="en-US" sz="860" dirty="0"/>
          </a:p>
        </p:txBody>
      </p:sp>
      <p:sp>
        <p:nvSpPr>
          <p:cNvPr id="6" name="Text 4"/>
          <p:cNvSpPr/>
          <p:nvPr/>
        </p:nvSpPr>
        <p:spPr>
          <a:xfrm>
            <a:off x="640035" y="621729"/>
            <a:ext cx="2261815" cy="4095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810"/>
              </a:spcBef>
              <a:buNone/>
            </a:pPr>
            <a:r>
              <a:rPr lang="en-US" sz="2520" b="1" kern="0" spc="-164" dirty="0">
                <a:solidFill>
                  <a:srgbClr val="F5F7F9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IRIs schaffen</a:t>
            </a:r>
            <a:endParaRPr lang="en-US" sz="2520" dirty="0"/>
          </a:p>
        </p:txBody>
      </p:sp>
      <p:sp>
        <p:nvSpPr>
          <p:cNvPr id="7" name="Text 5"/>
          <p:cNvSpPr/>
          <p:nvPr/>
        </p:nvSpPr>
        <p:spPr>
          <a:xfrm>
            <a:off x="640035" y="922511"/>
            <a:ext cx="1354991" cy="4095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810"/>
              </a:spcBef>
              <a:buNone/>
            </a:pPr>
            <a:r>
              <a:rPr lang="en-US" sz="2520" b="1" kern="0" spc="-164" dirty="0">
                <a:solidFill>
                  <a:srgbClr val="F5F7F9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globale</a:t>
            </a:r>
            <a:endParaRPr lang="en-US" sz="2520" dirty="0"/>
          </a:p>
        </p:txBody>
      </p:sp>
      <p:sp>
        <p:nvSpPr>
          <p:cNvPr id="8" name="Text 6"/>
          <p:cNvSpPr/>
          <p:nvPr/>
        </p:nvSpPr>
        <p:spPr>
          <a:xfrm>
            <a:off x="640035" y="1223293"/>
            <a:ext cx="2392799" cy="4095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810"/>
              </a:spcBef>
              <a:buNone/>
            </a:pPr>
            <a:r>
              <a:rPr lang="en-US" sz="2520" b="1" kern="0" spc="-164" dirty="0">
                <a:solidFill>
                  <a:srgbClr val="F5F7F9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Eindeutigkeit</a:t>
            </a:r>
            <a:endParaRPr lang="en-US" sz="2520" dirty="0"/>
          </a:p>
        </p:txBody>
      </p:sp>
      <p:sp>
        <p:nvSpPr>
          <p:cNvPr id="9" name="Text 7"/>
          <p:cNvSpPr/>
          <p:nvPr/>
        </p:nvSpPr>
        <p:spPr>
          <a:xfrm>
            <a:off x="640035" y="1721197"/>
            <a:ext cx="2352362" cy="1952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1215"/>
              </a:spcBef>
              <a:buNone/>
            </a:pPr>
            <a:r>
              <a:rPr lang="en-US" sz="1120" dirty="0">
                <a:solidFill>
                  <a:srgbClr val="F3F5F8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Eine Ressource bleibt über</a:t>
            </a:r>
            <a:endParaRPr lang="en-US" sz="1120" dirty="0"/>
          </a:p>
        </p:txBody>
      </p:sp>
      <p:sp>
        <p:nvSpPr>
          <p:cNvPr id="10" name="Text 8"/>
          <p:cNvSpPr/>
          <p:nvPr/>
        </p:nvSpPr>
        <p:spPr>
          <a:xfrm>
            <a:off x="640035" y="1891308"/>
            <a:ext cx="1946449" cy="1952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1215"/>
              </a:spcBef>
              <a:buNone/>
            </a:pPr>
            <a:r>
              <a:rPr lang="en-US" sz="1120" dirty="0">
                <a:solidFill>
                  <a:srgbClr val="F3F5F8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Dateien, Systeme und</a:t>
            </a:r>
            <a:endParaRPr lang="en-US" sz="1120" dirty="0"/>
          </a:p>
        </p:txBody>
      </p:sp>
      <p:sp>
        <p:nvSpPr>
          <p:cNvPr id="11" name="Text 9"/>
          <p:cNvSpPr/>
          <p:nvPr/>
        </p:nvSpPr>
        <p:spPr>
          <a:xfrm>
            <a:off x="640035" y="2061418"/>
            <a:ext cx="2826864" cy="1952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1215"/>
              </a:spcBef>
              <a:buNone/>
            </a:pPr>
            <a:r>
              <a:rPr lang="en-US" sz="1120" dirty="0">
                <a:solidFill>
                  <a:srgbClr val="F3F5F8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Anwendungen hinweg dieselbe.</a:t>
            </a:r>
            <a:endParaRPr lang="en-US" sz="1120" dirty="0"/>
          </a:p>
        </p:txBody>
      </p:sp>
      <p:sp>
        <p:nvSpPr>
          <p:cNvPr id="12" name="Text 10"/>
          <p:cNvSpPr/>
          <p:nvPr/>
        </p:nvSpPr>
        <p:spPr>
          <a:xfrm>
            <a:off x="640035" y="2272605"/>
            <a:ext cx="1791280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Aft>
                <a:spcPts val="891"/>
              </a:spcAft>
              <a:buNone/>
            </a:pPr>
            <a:endParaRPr lang="en-US" sz="860" dirty="0"/>
          </a:p>
        </p:txBody>
      </p:sp>
      <p:sp>
        <p:nvSpPr>
          <p:cNvPr id="13" name="Shape 11"/>
          <p:cNvSpPr/>
          <p:nvPr/>
        </p:nvSpPr>
        <p:spPr>
          <a:xfrm>
            <a:off x="639068" y="2541166"/>
            <a:ext cx="2562225" cy="519112"/>
          </a:xfrm>
          <a:prstGeom prst="rect">
            <a:avLst/>
          </a:prstGeom>
          <a:ln/>
        </p:spPr>
        <p:txBody>
          <a:bodyPr/>
          <a:lstStyle/>
          <a:p>
            <a:endParaRPr lang="de-CH"/>
          </a:p>
        </p:txBody>
      </p:sp>
      <p:sp>
        <p:nvSpPr>
          <p:cNvPr id="14" name="Text 12"/>
          <p:cNvSpPr/>
          <p:nvPr/>
        </p:nvSpPr>
        <p:spPr>
          <a:xfrm>
            <a:off x="640035" y="2618705"/>
            <a:ext cx="2718033" cy="1952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20" dirty="0">
                <a:solidFill>
                  <a:srgbClr val="F4F6F9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- IRIs identifizieren Ressourcen</a:t>
            </a:r>
            <a:endParaRPr lang="en-US" sz="1120" dirty="0"/>
          </a:p>
        </p:txBody>
      </p:sp>
      <p:sp>
        <p:nvSpPr>
          <p:cNvPr id="15" name="Text 13"/>
          <p:cNvSpPr/>
          <p:nvPr/>
        </p:nvSpPr>
        <p:spPr>
          <a:xfrm>
            <a:off x="640035" y="2788816"/>
            <a:ext cx="3316069" cy="1952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20" dirty="0">
                <a:solidFill>
                  <a:srgbClr val="F4F6F9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unabhängig vom lokalen Dateinamen</a:t>
            </a:r>
            <a:endParaRPr lang="en-US" sz="1120" dirty="0"/>
          </a:p>
        </p:txBody>
      </p:sp>
      <p:sp>
        <p:nvSpPr>
          <p:cNvPr id="16" name="Shape 14"/>
          <p:cNvSpPr/>
          <p:nvPr/>
        </p:nvSpPr>
        <p:spPr>
          <a:xfrm>
            <a:off x="639068" y="3060353"/>
            <a:ext cx="2562225" cy="690562"/>
          </a:xfrm>
          <a:prstGeom prst="rect">
            <a:avLst/>
          </a:prstGeom>
          <a:ln/>
        </p:spPr>
        <p:txBody>
          <a:bodyPr/>
          <a:lstStyle/>
          <a:p>
            <a:endParaRPr lang="de-CH"/>
          </a:p>
        </p:txBody>
      </p:sp>
      <p:sp>
        <p:nvSpPr>
          <p:cNvPr id="17" name="Text 15"/>
          <p:cNvSpPr/>
          <p:nvPr/>
        </p:nvSpPr>
        <p:spPr>
          <a:xfrm>
            <a:off x="640035" y="3138562"/>
            <a:ext cx="2454808" cy="1952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20" dirty="0">
                <a:solidFill>
                  <a:srgbClr val="F4F6F9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- Gleiche Begriffe können in</a:t>
            </a:r>
            <a:endParaRPr lang="en-US" sz="1120" dirty="0"/>
          </a:p>
        </p:txBody>
      </p:sp>
      <p:sp>
        <p:nvSpPr>
          <p:cNvPr id="18" name="Text 16"/>
          <p:cNvSpPr/>
          <p:nvPr/>
        </p:nvSpPr>
        <p:spPr>
          <a:xfrm>
            <a:off x="640035" y="3308672"/>
            <a:ext cx="3084188" cy="1952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20" dirty="0">
                <a:solidFill>
                  <a:srgbClr val="F4F6F9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verschiedenen Systemen eindeutig</a:t>
            </a:r>
            <a:endParaRPr lang="en-US" sz="1120" dirty="0"/>
          </a:p>
        </p:txBody>
      </p:sp>
      <p:sp>
        <p:nvSpPr>
          <p:cNvPr id="19" name="Text 17"/>
          <p:cNvSpPr/>
          <p:nvPr/>
        </p:nvSpPr>
        <p:spPr>
          <a:xfrm>
            <a:off x="640035" y="3478783"/>
            <a:ext cx="1771256" cy="1952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20" dirty="0">
                <a:solidFill>
                  <a:srgbClr val="F4F6F9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referenziert werden</a:t>
            </a:r>
            <a:endParaRPr lang="en-US" sz="1120" dirty="0"/>
          </a:p>
        </p:txBody>
      </p:sp>
      <p:sp>
        <p:nvSpPr>
          <p:cNvPr id="20" name="Shape 18"/>
          <p:cNvSpPr/>
          <p:nvPr/>
        </p:nvSpPr>
        <p:spPr>
          <a:xfrm>
            <a:off x="639068" y="3750990"/>
            <a:ext cx="2562225" cy="519112"/>
          </a:xfrm>
          <a:prstGeom prst="rect">
            <a:avLst/>
          </a:prstGeom>
          <a:ln/>
        </p:spPr>
        <p:txBody>
          <a:bodyPr/>
          <a:lstStyle/>
          <a:p>
            <a:endParaRPr lang="de-CH"/>
          </a:p>
        </p:txBody>
      </p:sp>
      <p:sp>
        <p:nvSpPr>
          <p:cNvPr id="21" name="Text 19"/>
          <p:cNvSpPr/>
          <p:nvPr/>
        </p:nvSpPr>
        <p:spPr>
          <a:xfrm>
            <a:off x="640035" y="3828529"/>
            <a:ext cx="3375370" cy="1952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20" dirty="0">
                <a:solidFill>
                  <a:srgbClr val="F4F6F9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- Ressourcen bleiben über Dokumente</a:t>
            </a:r>
            <a:endParaRPr lang="en-US" sz="1120" dirty="0"/>
          </a:p>
        </p:txBody>
      </p:sp>
      <p:sp>
        <p:nvSpPr>
          <p:cNvPr id="22" name="Text 20"/>
          <p:cNvSpPr/>
          <p:nvPr/>
        </p:nvSpPr>
        <p:spPr>
          <a:xfrm>
            <a:off x="640035" y="3998640"/>
            <a:ext cx="3356022" cy="1952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20" dirty="0">
                <a:solidFill>
                  <a:srgbClr val="F4F6F9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und Anwendungen hinweg auffindbar</a:t>
            </a:r>
            <a:endParaRPr lang="en-US" sz="1120" dirty="0"/>
          </a:p>
        </p:txBody>
      </p:sp>
      <p:sp>
        <p:nvSpPr>
          <p:cNvPr id="23" name="Shape 21"/>
          <p:cNvSpPr/>
          <p:nvPr/>
        </p:nvSpPr>
        <p:spPr>
          <a:xfrm>
            <a:off x="4479652" y="1182328"/>
            <a:ext cx="3933825" cy="1228725"/>
          </a:xfrm>
          <a:prstGeom prst="rect">
            <a:avLst/>
          </a:prstGeom>
          <a:solidFill>
            <a:srgbClr val="F5F7F9"/>
          </a:solidFill>
          <a:ln/>
          <a:effectLst>
            <a:outerShdw blurRad="101600" dist="103453" dir="2700000" algn="bl" rotWithShape="0">
              <a:srgbClr val="D8232A">
                <a:alpha val="100000"/>
              </a:srgbClr>
            </a:outerShdw>
          </a:effectLst>
        </p:spPr>
        <p:txBody>
          <a:bodyPr/>
          <a:lstStyle/>
          <a:p>
            <a:endParaRPr lang="de-CH"/>
          </a:p>
        </p:txBody>
      </p:sp>
      <p:sp>
        <p:nvSpPr>
          <p:cNvPr id="24" name="Text 22"/>
          <p:cNvSpPr/>
          <p:nvPr/>
        </p:nvSpPr>
        <p:spPr>
          <a:xfrm>
            <a:off x="4736604" y="1352252"/>
            <a:ext cx="1592193" cy="1190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720" kern="0" spc="115" dirty="0">
                <a:solidFill>
                  <a:srgbClr val="66788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GLOBALE RESSOURCE</a:t>
            </a:r>
            <a:endParaRPr lang="en-US" sz="720" dirty="0"/>
          </a:p>
        </p:txBody>
      </p:sp>
      <p:sp>
        <p:nvSpPr>
          <p:cNvPr id="25" name="Text 23"/>
          <p:cNvSpPr/>
          <p:nvPr/>
        </p:nvSpPr>
        <p:spPr>
          <a:xfrm>
            <a:off x="7948092" y="1352252"/>
            <a:ext cx="328114" cy="1190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720" kern="0" spc="115" dirty="0">
                <a:solidFill>
                  <a:srgbClr val="D8232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IRI</a:t>
            </a:r>
            <a:endParaRPr lang="en-US" sz="720" dirty="0"/>
          </a:p>
        </p:txBody>
      </p:sp>
      <p:sp>
        <p:nvSpPr>
          <p:cNvPr id="26" name="Text 24"/>
          <p:cNvSpPr/>
          <p:nvPr/>
        </p:nvSpPr>
        <p:spPr>
          <a:xfrm>
            <a:off x="4736604" y="1632272"/>
            <a:ext cx="4437169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1013"/>
              </a:spcBef>
              <a:buNone/>
            </a:pPr>
            <a:r>
              <a:rPr lang="en-US" sz="1120" kern="0" spc="-22" dirty="0">
                <a:solidFill>
                  <a:srgbClr val="002B4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&lt;https://wissen.example.org/werke/buch17&gt;</a:t>
            </a:r>
            <a:endParaRPr lang="en-US" sz="1120" dirty="0"/>
          </a:p>
        </p:txBody>
      </p:sp>
      <p:sp>
        <p:nvSpPr>
          <p:cNvPr id="27" name="Text 25"/>
          <p:cNvSpPr/>
          <p:nvPr/>
        </p:nvSpPr>
        <p:spPr>
          <a:xfrm>
            <a:off x="4736604" y="2106662"/>
            <a:ext cx="3950672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1215"/>
              </a:spcBef>
              <a:buNone/>
            </a:pPr>
            <a:r>
              <a:rPr lang="en-US" sz="760" dirty="0">
                <a:solidFill>
                  <a:srgbClr val="66788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Ein Subjekt · mehrere Aussagen · ein kompakter Graph</a:t>
            </a:r>
            <a:endParaRPr lang="en-US" sz="760" dirty="0"/>
          </a:p>
        </p:txBody>
      </p:sp>
      <p:pic>
        <p:nvPicPr>
          <p:cNvPr id="28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39068" y="2541166"/>
            <a:ext cx="2562225" cy="519112"/>
          </a:xfrm>
          <a:prstGeom prst="rect">
            <a:avLst/>
          </a:prstGeom>
        </p:spPr>
      </p:pic>
      <p:pic>
        <p:nvPicPr>
          <p:cNvPr id="29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39068" y="3060353"/>
            <a:ext cx="2562225" cy="690562"/>
          </a:xfrm>
          <a:prstGeom prst="rect">
            <a:avLst/>
          </a:prstGeom>
        </p:spPr>
      </p:pic>
      <p:pic>
        <p:nvPicPr>
          <p:cNvPr id="30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39068" y="3750990"/>
            <a:ext cx="2562225" cy="519112"/>
          </a:xfrm>
          <a:prstGeom prst="rect">
            <a:avLst/>
          </a:prstGeom>
        </p:spPr>
      </p:pic>
      <p:pic>
        <p:nvPicPr>
          <p:cNvPr id="31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736827" y="1993888"/>
            <a:ext cx="3419475" cy="25241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5F7F9"/>
          </a:solidFill>
          <a:ln/>
        </p:spPr>
        <p:txBody>
          <a:bodyPr/>
          <a:lstStyle/>
          <a:p>
            <a:endParaRPr lang="de-CH"/>
          </a:p>
        </p:txBody>
      </p:sp>
      <p:sp>
        <p:nvSpPr>
          <p:cNvPr id="3" name="Shape 1"/>
          <p:cNvSpPr/>
          <p:nvPr/>
        </p:nvSpPr>
        <p:spPr>
          <a:xfrm>
            <a:off x="0" y="-484"/>
            <a:ext cx="9144000" cy="52388"/>
          </a:xfrm>
          <a:prstGeom prst="rect">
            <a:avLst/>
          </a:prstGeom>
          <a:solidFill>
            <a:srgbClr val="D8232A"/>
          </a:solidFill>
          <a:ln/>
        </p:spPr>
        <p:txBody>
          <a:bodyPr/>
          <a:lstStyle/>
          <a:p>
            <a:endParaRPr lang="de-CH"/>
          </a:p>
        </p:txBody>
      </p:sp>
      <p:sp>
        <p:nvSpPr>
          <p:cNvPr id="4" name="Text 2"/>
          <p:cNvSpPr/>
          <p:nvPr/>
        </p:nvSpPr>
        <p:spPr>
          <a:xfrm>
            <a:off x="7641282" y="261937"/>
            <a:ext cx="1178637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790" kern="0" spc="143" dirty="0">
                <a:solidFill>
                  <a:srgbClr val="66788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04 | SYNTAX</a:t>
            </a:r>
            <a:endParaRPr lang="en-US" sz="790" dirty="0"/>
          </a:p>
        </p:txBody>
      </p:sp>
      <p:sp>
        <p:nvSpPr>
          <p:cNvPr id="5" name="Text 3"/>
          <p:cNvSpPr/>
          <p:nvPr/>
        </p:nvSpPr>
        <p:spPr>
          <a:xfrm>
            <a:off x="640035" y="307628"/>
            <a:ext cx="6117223" cy="4429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740" b="1" kern="0" spc="-164" dirty="0">
                <a:solidFill>
                  <a:srgbClr val="002B49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@prefix macht lange IRIs lesbar</a:t>
            </a:r>
            <a:endParaRPr lang="en-US" sz="2740" dirty="0"/>
          </a:p>
        </p:txBody>
      </p:sp>
      <p:sp>
        <p:nvSpPr>
          <p:cNvPr id="6" name="Text 4"/>
          <p:cNvSpPr/>
          <p:nvPr/>
        </p:nvSpPr>
        <p:spPr>
          <a:xfrm>
            <a:off x="640035" y="799207"/>
            <a:ext cx="5155935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648"/>
              </a:spcBef>
              <a:buNone/>
            </a:pPr>
            <a:r>
              <a:rPr lang="en-US" sz="1150" dirty="0">
                <a:solidFill>
                  <a:srgbClr val="667883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Ein Kürzel macht den gemeinsamen Namespace sichtbar.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639552" y="1543831"/>
            <a:ext cx="2500313" cy="1014413"/>
          </a:xfrm>
          <a:prstGeom prst="rect">
            <a:avLst/>
          </a:prstGeom>
          <a:solidFill>
            <a:srgbClr val="EEF2F4"/>
          </a:solidFill>
          <a:ln/>
        </p:spPr>
        <p:txBody>
          <a:bodyPr/>
          <a:lstStyle/>
          <a:p>
            <a:endParaRPr lang="de-CH"/>
          </a:p>
        </p:txBody>
      </p:sp>
      <p:sp>
        <p:nvSpPr>
          <p:cNvPr id="8" name="Text 6"/>
          <p:cNvSpPr/>
          <p:nvPr/>
        </p:nvSpPr>
        <p:spPr>
          <a:xfrm>
            <a:off x="822871" y="1700957"/>
            <a:ext cx="370969" cy="26193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80" b="1" dirty="0">
                <a:solidFill>
                  <a:srgbClr val="D8232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01</a:t>
            </a:r>
            <a:endParaRPr lang="en-US" sz="1580" dirty="0"/>
          </a:p>
        </p:txBody>
      </p:sp>
      <p:sp>
        <p:nvSpPr>
          <p:cNvPr id="9" name="Text 7"/>
          <p:cNvSpPr/>
          <p:nvPr/>
        </p:nvSpPr>
        <p:spPr>
          <a:xfrm>
            <a:off x="822871" y="2056284"/>
            <a:ext cx="1989884" cy="1952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648"/>
              </a:spcBef>
              <a:buNone/>
            </a:pPr>
            <a:r>
              <a:rPr lang="en-US" sz="1120" dirty="0">
                <a:solidFill>
                  <a:srgbClr val="404D56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- Ein Präfix ersetzt den</a:t>
            </a:r>
            <a:endParaRPr lang="en-US" sz="1120" dirty="0"/>
          </a:p>
        </p:txBody>
      </p:sp>
      <p:sp>
        <p:nvSpPr>
          <p:cNvPr id="10" name="Text 8"/>
          <p:cNvSpPr/>
          <p:nvPr/>
        </p:nvSpPr>
        <p:spPr>
          <a:xfrm>
            <a:off x="822871" y="2233464"/>
            <a:ext cx="2657185" cy="1952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648"/>
              </a:spcBef>
              <a:buNone/>
            </a:pPr>
            <a:r>
              <a:rPr lang="en-US" sz="1120" dirty="0">
                <a:solidFill>
                  <a:srgbClr val="404D56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wiederholten Anfang einer IRI</a:t>
            </a:r>
            <a:endParaRPr lang="en-US" sz="1120" dirty="0"/>
          </a:p>
        </p:txBody>
      </p:sp>
      <p:sp>
        <p:nvSpPr>
          <p:cNvPr id="11" name="Shape 9"/>
          <p:cNvSpPr/>
          <p:nvPr/>
        </p:nvSpPr>
        <p:spPr>
          <a:xfrm>
            <a:off x="3321732" y="1543831"/>
            <a:ext cx="2500313" cy="1014413"/>
          </a:xfrm>
          <a:prstGeom prst="rect">
            <a:avLst/>
          </a:prstGeom>
          <a:solidFill>
            <a:srgbClr val="EEF2F4"/>
          </a:solidFill>
          <a:ln/>
        </p:spPr>
        <p:txBody>
          <a:bodyPr/>
          <a:lstStyle/>
          <a:p>
            <a:endParaRPr lang="de-CH"/>
          </a:p>
        </p:txBody>
      </p:sp>
      <p:sp>
        <p:nvSpPr>
          <p:cNvPr id="12" name="Text 10"/>
          <p:cNvSpPr/>
          <p:nvPr/>
        </p:nvSpPr>
        <p:spPr>
          <a:xfrm>
            <a:off x="3505051" y="1700957"/>
            <a:ext cx="370969" cy="26193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80" b="1" dirty="0">
                <a:solidFill>
                  <a:srgbClr val="D8232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02</a:t>
            </a:r>
            <a:endParaRPr lang="en-US" sz="1580" dirty="0"/>
          </a:p>
        </p:txBody>
      </p:sp>
      <p:sp>
        <p:nvSpPr>
          <p:cNvPr id="13" name="Text 11"/>
          <p:cNvSpPr/>
          <p:nvPr/>
        </p:nvSpPr>
        <p:spPr>
          <a:xfrm>
            <a:off x="3505051" y="2056284"/>
            <a:ext cx="2726449" cy="1952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648"/>
              </a:spcBef>
              <a:buNone/>
            </a:pPr>
            <a:r>
              <a:rPr lang="en-US" sz="1120" dirty="0">
                <a:solidFill>
                  <a:srgbClr val="404D56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- Der lokale Teil bleibt kurz und</a:t>
            </a:r>
            <a:endParaRPr lang="en-US" sz="1120" dirty="0"/>
          </a:p>
        </p:txBody>
      </p:sp>
      <p:sp>
        <p:nvSpPr>
          <p:cNvPr id="14" name="Text 12"/>
          <p:cNvSpPr/>
          <p:nvPr/>
        </p:nvSpPr>
        <p:spPr>
          <a:xfrm>
            <a:off x="3505051" y="2233464"/>
            <a:ext cx="1303623" cy="1952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648"/>
              </a:spcBef>
              <a:buNone/>
            </a:pPr>
            <a:r>
              <a:rPr lang="en-US" sz="1120" dirty="0">
                <a:solidFill>
                  <a:srgbClr val="404D56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fachlich lesbar</a:t>
            </a:r>
            <a:endParaRPr lang="en-US" sz="1120" dirty="0"/>
          </a:p>
        </p:txBody>
      </p:sp>
      <p:sp>
        <p:nvSpPr>
          <p:cNvPr id="15" name="Shape 13"/>
          <p:cNvSpPr/>
          <p:nvPr/>
        </p:nvSpPr>
        <p:spPr>
          <a:xfrm>
            <a:off x="6003913" y="1543831"/>
            <a:ext cx="2500313" cy="1014413"/>
          </a:xfrm>
          <a:prstGeom prst="rect">
            <a:avLst/>
          </a:prstGeom>
          <a:solidFill>
            <a:srgbClr val="EEF2F4"/>
          </a:solidFill>
          <a:ln/>
        </p:spPr>
        <p:txBody>
          <a:bodyPr/>
          <a:lstStyle/>
          <a:p>
            <a:endParaRPr lang="de-CH"/>
          </a:p>
        </p:txBody>
      </p:sp>
      <p:sp>
        <p:nvSpPr>
          <p:cNvPr id="16" name="Text 14"/>
          <p:cNvSpPr/>
          <p:nvPr/>
        </p:nvSpPr>
        <p:spPr>
          <a:xfrm>
            <a:off x="6187232" y="1700957"/>
            <a:ext cx="370969" cy="26193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80" b="1" dirty="0">
                <a:solidFill>
                  <a:srgbClr val="D8232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03</a:t>
            </a:r>
            <a:endParaRPr lang="en-US" sz="1580" dirty="0"/>
          </a:p>
        </p:txBody>
      </p:sp>
      <p:sp>
        <p:nvSpPr>
          <p:cNvPr id="17" name="Text 15"/>
          <p:cNvSpPr/>
          <p:nvPr/>
        </p:nvSpPr>
        <p:spPr>
          <a:xfrm>
            <a:off x="6187232" y="2056284"/>
            <a:ext cx="2518172" cy="1952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648"/>
              </a:spcBef>
              <a:buNone/>
            </a:pPr>
            <a:r>
              <a:rPr lang="en-US" sz="1120" dirty="0">
                <a:solidFill>
                  <a:srgbClr val="404D56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- Präfixe trennen Vokabulare</a:t>
            </a:r>
            <a:endParaRPr lang="en-US" sz="1120" dirty="0"/>
          </a:p>
        </p:txBody>
      </p:sp>
      <p:sp>
        <p:nvSpPr>
          <p:cNvPr id="18" name="Text 16"/>
          <p:cNvSpPr/>
          <p:nvPr/>
        </p:nvSpPr>
        <p:spPr>
          <a:xfrm>
            <a:off x="6187232" y="2233464"/>
            <a:ext cx="1896725" cy="1952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648"/>
              </a:spcBef>
              <a:buNone/>
            </a:pPr>
            <a:r>
              <a:rPr lang="en-US" sz="1120" dirty="0">
                <a:solidFill>
                  <a:srgbClr val="404D56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sichtbar voneinander</a:t>
            </a:r>
            <a:endParaRPr lang="en-US" sz="1120" dirty="0"/>
          </a:p>
        </p:txBody>
      </p:sp>
      <p:sp>
        <p:nvSpPr>
          <p:cNvPr id="19" name="Shape 17"/>
          <p:cNvSpPr/>
          <p:nvPr/>
        </p:nvSpPr>
        <p:spPr>
          <a:xfrm>
            <a:off x="640482" y="4022899"/>
            <a:ext cx="7862887" cy="657225"/>
          </a:xfrm>
          <a:prstGeom prst="rect">
            <a:avLst/>
          </a:prstGeom>
          <a:solidFill>
            <a:srgbClr val="002B49"/>
          </a:solidFill>
          <a:ln/>
        </p:spPr>
        <p:txBody>
          <a:bodyPr/>
          <a:lstStyle/>
          <a:p>
            <a:endParaRPr lang="de-CH"/>
          </a:p>
        </p:txBody>
      </p:sp>
      <p:sp>
        <p:nvSpPr>
          <p:cNvPr id="20" name="Text 18"/>
          <p:cNvSpPr/>
          <p:nvPr/>
        </p:nvSpPr>
        <p:spPr>
          <a:xfrm>
            <a:off x="920576" y="4162666"/>
            <a:ext cx="4987610" cy="382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40"/>
              </a:lnSpc>
              <a:buNone/>
            </a:pPr>
            <a:r>
              <a:rPr lang="en-US" sz="1150" dirty="0">
                <a:solidFill>
                  <a:srgbClr val="F5F7F9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- Nutzen: Weniger Redundanz und schnelleres Erfassen</a:t>
            </a:r>
            <a:endParaRPr lang="en-US" sz="1150" dirty="0"/>
          </a:p>
          <a:p>
            <a:pPr marL="0" indent="0" algn="l">
              <a:lnSpc>
                <a:spcPts val="1440"/>
              </a:lnSpc>
              <a:buNone/>
            </a:pPr>
            <a:r>
              <a:rPr lang="en-US" sz="1150" dirty="0">
                <a:solidFill>
                  <a:srgbClr val="F5F7F9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des Modells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4899124" y="4175894"/>
            <a:ext cx="3964312" cy="3470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58"/>
              </a:lnSpc>
              <a:buNone/>
            </a:pPr>
            <a:r>
              <a:rPr lang="en-US" sz="970" kern="0" spc="-19" dirty="0">
                <a:solidFill>
                  <a:srgbClr val="D8232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@prefix lib:</a:t>
            </a:r>
            <a:endParaRPr lang="en-US" sz="970" dirty="0"/>
          </a:p>
          <a:p>
            <a:pPr marL="0" indent="0" algn="l">
              <a:lnSpc>
                <a:spcPts val="1458"/>
              </a:lnSpc>
              <a:buNone/>
            </a:pPr>
            <a:r>
              <a:rPr lang="en-US" sz="970" kern="0" spc="-19" dirty="0">
                <a:solidFill>
                  <a:srgbClr val="D8232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&lt;https://wissen.example.org/bibliothek/&gt; .</a:t>
            </a:r>
            <a:endParaRPr lang="en-US" sz="970" dirty="0"/>
          </a:p>
        </p:txBody>
      </p:sp>
      <p:pic>
        <p:nvPicPr>
          <p:cNvPr id="22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40482" y="4022899"/>
            <a:ext cx="7862887" cy="65722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5F7F9"/>
          </a:solidFill>
          <a:ln/>
        </p:spPr>
        <p:txBody>
          <a:bodyPr/>
          <a:lstStyle/>
          <a:p>
            <a:endParaRPr lang="de-CH"/>
          </a:p>
        </p:txBody>
      </p:sp>
      <p:sp>
        <p:nvSpPr>
          <p:cNvPr id="3" name="Shape 1"/>
          <p:cNvSpPr/>
          <p:nvPr/>
        </p:nvSpPr>
        <p:spPr>
          <a:xfrm>
            <a:off x="0" y="-484"/>
            <a:ext cx="9144000" cy="52388"/>
          </a:xfrm>
          <a:prstGeom prst="rect">
            <a:avLst/>
          </a:prstGeom>
          <a:solidFill>
            <a:srgbClr val="D8232A"/>
          </a:solidFill>
          <a:ln/>
        </p:spPr>
        <p:txBody>
          <a:bodyPr/>
          <a:lstStyle/>
          <a:p>
            <a:endParaRPr lang="de-CH"/>
          </a:p>
        </p:txBody>
      </p:sp>
      <p:sp>
        <p:nvSpPr>
          <p:cNvPr id="4" name="Shape 2"/>
          <p:cNvSpPr/>
          <p:nvPr/>
        </p:nvSpPr>
        <p:spPr>
          <a:xfrm>
            <a:off x="0" y="4942917"/>
            <a:ext cx="9144000" cy="200025"/>
          </a:xfrm>
          <a:prstGeom prst="rect">
            <a:avLst/>
          </a:prstGeom>
          <a:solidFill>
            <a:srgbClr val="002B49"/>
          </a:solidFill>
          <a:ln/>
        </p:spPr>
        <p:txBody>
          <a:bodyPr/>
          <a:lstStyle/>
          <a:p>
            <a:endParaRPr lang="de-CH"/>
          </a:p>
        </p:txBody>
      </p:sp>
      <p:sp>
        <p:nvSpPr>
          <p:cNvPr id="5" name="Text 3"/>
          <p:cNvSpPr/>
          <p:nvPr/>
        </p:nvSpPr>
        <p:spPr>
          <a:xfrm>
            <a:off x="640035" y="318120"/>
            <a:ext cx="1280793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60" b="1" kern="0" spc="156" dirty="0">
                <a:solidFill>
                  <a:srgbClr val="D8232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05 | SYNTAX</a:t>
            </a:r>
            <a:endParaRPr lang="en-US" sz="860" dirty="0"/>
          </a:p>
        </p:txBody>
      </p:sp>
      <p:sp>
        <p:nvSpPr>
          <p:cNvPr id="6" name="Text 4"/>
          <p:cNvSpPr/>
          <p:nvPr/>
        </p:nvSpPr>
        <p:spPr>
          <a:xfrm>
            <a:off x="640035" y="503039"/>
            <a:ext cx="7347540" cy="4429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648"/>
              </a:spcBef>
              <a:buNone/>
            </a:pPr>
            <a:r>
              <a:rPr lang="en-US" sz="2740" b="1" kern="0" spc="-164" dirty="0">
                <a:solidFill>
                  <a:srgbClr val="002B49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@base ordnet relative Ressourcen ein</a:t>
            </a:r>
            <a:endParaRPr lang="en-US" sz="2740" dirty="0"/>
          </a:p>
        </p:txBody>
      </p:sp>
      <p:sp>
        <p:nvSpPr>
          <p:cNvPr id="7" name="Shape 5"/>
          <p:cNvSpPr/>
          <p:nvPr/>
        </p:nvSpPr>
        <p:spPr>
          <a:xfrm>
            <a:off x="639068" y="1492076"/>
            <a:ext cx="3476625" cy="376238"/>
          </a:xfrm>
          <a:prstGeom prst="rect">
            <a:avLst/>
          </a:prstGeom>
          <a:ln/>
        </p:spPr>
        <p:txBody>
          <a:bodyPr/>
          <a:lstStyle/>
          <a:p>
            <a:endParaRPr lang="de-CH"/>
          </a:p>
        </p:txBody>
      </p:sp>
      <p:sp>
        <p:nvSpPr>
          <p:cNvPr id="8" name="Text 6"/>
          <p:cNvSpPr/>
          <p:nvPr/>
        </p:nvSpPr>
        <p:spPr>
          <a:xfrm>
            <a:off x="829196" y="1482030"/>
            <a:ext cx="3387365" cy="20478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90" dirty="0">
                <a:solidFill>
                  <a:srgbClr val="414E57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- @base definiert den gemeinsamen</a:t>
            </a:r>
            <a:endParaRPr lang="en-US" sz="1190" dirty="0"/>
          </a:p>
        </p:txBody>
      </p:sp>
      <p:sp>
        <p:nvSpPr>
          <p:cNvPr id="9" name="Text 7"/>
          <p:cNvSpPr/>
          <p:nvPr/>
        </p:nvSpPr>
        <p:spPr>
          <a:xfrm>
            <a:off x="829196" y="1670670"/>
            <a:ext cx="3158676" cy="20478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90" dirty="0">
                <a:solidFill>
                  <a:srgbClr val="414E57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Ausgangspunkt eines Dokuments</a:t>
            </a:r>
            <a:endParaRPr lang="en-US" sz="1190" dirty="0"/>
          </a:p>
        </p:txBody>
      </p:sp>
      <p:sp>
        <p:nvSpPr>
          <p:cNvPr id="10" name="Shape 8"/>
          <p:cNvSpPr/>
          <p:nvPr/>
        </p:nvSpPr>
        <p:spPr>
          <a:xfrm>
            <a:off x="639068" y="2023616"/>
            <a:ext cx="3476625" cy="376238"/>
          </a:xfrm>
          <a:prstGeom prst="rect">
            <a:avLst/>
          </a:prstGeom>
          <a:ln/>
        </p:spPr>
        <p:txBody>
          <a:bodyPr/>
          <a:lstStyle/>
          <a:p>
            <a:endParaRPr lang="de-CH"/>
          </a:p>
        </p:txBody>
      </p:sp>
      <p:sp>
        <p:nvSpPr>
          <p:cNvPr id="11" name="Text 9"/>
          <p:cNvSpPr/>
          <p:nvPr/>
        </p:nvSpPr>
        <p:spPr>
          <a:xfrm>
            <a:off x="829196" y="2013570"/>
            <a:ext cx="3652428" cy="20478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90" dirty="0">
                <a:solidFill>
                  <a:srgbClr val="414E57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- Relative IRIs werden daraus eindeutig</a:t>
            </a:r>
            <a:endParaRPr lang="en-US" sz="1190" dirty="0"/>
          </a:p>
        </p:txBody>
      </p:sp>
      <p:sp>
        <p:nvSpPr>
          <p:cNvPr id="12" name="Text 10"/>
          <p:cNvSpPr/>
          <p:nvPr/>
        </p:nvSpPr>
        <p:spPr>
          <a:xfrm>
            <a:off x="829196" y="2202210"/>
            <a:ext cx="920926" cy="20478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90" dirty="0">
                <a:solidFill>
                  <a:srgbClr val="414E57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aufgelöst</a:t>
            </a:r>
            <a:endParaRPr lang="en-US" sz="1190" dirty="0"/>
          </a:p>
        </p:txBody>
      </p:sp>
      <p:sp>
        <p:nvSpPr>
          <p:cNvPr id="13" name="Shape 11"/>
          <p:cNvSpPr/>
          <p:nvPr/>
        </p:nvSpPr>
        <p:spPr>
          <a:xfrm>
            <a:off x="639068" y="2555156"/>
            <a:ext cx="3476625" cy="376238"/>
          </a:xfrm>
          <a:prstGeom prst="rect">
            <a:avLst/>
          </a:prstGeom>
          <a:ln/>
        </p:spPr>
        <p:txBody>
          <a:bodyPr/>
          <a:lstStyle/>
          <a:p>
            <a:endParaRPr lang="de-CH"/>
          </a:p>
        </p:txBody>
      </p:sp>
      <p:sp>
        <p:nvSpPr>
          <p:cNvPr id="14" name="Text 12"/>
          <p:cNvSpPr/>
          <p:nvPr/>
        </p:nvSpPr>
        <p:spPr>
          <a:xfrm>
            <a:off x="829196" y="2545110"/>
            <a:ext cx="4115418" cy="20478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90" dirty="0">
                <a:solidFill>
                  <a:srgbClr val="414E57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- Dokumente können kompakt und portabel</a:t>
            </a:r>
            <a:endParaRPr lang="en-US" sz="1190" dirty="0"/>
          </a:p>
        </p:txBody>
      </p:sp>
      <p:sp>
        <p:nvSpPr>
          <p:cNvPr id="15" name="Text 13"/>
          <p:cNvSpPr/>
          <p:nvPr/>
        </p:nvSpPr>
        <p:spPr>
          <a:xfrm>
            <a:off x="829196" y="2733749"/>
            <a:ext cx="1937258" cy="20478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90" dirty="0">
                <a:solidFill>
                  <a:srgbClr val="414E57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geschrieben werden</a:t>
            </a:r>
            <a:endParaRPr lang="en-US" sz="1190" dirty="0"/>
          </a:p>
        </p:txBody>
      </p:sp>
      <p:sp>
        <p:nvSpPr>
          <p:cNvPr id="16" name="Shape 14"/>
          <p:cNvSpPr/>
          <p:nvPr/>
        </p:nvSpPr>
        <p:spPr>
          <a:xfrm>
            <a:off x="4479652" y="1388120"/>
            <a:ext cx="3933825" cy="1700213"/>
          </a:xfrm>
          <a:prstGeom prst="rect">
            <a:avLst/>
          </a:prstGeom>
          <a:solidFill>
            <a:srgbClr val="EEF2F4"/>
          </a:solidFill>
          <a:ln/>
          <a:effectLst>
            <a:outerShdw blurRad="101600" dist="103453" dir="2700000" algn="bl" rotWithShape="0">
              <a:srgbClr val="D8232A">
                <a:alpha val="100000"/>
              </a:srgbClr>
            </a:outerShdw>
          </a:effectLst>
        </p:spPr>
        <p:txBody>
          <a:bodyPr/>
          <a:lstStyle/>
          <a:p>
            <a:endParaRPr lang="de-CH"/>
          </a:p>
        </p:txBody>
      </p:sp>
      <p:sp>
        <p:nvSpPr>
          <p:cNvPr id="17" name="Text 15"/>
          <p:cNvSpPr/>
          <p:nvPr/>
        </p:nvSpPr>
        <p:spPr>
          <a:xfrm>
            <a:off x="4736604" y="1547738"/>
            <a:ext cx="1501936" cy="1190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720" kern="0" spc="115" dirty="0">
                <a:solidFill>
                  <a:srgbClr val="66788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DOKUMENT-KONTEXT</a:t>
            </a:r>
            <a:endParaRPr lang="en-US" sz="720" dirty="0"/>
          </a:p>
        </p:txBody>
      </p:sp>
      <p:sp>
        <p:nvSpPr>
          <p:cNvPr id="18" name="Text 16"/>
          <p:cNvSpPr/>
          <p:nvPr/>
        </p:nvSpPr>
        <p:spPr>
          <a:xfrm>
            <a:off x="7809161" y="1547738"/>
            <a:ext cx="508724" cy="1190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720" kern="0" spc="115" dirty="0">
                <a:solidFill>
                  <a:srgbClr val="D8232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@BASE</a:t>
            </a:r>
            <a:endParaRPr lang="en-US" sz="720" dirty="0"/>
          </a:p>
        </p:txBody>
      </p:sp>
      <p:sp>
        <p:nvSpPr>
          <p:cNvPr id="19" name="Text 17"/>
          <p:cNvSpPr/>
          <p:nvPr/>
        </p:nvSpPr>
        <p:spPr>
          <a:xfrm>
            <a:off x="4736604" y="1817787"/>
            <a:ext cx="3677677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972"/>
              </a:spcBef>
              <a:buNone/>
            </a:pPr>
            <a:r>
              <a:rPr lang="de-CH" sz="1120" kern="0" spc="-22" dirty="0">
                <a:solidFill>
                  <a:srgbClr val="002B49"/>
                </a:solidFill>
                <a:latin typeface="IBM Plex Mono" pitchFamily="34" charset="0"/>
              </a:rPr>
              <a:t>@base &lt;https://gebaeude.ch/hauptsitz/&gt; </a:t>
            </a:r>
            <a:r>
              <a:rPr lang="de-CH" sz="1050" dirty="0"/>
              <a:t>.</a:t>
            </a:r>
            <a:endParaRPr lang="en-US" sz="1020" b="1" dirty="0"/>
          </a:p>
        </p:txBody>
      </p:sp>
      <p:sp>
        <p:nvSpPr>
          <p:cNvPr id="20" name="Shape 18"/>
          <p:cNvSpPr/>
          <p:nvPr/>
        </p:nvSpPr>
        <p:spPr>
          <a:xfrm>
            <a:off x="4736827" y="2127945"/>
            <a:ext cx="3419475" cy="9525"/>
          </a:xfrm>
          <a:prstGeom prst="rect">
            <a:avLst/>
          </a:prstGeom>
          <a:solidFill>
            <a:srgbClr val="00284A">
              <a:alpha val="14902"/>
            </a:srgbClr>
          </a:solidFill>
          <a:ln/>
        </p:spPr>
        <p:txBody>
          <a:bodyPr/>
          <a:lstStyle/>
          <a:p>
            <a:endParaRPr lang="de-CH"/>
          </a:p>
        </p:txBody>
      </p:sp>
      <p:sp>
        <p:nvSpPr>
          <p:cNvPr id="21" name="Text 19"/>
          <p:cNvSpPr/>
          <p:nvPr/>
        </p:nvSpPr>
        <p:spPr>
          <a:xfrm>
            <a:off x="4736604" y="2215232"/>
            <a:ext cx="1612315" cy="1952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20" dirty="0">
                <a:solidFill>
                  <a:srgbClr val="404D56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- Nutzen: Weniger</a:t>
            </a:r>
            <a:endParaRPr lang="en-US" sz="1120" dirty="0"/>
          </a:p>
        </p:txBody>
      </p:sp>
      <p:sp>
        <p:nvSpPr>
          <p:cNvPr id="22" name="Text 20"/>
          <p:cNvSpPr/>
          <p:nvPr/>
        </p:nvSpPr>
        <p:spPr>
          <a:xfrm>
            <a:off x="4736604" y="2392412"/>
            <a:ext cx="1599448" cy="1952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20" dirty="0">
                <a:solidFill>
                  <a:srgbClr val="404D56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Wiederholung bei</a:t>
            </a:r>
            <a:endParaRPr lang="en-US" sz="1120" dirty="0"/>
          </a:p>
        </p:txBody>
      </p:sp>
      <p:sp>
        <p:nvSpPr>
          <p:cNvPr id="23" name="Text 21"/>
          <p:cNvSpPr/>
          <p:nvPr/>
        </p:nvSpPr>
        <p:spPr>
          <a:xfrm>
            <a:off x="4736604" y="2569592"/>
            <a:ext cx="1908334" cy="1952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20" dirty="0">
                <a:solidFill>
                  <a:srgbClr val="404D56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zusammengehörigen</a:t>
            </a:r>
            <a:endParaRPr lang="en-US" sz="1120" dirty="0"/>
          </a:p>
        </p:txBody>
      </p:sp>
      <p:sp>
        <p:nvSpPr>
          <p:cNvPr id="24" name="Text 22"/>
          <p:cNvSpPr/>
          <p:nvPr/>
        </p:nvSpPr>
        <p:spPr>
          <a:xfrm>
            <a:off x="4736604" y="2746772"/>
            <a:ext cx="1055876" cy="1952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20" dirty="0">
                <a:solidFill>
                  <a:srgbClr val="404D56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Ressourcen</a:t>
            </a:r>
            <a:endParaRPr lang="en-US" sz="1120" dirty="0"/>
          </a:p>
        </p:txBody>
      </p:sp>
      <p:sp>
        <p:nvSpPr>
          <p:cNvPr id="25" name="Text 23"/>
          <p:cNvSpPr/>
          <p:nvPr/>
        </p:nvSpPr>
        <p:spPr>
          <a:xfrm>
            <a:off x="7350175" y="2229520"/>
            <a:ext cx="1105406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760" dirty="0">
                <a:solidFill>
                  <a:srgbClr val="D8232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&lt;zimmer302&gt;</a:t>
            </a:r>
            <a:endParaRPr lang="en-US" sz="760" dirty="0"/>
          </a:p>
        </p:txBody>
      </p:sp>
      <p:pic>
        <p:nvPicPr>
          <p:cNvPr id="26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39068" y="1492076"/>
            <a:ext cx="3476625" cy="376238"/>
          </a:xfrm>
          <a:prstGeom prst="rect">
            <a:avLst/>
          </a:prstGeom>
        </p:spPr>
      </p:pic>
      <p:pic>
        <p:nvPicPr>
          <p:cNvPr id="2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39068" y="2023616"/>
            <a:ext cx="3476625" cy="376238"/>
          </a:xfrm>
          <a:prstGeom prst="rect">
            <a:avLst/>
          </a:prstGeom>
        </p:spPr>
      </p:pic>
      <p:pic>
        <p:nvPicPr>
          <p:cNvPr id="28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39068" y="2555156"/>
            <a:ext cx="3476625" cy="37623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EF2F4"/>
          </a:solidFill>
          <a:ln/>
        </p:spPr>
        <p:txBody>
          <a:bodyPr/>
          <a:lstStyle/>
          <a:p>
            <a:endParaRPr lang="de-CH"/>
          </a:p>
        </p:txBody>
      </p:sp>
      <p:sp>
        <p:nvSpPr>
          <p:cNvPr id="3" name="Shape 1"/>
          <p:cNvSpPr/>
          <p:nvPr/>
        </p:nvSpPr>
        <p:spPr>
          <a:xfrm>
            <a:off x="0" y="-484"/>
            <a:ext cx="9144000" cy="52388"/>
          </a:xfrm>
          <a:prstGeom prst="rect">
            <a:avLst/>
          </a:prstGeom>
          <a:solidFill>
            <a:srgbClr val="D8232A"/>
          </a:solidFill>
          <a:ln/>
        </p:spPr>
        <p:txBody>
          <a:bodyPr/>
          <a:lstStyle/>
          <a:p>
            <a:endParaRPr lang="de-CH"/>
          </a:p>
        </p:txBody>
      </p:sp>
      <p:sp>
        <p:nvSpPr>
          <p:cNvPr id="4" name="Shape 2"/>
          <p:cNvSpPr/>
          <p:nvPr/>
        </p:nvSpPr>
        <p:spPr>
          <a:xfrm>
            <a:off x="558" y="0"/>
            <a:ext cx="200025" cy="5143500"/>
          </a:xfrm>
          <a:prstGeom prst="rect">
            <a:avLst/>
          </a:prstGeom>
          <a:solidFill>
            <a:srgbClr val="002B49"/>
          </a:solidFill>
          <a:ln/>
        </p:spPr>
        <p:txBody>
          <a:bodyPr/>
          <a:lstStyle/>
          <a:p>
            <a:endParaRPr lang="de-CH"/>
          </a:p>
        </p:txBody>
      </p:sp>
      <p:sp>
        <p:nvSpPr>
          <p:cNvPr id="5" name="Text 3"/>
          <p:cNvSpPr/>
          <p:nvPr/>
        </p:nvSpPr>
        <p:spPr>
          <a:xfrm>
            <a:off x="640035" y="266700"/>
            <a:ext cx="1280793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60" b="1" kern="0" spc="156" dirty="0">
                <a:solidFill>
                  <a:srgbClr val="D8232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06 | SYNTAX</a:t>
            </a:r>
            <a:endParaRPr lang="en-US" sz="860" dirty="0"/>
          </a:p>
        </p:txBody>
      </p:sp>
      <p:sp>
        <p:nvSpPr>
          <p:cNvPr id="6" name="Text 4"/>
          <p:cNvSpPr/>
          <p:nvPr/>
        </p:nvSpPr>
        <p:spPr>
          <a:xfrm>
            <a:off x="640035" y="451619"/>
            <a:ext cx="7883664" cy="4429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648"/>
              </a:spcBef>
              <a:buNone/>
            </a:pPr>
            <a:r>
              <a:rPr lang="en-US" sz="2740" b="1" kern="0" spc="-164" dirty="0">
                <a:solidFill>
                  <a:srgbClr val="002B49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Das Punktzeichen beendet eine Aussage</a:t>
            </a:r>
            <a:endParaRPr lang="en-US" sz="2740" dirty="0"/>
          </a:p>
        </p:txBody>
      </p:sp>
      <p:sp>
        <p:nvSpPr>
          <p:cNvPr id="7" name="Text 5"/>
          <p:cNvSpPr/>
          <p:nvPr/>
        </p:nvSpPr>
        <p:spPr>
          <a:xfrm>
            <a:off x="820043" y="1497434"/>
            <a:ext cx="4649219" cy="20478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90" dirty="0">
                <a:solidFill>
                  <a:srgbClr val="404D56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- Ein Punkt markiert das Ende eines vollständigen</a:t>
            </a:r>
            <a:endParaRPr lang="en-US" sz="1190" dirty="0"/>
          </a:p>
        </p:txBody>
      </p:sp>
      <p:sp>
        <p:nvSpPr>
          <p:cNvPr id="8" name="Text 6"/>
          <p:cNvSpPr/>
          <p:nvPr/>
        </p:nvSpPr>
        <p:spPr>
          <a:xfrm>
            <a:off x="820043" y="1686074"/>
            <a:ext cx="642320" cy="20478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90" dirty="0">
                <a:solidFill>
                  <a:srgbClr val="404D56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Triple-Satzes</a:t>
            </a:r>
            <a:endParaRPr lang="en-US" sz="1190" dirty="0"/>
          </a:p>
        </p:txBody>
      </p:sp>
      <p:sp>
        <p:nvSpPr>
          <p:cNvPr id="9" name="Text 7"/>
          <p:cNvSpPr/>
          <p:nvPr/>
        </p:nvSpPr>
        <p:spPr>
          <a:xfrm>
            <a:off x="820043" y="2121471"/>
            <a:ext cx="3545049" cy="20478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891"/>
              </a:spcBef>
              <a:buNone/>
            </a:pPr>
            <a:r>
              <a:rPr lang="en-US" sz="1190" dirty="0">
                <a:solidFill>
                  <a:srgbClr val="404D56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- Er trennt Aussagen klar voneinander</a:t>
            </a:r>
            <a:endParaRPr lang="en-US" sz="1190" dirty="0"/>
          </a:p>
        </p:txBody>
      </p:sp>
      <p:sp>
        <p:nvSpPr>
          <p:cNvPr id="10" name="Text 8"/>
          <p:cNvSpPr/>
          <p:nvPr/>
        </p:nvSpPr>
        <p:spPr>
          <a:xfrm>
            <a:off x="820043" y="2556867"/>
            <a:ext cx="5127784" cy="20478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891"/>
              </a:spcBef>
              <a:buNone/>
            </a:pPr>
            <a:r>
              <a:rPr lang="en-US" sz="1190" dirty="0">
                <a:solidFill>
                  <a:srgbClr val="404D56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- Der Parser erkennt dadurch die Grenze jeder Aussage</a:t>
            </a:r>
            <a:endParaRPr lang="en-US" sz="1190" dirty="0"/>
          </a:p>
        </p:txBody>
      </p:sp>
      <p:sp>
        <p:nvSpPr>
          <p:cNvPr id="11" name="Text 9"/>
          <p:cNvSpPr/>
          <p:nvPr/>
        </p:nvSpPr>
        <p:spPr>
          <a:xfrm>
            <a:off x="820043" y="2992264"/>
            <a:ext cx="5278599" cy="20478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891"/>
              </a:spcBef>
              <a:buNone/>
            </a:pPr>
            <a:endParaRPr lang="en-US" sz="1190" dirty="0"/>
          </a:p>
        </p:txBody>
      </p:sp>
      <p:sp>
        <p:nvSpPr>
          <p:cNvPr id="12" name="Text 10"/>
          <p:cNvSpPr/>
          <p:nvPr/>
        </p:nvSpPr>
        <p:spPr>
          <a:xfrm>
            <a:off x="820043" y="3180904"/>
            <a:ext cx="1503194" cy="20478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891"/>
              </a:spcBef>
              <a:buNone/>
            </a:pPr>
            <a:endParaRPr lang="en-US" sz="1190" dirty="0"/>
          </a:p>
        </p:txBody>
      </p:sp>
      <p:sp>
        <p:nvSpPr>
          <p:cNvPr id="13" name="Shape 11"/>
          <p:cNvSpPr/>
          <p:nvPr/>
        </p:nvSpPr>
        <p:spPr>
          <a:xfrm>
            <a:off x="5669310" y="1542157"/>
            <a:ext cx="2743200" cy="1290638"/>
          </a:xfrm>
          <a:prstGeom prst="rect">
            <a:avLst/>
          </a:prstGeom>
          <a:solidFill>
            <a:srgbClr val="002B49"/>
          </a:solidFill>
          <a:ln/>
          <a:effectLst>
            <a:outerShdw blurRad="101600" dist="103453" dir="2700000" algn="bl" rotWithShape="0">
              <a:srgbClr val="D8232A">
                <a:alpha val="100000"/>
              </a:srgbClr>
            </a:outerShdw>
          </a:effectLst>
        </p:spPr>
        <p:txBody>
          <a:bodyPr/>
          <a:lstStyle/>
          <a:p>
            <a:endParaRPr lang="de-CH"/>
          </a:p>
        </p:txBody>
      </p:sp>
      <p:sp>
        <p:nvSpPr>
          <p:cNvPr id="14" name="Text 12"/>
          <p:cNvSpPr/>
          <p:nvPr/>
        </p:nvSpPr>
        <p:spPr>
          <a:xfrm>
            <a:off x="5897910" y="1712342"/>
            <a:ext cx="960202" cy="1190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720" kern="0" spc="115" dirty="0">
                <a:solidFill>
                  <a:srgbClr val="879CA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SATZGRENZE</a:t>
            </a:r>
            <a:endParaRPr lang="en-US" sz="720" dirty="0"/>
          </a:p>
        </p:txBody>
      </p:sp>
      <p:sp>
        <p:nvSpPr>
          <p:cNvPr id="15" name="Text 13"/>
          <p:cNvSpPr/>
          <p:nvPr/>
        </p:nvSpPr>
        <p:spPr>
          <a:xfrm>
            <a:off x="5897910" y="2018035"/>
            <a:ext cx="2332144" cy="4071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81"/>
              </a:lnSpc>
              <a:buNone/>
            </a:pPr>
            <a:r>
              <a:rPr lang="en-US" sz="1080" kern="0" spc="-22" dirty="0">
                <a:solidFill>
                  <a:srgbClr val="F5F7F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:kurs42 :</a:t>
            </a:r>
            <a:r>
              <a:rPr lang="en-US" sz="1080" kern="0" spc="-22" dirty="0" err="1">
                <a:solidFill>
                  <a:srgbClr val="F5F7F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findetStattAm</a:t>
            </a:r>
            <a:endParaRPr lang="en-US" sz="1080" dirty="0"/>
          </a:p>
          <a:p>
            <a:pPr marL="0" indent="0" algn="l">
              <a:lnSpc>
                <a:spcPts val="1781"/>
              </a:lnSpc>
              <a:buNone/>
            </a:pPr>
            <a:r>
              <a:rPr lang="en-US" sz="1080" kern="0" spc="-22" dirty="0">
                <a:solidFill>
                  <a:srgbClr val="F5F7F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"2026-10-12" .</a:t>
            </a:r>
            <a:endParaRPr lang="en-US" sz="1080" dirty="0"/>
          </a:p>
        </p:txBody>
      </p:sp>
      <p:sp>
        <p:nvSpPr>
          <p:cNvPr id="16" name="Shape 14"/>
          <p:cNvSpPr/>
          <p:nvPr/>
        </p:nvSpPr>
        <p:spPr>
          <a:xfrm>
            <a:off x="5898840" y="2657475"/>
            <a:ext cx="638175" cy="9525"/>
          </a:xfrm>
          <a:prstGeom prst="rect">
            <a:avLst/>
          </a:prstGeom>
          <a:solidFill>
            <a:srgbClr val="D8232A"/>
          </a:solidFill>
          <a:ln/>
        </p:spPr>
        <p:txBody>
          <a:bodyPr/>
          <a:lstStyle/>
          <a:p>
            <a:endParaRPr lang="de-CH"/>
          </a:p>
        </p:txBody>
      </p:sp>
      <p:sp>
        <p:nvSpPr>
          <p:cNvPr id="17" name="Text 15"/>
          <p:cNvSpPr/>
          <p:nvPr/>
        </p:nvSpPr>
        <p:spPr>
          <a:xfrm>
            <a:off x="5634112" y="4651102"/>
            <a:ext cx="3669067" cy="1190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720" kern="0" spc="115" dirty="0">
                <a:solidFill>
                  <a:srgbClr val="66788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EINE AUSSAGE ENDET. DIE NÄCHSTE BEGINNT.</a:t>
            </a:r>
            <a:endParaRPr lang="en-US" sz="720" dirty="0"/>
          </a:p>
        </p:txBody>
      </p:sp>
      <p:pic>
        <p:nvPicPr>
          <p:cNvPr id="18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39552" y="1440805"/>
            <a:ext cx="4481512" cy="509587"/>
          </a:xfrm>
          <a:prstGeom prst="rect">
            <a:avLst/>
          </a:prstGeom>
        </p:spPr>
      </p:pic>
      <p:pic>
        <p:nvPicPr>
          <p:cNvPr id="19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39552" y="2063390"/>
            <a:ext cx="4481512" cy="323850"/>
          </a:xfrm>
          <a:prstGeom prst="rect">
            <a:avLst/>
          </a:prstGeom>
        </p:spPr>
      </p:pic>
      <p:pic>
        <p:nvPicPr>
          <p:cNvPr id="20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39552" y="2498787"/>
            <a:ext cx="4481512" cy="32385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61923"/>
          </a:solidFill>
          <a:ln/>
        </p:spPr>
        <p:txBody>
          <a:bodyPr/>
          <a:lstStyle/>
          <a:p>
            <a:endParaRPr lang="de-CH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0" y="5086648"/>
            <a:ext cx="9144000" cy="57150"/>
          </a:xfrm>
          <a:prstGeom prst="rect">
            <a:avLst/>
          </a:prstGeom>
          <a:solidFill>
            <a:srgbClr val="D8232A"/>
          </a:solidFill>
          <a:ln/>
        </p:spPr>
        <p:txBody>
          <a:bodyPr/>
          <a:lstStyle/>
          <a:p>
            <a:endParaRPr lang="de-CH"/>
          </a:p>
        </p:txBody>
      </p:sp>
      <p:sp>
        <p:nvSpPr>
          <p:cNvPr id="5" name="Text 2"/>
          <p:cNvSpPr/>
          <p:nvPr/>
        </p:nvSpPr>
        <p:spPr>
          <a:xfrm>
            <a:off x="7377782" y="364778"/>
            <a:ext cx="1521187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790" kern="0" spc="158" dirty="0">
                <a:solidFill>
                  <a:srgbClr val="8A949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RDF 1.1 TURTLE</a:t>
            </a:r>
            <a:endParaRPr lang="en-US" sz="790" dirty="0"/>
          </a:p>
        </p:txBody>
      </p:sp>
      <p:sp>
        <p:nvSpPr>
          <p:cNvPr id="6" name="Text 3"/>
          <p:cNvSpPr/>
          <p:nvPr/>
        </p:nvSpPr>
        <p:spPr>
          <a:xfrm>
            <a:off x="731490" y="678135"/>
            <a:ext cx="1280793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60" b="1" kern="0" spc="156" dirty="0">
                <a:solidFill>
                  <a:srgbClr val="D8232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08 | SYNTAX</a:t>
            </a:r>
            <a:endParaRPr lang="en-US" sz="860" dirty="0"/>
          </a:p>
        </p:txBody>
      </p:sp>
      <p:sp>
        <p:nvSpPr>
          <p:cNvPr id="7" name="Text 4"/>
          <p:cNvSpPr/>
          <p:nvPr/>
        </p:nvSpPr>
        <p:spPr>
          <a:xfrm>
            <a:off x="731490" y="859854"/>
            <a:ext cx="6801453" cy="5381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810"/>
              </a:spcBef>
              <a:buNone/>
            </a:pPr>
            <a:r>
              <a:rPr lang="en-US" sz="3310" b="1" kern="0" spc="-215" dirty="0">
                <a:solidFill>
                  <a:srgbClr val="F5F7F9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Semikolon verbindet mehrere</a:t>
            </a:r>
            <a:endParaRPr lang="en-US" sz="3310" dirty="0"/>
          </a:p>
        </p:txBody>
      </p:sp>
      <p:sp>
        <p:nvSpPr>
          <p:cNvPr id="8" name="Text 5"/>
          <p:cNvSpPr/>
          <p:nvPr/>
        </p:nvSpPr>
        <p:spPr>
          <a:xfrm>
            <a:off x="731490" y="1246733"/>
            <a:ext cx="2236567" cy="5381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810"/>
              </a:spcBef>
              <a:buNone/>
            </a:pPr>
            <a:r>
              <a:rPr lang="en-US" sz="3310" b="1" kern="0" spc="-215" dirty="0">
                <a:solidFill>
                  <a:srgbClr val="F5F7F9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Prädikate</a:t>
            </a:r>
            <a:endParaRPr lang="en-US" sz="3310" dirty="0"/>
          </a:p>
        </p:txBody>
      </p:sp>
      <p:sp>
        <p:nvSpPr>
          <p:cNvPr id="9" name="Text 6"/>
          <p:cNvSpPr/>
          <p:nvPr/>
        </p:nvSpPr>
        <p:spPr>
          <a:xfrm>
            <a:off x="731490" y="2173412"/>
            <a:ext cx="6326951" cy="20478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90" dirty="0">
                <a:solidFill>
                  <a:srgbClr val="DDE1E4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- Das Subjekt muss bei weiteren Prädikaten nicht wiederholt werden</a:t>
            </a:r>
            <a:endParaRPr lang="en-US" sz="1190" dirty="0"/>
          </a:p>
        </p:txBody>
      </p:sp>
      <p:sp>
        <p:nvSpPr>
          <p:cNvPr id="10" name="Text 7"/>
          <p:cNvSpPr/>
          <p:nvPr/>
        </p:nvSpPr>
        <p:spPr>
          <a:xfrm>
            <a:off x="731490" y="2585442"/>
            <a:ext cx="6228278" cy="20478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90" dirty="0">
                <a:solidFill>
                  <a:srgbClr val="DDE1E4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- Mehrere Eigenschaften können in einem kompakten Block stehen</a:t>
            </a:r>
            <a:endParaRPr lang="en-US" sz="1190" dirty="0"/>
          </a:p>
        </p:txBody>
      </p:sp>
      <p:sp>
        <p:nvSpPr>
          <p:cNvPr id="11" name="Text 8"/>
          <p:cNvSpPr/>
          <p:nvPr/>
        </p:nvSpPr>
        <p:spPr>
          <a:xfrm>
            <a:off x="731490" y="2997473"/>
            <a:ext cx="4187778" cy="20478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90" dirty="0">
                <a:solidFill>
                  <a:srgbClr val="DDE1E4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- Jede Zeile bleibt trotzdem ein eigenes Triple</a:t>
            </a:r>
            <a:endParaRPr lang="en-US" sz="1190" dirty="0"/>
          </a:p>
        </p:txBody>
      </p:sp>
      <p:sp>
        <p:nvSpPr>
          <p:cNvPr id="13" name="Text 10"/>
          <p:cNvSpPr/>
          <p:nvPr/>
        </p:nvSpPr>
        <p:spPr>
          <a:xfrm>
            <a:off x="859831" y="3401095"/>
            <a:ext cx="6326951" cy="87228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1620"/>
              </a:spcBef>
              <a:buNone/>
            </a:pPr>
            <a:endParaRPr lang="en-US" sz="1010" kern="0" spc="-20" dirty="0">
              <a:solidFill>
                <a:srgbClr val="D8232A"/>
              </a:solidFill>
              <a:latin typeface="IBM Plex Mono" pitchFamily="34" charset="0"/>
              <a:ea typeface="IBM Plex Mono" pitchFamily="34" charset="-122"/>
              <a:cs typeface="IBM Plex Mono" pitchFamily="34" charset="-120"/>
            </a:endParaRPr>
          </a:p>
          <a:p>
            <a:pPr marL="0" indent="0" algn="l">
              <a:spcBef>
                <a:spcPts val="1620"/>
              </a:spcBef>
              <a:buNone/>
            </a:pPr>
            <a:r>
              <a:rPr lang="en-US" sz="1010" kern="0" spc="-20" dirty="0">
                <a:solidFill>
                  <a:srgbClr val="D8232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:</a:t>
            </a:r>
            <a:r>
              <a:rPr lang="en-US" sz="1010" kern="0" spc="-20" dirty="0" err="1">
                <a:solidFill>
                  <a:srgbClr val="D8232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meinAuto</a:t>
            </a:r>
            <a:r>
              <a:rPr lang="en-US" sz="1010" kern="0" spc="-20" dirty="0">
                <a:solidFill>
                  <a:srgbClr val="D8232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:</a:t>
            </a:r>
            <a:r>
              <a:rPr lang="en-US" sz="1010" kern="0" spc="-20" dirty="0" err="1">
                <a:solidFill>
                  <a:srgbClr val="D8232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hatFarbe</a:t>
            </a:r>
            <a:r>
              <a:rPr lang="en-US" sz="1010" kern="0" spc="-20" dirty="0">
                <a:solidFill>
                  <a:srgbClr val="D8232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“rot” ; </a:t>
            </a:r>
          </a:p>
          <a:p>
            <a:pPr marL="0" indent="0" algn="l">
              <a:spcBef>
                <a:spcPts val="1620"/>
              </a:spcBef>
              <a:buNone/>
            </a:pPr>
            <a:r>
              <a:rPr lang="en-US" sz="1010" kern="0" spc="-20" dirty="0">
                <a:solidFill>
                  <a:srgbClr val="D8232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        :</a:t>
            </a:r>
            <a:r>
              <a:rPr lang="en-US" sz="1010" kern="0" spc="-20" dirty="0" err="1">
                <a:solidFill>
                  <a:srgbClr val="D8232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liegtPS</a:t>
            </a:r>
            <a:r>
              <a:rPr lang="en-US" sz="1010" kern="0" spc="-20" dirty="0">
                <a:solidFill>
                  <a:srgbClr val="D8232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150 ; </a:t>
            </a:r>
          </a:p>
          <a:p>
            <a:pPr marL="0" indent="0" algn="l">
              <a:spcBef>
                <a:spcPts val="1620"/>
              </a:spcBef>
              <a:buNone/>
            </a:pPr>
            <a:r>
              <a:rPr lang="en-US" sz="1010" kern="0" spc="-20" dirty="0">
                <a:solidFill>
                  <a:srgbClr val="D8232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        :</a:t>
            </a:r>
            <a:r>
              <a:rPr lang="en-US" sz="1010" kern="0" spc="-20" dirty="0" err="1">
                <a:solidFill>
                  <a:srgbClr val="D8232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stehtIn</a:t>
            </a:r>
            <a:r>
              <a:rPr lang="en-US" sz="1010" kern="0" spc="-20" dirty="0">
                <a:solidFill>
                  <a:srgbClr val="D8232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:</a:t>
            </a:r>
            <a:r>
              <a:rPr lang="en-US" sz="1010" kern="0" spc="-20" dirty="0" err="1">
                <a:solidFill>
                  <a:srgbClr val="D8232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garageNord</a:t>
            </a:r>
            <a:r>
              <a:rPr lang="en-US" sz="1010" kern="0" spc="-20" dirty="0">
                <a:solidFill>
                  <a:srgbClr val="D8232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.</a:t>
            </a:r>
            <a:endParaRPr lang="en-US" sz="1010" dirty="0"/>
          </a:p>
        </p:txBody>
      </p:sp>
      <p:sp>
        <p:nvSpPr>
          <p:cNvPr id="14" name="Text 11"/>
          <p:cNvSpPr/>
          <p:nvPr/>
        </p:nvSpPr>
        <p:spPr>
          <a:xfrm>
            <a:off x="7315944" y="4805437"/>
            <a:ext cx="1482685" cy="1190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717C8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RDF 1.1 Turtle · BLW</a:t>
            </a:r>
            <a:endParaRPr lang="en-US" sz="720" dirty="0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32420" y="2068674"/>
            <a:ext cx="6581775" cy="414338"/>
          </a:xfrm>
          <a:prstGeom prst="rect">
            <a:avLst/>
          </a:prstGeom>
        </p:spPr>
      </p:pic>
      <p:pic>
        <p:nvPicPr>
          <p:cNvPr id="16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32420" y="2480704"/>
            <a:ext cx="6581775" cy="414338"/>
          </a:xfrm>
          <a:prstGeom prst="rect">
            <a:avLst/>
          </a:prstGeom>
        </p:spPr>
      </p:pic>
      <p:pic>
        <p:nvPicPr>
          <p:cNvPr id="17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32420" y="2892735"/>
            <a:ext cx="6581775" cy="414338"/>
          </a:xfrm>
          <a:prstGeom prst="rect">
            <a:avLst/>
          </a:prstGeom>
        </p:spPr>
      </p:pic>
      <p:pic>
        <p:nvPicPr>
          <p:cNvPr id="18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32420" y="3304766"/>
            <a:ext cx="6581775" cy="414338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0" y="-484"/>
            <a:ext cx="9144000" cy="52388"/>
          </a:xfrm>
          <a:prstGeom prst="rect">
            <a:avLst/>
          </a:prstGeom>
          <a:solidFill>
            <a:srgbClr val="D8232A"/>
          </a:solidFill>
          <a:ln/>
        </p:spPr>
        <p:txBody>
          <a:bodyPr/>
          <a:lstStyle/>
          <a:p>
            <a:endParaRPr lang="de-CH"/>
          </a:p>
        </p:txBody>
      </p:sp>
      <p:sp>
        <p:nvSpPr>
          <p:cNvPr id="4" name="Shape 2"/>
          <p:cNvSpPr/>
          <p:nvPr/>
        </p:nvSpPr>
        <p:spPr>
          <a:xfrm>
            <a:off x="0" y="4942917"/>
            <a:ext cx="9144000" cy="200025"/>
          </a:xfrm>
          <a:prstGeom prst="rect">
            <a:avLst/>
          </a:prstGeom>
          <a:solidFill>
            <a:srgbClr val="002B49"/>
          </a:solidFill>
          <a:ln/>
        </p:spPr>
        <p:txBody>
          <a:bodyPr/>
          <a:lstStyle/>
          <a:p>
            <a:endParaRPr lang="de-CH"/>
          </a:p>
        </p:txBody>
      </p:sp>
      <p:sp>
        <p:nvSpPr>
          <p:cNvPr id="5" name="Text 3"/>
          <p:cNvSpPr/>
          <p:nvPr/>
        </p:nvSpPr>
        <p:spPr>
          <a:xfrm>
            <a:off x="640035" y="318120"/>
            <a:ext cx="1280793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60" b="1" kern="0" spc="156" dirty="0">
                <a:solidFill>
                  <a:srgbClr val="D8232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09 | SYNTAX</a:t>
            </a:r>
            <a:endParaRPr lang="en-US" sz="860" dirty="0"/>
          </a:p>
        </p:txBody>
      </p:sp>
      <p:sp>
        <p:nvSpPr>
          <p:cNvPr id="6" name="Text 4"/>
          <p:cNvSpPr/>
          <p:nvPr/>
        </p:nvSpPr>
        <p:spPr>
          <a:xfrm>
            <a:off x="640035" y="503039"/>
            <a:ext cx="7198950" cy="4429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648"/>
              </a:spcBef>
              <a:buNone/>
            </a:pPr>
            <a:r>
              <a:rPr lang="en-US" sz="2740" b="1" kern="0" spc="-164" dirty="0">
                <a:solidFill>
                  <a:srgbClr val="002B49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Das Komma bündelt mehrere Objekte</a:t>
            </a:r>
            <a:endParaRPr lang="en-US" sz="2740" dirty="0"/>
          </a:p>
        </p:txBody>
      </p:sp>
      <p:sp>
        <p:nvSpPr>
          <p:cNvPr id="7" name="Text 5"/>
          <p:cNvSpPr/>
          <p:nvPr/>
        </p:nvSpPr>
        <p:spPr>
          <a:xfrm>
            <a:off x="640035" y="1548482"/>
            <a:ext cx="5282758" cy="20478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90" dirty="0">
                <a:solidFill>
                  <a:srgbClr val="414E57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- Subjekt und Prädikat gelten für mehrere Objekte weiter</a:t>
            </a:r>
            <a:endParaRPr lang="en-US" sz="1190" dirty="0"/>
          </a:p>
        </p:txBody>
      </p:sp>
      <p:sp>
        <p:nvSpPr>
          <p:cNvPr id="8" name="Text 6"/>
          <p:cNvSpPr/>
          <p:nvPr/>
        </p:nvSpPr>
        <p:spPr>
          <a:xfrm>
            <a:off x="640035" y="1968103"/>
            <a:ext cx="5390622" cy="20478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90" dirty="0">
                <a:solidFill>
                  <a:srgbClr val="414E57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- Listen ähnlicher Werte lassen sich auf einer Aussagezeile</a:t>
            </a:r>
            <a:endParaRPr lang="en-US" sz="1190" dirty="0"/>
          </a:p>
        </p:txBody>
      </p:sp>
      <p:sp>
        <p:nvSpPr>
          <p:cNvPr id="9" name="Text 7"/>
          <p:cNvSpPr/>
          <p:nvPr/>
        </p:nvSpPr>
        <p:spPr>
          <a:xfrm>
            <a:off x="640035" y="2156743"/>
            <a:ext cx="823124" cy="20478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90" dirty="0">
                <a:solidFill>
                  <a:srgbClr val="414E57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bündeln</a:t>
            </a:r>
            <a:endParaRPr lang="en-US" sz="1190" dirty="0"/>
          </a:p>
        </p:txBody>
      </p:sp>
      <p:sp>
        <p:nvSpPr>
          <p:cNvPr id="10" name="Text 8"/>
          <p:cNvSpPr/>
          <p:nvPr/>
        </p:nvSpPr>
        <p:spPr>
          <a:xfrm>
            <a:off x="640035" y="2576364"/>
            <a:ext cx="5168607" cy="20478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90" dirty="0">
                <a:solidFill>
                  <a:srgbClr val="414E57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- Die einzelnen Beziehungen bleiben im Graph getrennt</a:t>
            </a:r>
            <a:endParaRPr lang="en-US" sz="1190" dirty="0"/>
          </a:p>
        </p:txBody>
      </p:sp>
      <p:sp>
        <p:nvSpPr>
          <p:cNvPr id="11" name="Text 9"/>
          <p:cNvSpPr/>
          <p:nvPr/>
        </p:nvSpPr>
        <p:spPr>
          <a:xfrm>
            <a:off x="640035" y="2995985"/>
            <a:ext cx="5464336" cy="20478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endParaRPr lang="en-US" sz="1190" dirty="0"/>
          </a:p>
        </p:txBody>
      </p:sp>
      <p:sp>
        <p:nvSpPr>
          <p:cNvPr id="12" name="Text 10"/>
          <p:cNvSpPr/>
          <p:nvPr/>
        </p:nvSpPr>
        <p:spPr>
          <a:xfrm>
            <a:off x="640035" y="3184624"/>
            <a:ext cx="1804534" cy="20478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endParaRPr lang="en-US" sz="1190" dirty="0"/>
          </a:p>
        </p:txBody>
      </p:sp>
      <p:sp>
        <p:nvSpPr>
          <p:cNvPr id="13" name="Shape 11"/>
          <p:cNvSpPr/>
          <p:nvPr/>
        </p:nvSpPr>
        <p:spPr>
          <a:xfrm>
            <a:off x="5487405" y="1450757"/>
            <a:ext cx="3441442" cy="1616758"/>
          </a:xfrm>
          <a:prstGeom prst="rect">
            <a:avLst/>
          </a:prstGeom>
          <a:solidFill>
            <a:srgbClr val="002B49"/>
          </a:solidFill>
          <a:ln/>
          <a:effectLst>
            <a:outerShdw blurRad="101600" dist="103453" dir="2700000" algn="bl" rotWithShape="0">
              <a:srgbClr val="D8232A">
                <a:alpha val="100000"/>
              </a:srgbClr>
            </a:outerShdw>
          </a:effectLst>
        </p:spPr>
        <p:txBody>
          <a:bodyPr/>
          <a:lstStyle/>
          <a:p>
            <a:endParaRPr lang="de-CH"/>
          </a:p>
        </p:txBody>
      </p:sp>
      <p:sp>
        <p:nvSpPr>
          <p:cNvPr id="14" name="Text 12"/>
          <p:cNvSpPr/>
          <p:nvPr/>
        </p:nvSpPr>
        <p:spPr>
          <a:xfrm>
            <a:off x="5724153" y="1660847"/>
            <a:ext cx="1050459" cy="1190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720" kern="0" spc="115" dirty="0">
                <a:solidFill>
                  <a:srgbClr val="879CA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OBJECT LIST</a:t>
            </a:r>
            <a:endParaRPr lang="en-US" sz="720" dirty="0"/>
          </a:p>
        </p:txBody>
      </p:sp>
      <p:sp>
        <p:nvSpPr>
          <p:cNvPr id="15" name="Text 13"/>
          <p:cNvSpPr/>
          <p:nvPr/>
        </p:nvSpPr>
        <p:spPr>
          <a:xfrm>
            <a:off x="5680591" y="1885592"/>
            <a:ext cx="3055069" cy="3949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23"/>
              </a:lnSpc>
              <a:buNone/>
            </a:pPr>
            <a:r>
              <a:rPr lang="en-US" sz="1040" kern="0" spc="-21" dirty="0">
                <a:solidFill>
                  <a:srgbClr val="F5F7F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:</a:t>
            </a:r>
            <a:r>
              <a:rPr lang="en-US" sz="1040" kern="0" spc="-21" dirty="0" err="1">
                <a:solidFill>
                  <a:srgbClr val="F5F7F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meinAtuo</a:t>
            </a:r>
            <a:r>
              <a:rPr lang="en-US" sz="1040" kern="0" spc="-21" dirty="0">
                <a:solidFill>
                  <a:srgbClr val="F5F7F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:</a:t>
            </a:r>
            <a:r>
              <a:rPr lang="en-US" sz="1040" kern="0" spc="-21" dirty="0" err="1">
                <a:solidFill>
                  <a:srgbClr val="F5F7F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hatAusstattung</a:t>
            </a:r>
            <a:r>
              <a:rPr lang="en-US" sz="1040" kern="0" spc="-21" dirty="0">
                <a:solidFill>
                  <a:srgbClr val="F5F7F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:Navi,</a:t>
            </a:r>
            <a:endParaRPr lang="en-US" sz="1040" dirty="0"/>
          </a:p>
          <a:p>
            <a:pPr marL="0" indent="0" algn="l">
              <a:lnSpc>
                <a:spcPts val="1723"/>
              </a:lnSpc>
              <a:buNone/>
            </a:pPr>
            <a:r>
              <a:rPr lang="en-US" sz="1040" kern="0" spc="-21" dirty="0">
                <a:solidFill>
                  <a:srgbClr val="F5F7F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		  :</a:t>
            </a:r>
            <a:r>
              <a:rPr lang="en-US" sz="1040" kern="0" spc="-21" dirty="0" err="1">
                <a:solidFill>
                  <a:srgbClr val="F5F7F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Sitzheizung</a:t>
            </a:r>
            <a:r>
              <a:rPr lang="en-US" sz="1040" kern="0" spc="-21" dirty="0">
                <a:solidFill>
                  <a:srgbClr val="F5F7F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,</a:t>
            </a:r>
          </a:p>
          <a:p>
            <a:pPr marL="0" indent="0" algn="l">
              <a:lnSpc>
                <a:spcPts val="1723"/>
              </a:lnSpc>
              <a:buNone/>
            </a:pPr>
            <a:r>
              <a:rPr lang="en-US" sz="1040" kern="0" spc="-21" dirty="0">
                <a:solidFill>
                  <a:srgbClr val="F5F7F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		  :</a:t>
            </a:r>
            <a:r>
              <a:rPr lang="en-US" sz="1040" kern="0" spc="-21" dirty="0" err="1">
                <a:solidFill>
                  <a:srgbClr val="F5F7F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Tempomat</a:t>
            </a:r>
            <a:r>
              <a:rPr lang="en-US" sz="1040" kern="0" spc="-21" dirty="0">
                <a:solidFill>
                  <a:srgbClr val="F5F7F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.</a:t>
            </a:r>
            <a:endParaRPr lang="en-US" sz="1040" dirty="0"/>
          </a:p>
        </p:txBody>
      </p:sp>
      <p:sp>
        <p:nvSpPr>
          <p:cNvPr id="16" name="Text 14"/>
          <p:cNvSpPr/>
          <p:nvPr/>
        </p:nvSpPr>
        <p:spPr>
          <a:xfrm>
            <a:off x="5724153" y="2581201"/>
            <a:ext cx="2446295" cy="1952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1620"/>
              </a:spcBef>
              <a:buNone/>
            </a:pPr>
            <a:r>
              <a:rPr lang="en-US" sz="1120" dirty="0">
                <a:solidFill>
                  <a:srgbClr val="B9C4CE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Ein Prädikat. Drei getrennte</a:t>
            </a:r>
            <a:endParaRPr lang="en-US" sz="1120" dirty="0"/>
          </a:p>
        </p:txBody>
      </p:sp>
      <p:sp>
        <p:nvSpPr>
          <p:cNvPr id="17" name="Text 15"/>
          <p:cNvSpPr/>
          <p:nvPr/>
        </p:nvSpPr>
        <p:spPr>
          <a:xfrm>
            <a:off x="5724153" y="2758380"/>
            <a:ext cx="1238808" cy="1952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1620"/>
              </a:spcBef>
              <a:buNone/>
            </a:pPr>
            <a:r>
              <a:rPr lang="en-US" sz="1120" dirty="0">
                <a:solidFill>
                  <a:srgbClr val="B9C4CE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Beziehungen.</a:t>
            </a:r>
            <a:endParaRPr lang="en-US" sz="1120" dirty="0"/>
          </a:p>
        </p:txBody>
      </p:sp>
      <p:pic>
        <p:nvPicPr>
          <p:cNvPr id="18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39552" y="1440396"/>
            <a:ext cx="4481512" cy="419100"/>
          </a:xfrm>
          <a:prstGeom prst="rect">
            <a:avLst/>
          </a:prstGeom>
        </p:spPr>
      </p:pic>
      <p:pic>
        <p:nvPicPr>
          <p:cNvPr id="19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39552" y="1859087"/>
            <a:ext cx="4481512" cy="609600"/>
          </a:xfrm>
          <a:prstGeom prst="rect">
            <a:avLst/>
          </a:prstGeom>
        </p:spPr>
      </p:pic>
      <p:pic>
        <p:nvPicPr>
          <p:cNvPr id="20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39552" y="2468277"/>
            <a:ext cx="4481512" cy="4191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EF2F4"/>
          </a:solidFill>
          <a:ln/>
        </p:spPr>
        <p:txBody>
          <a:bodyPr/>
          <a:lstStyle/>
          <a:p>
            <a:endParaRPr lang="de-CH"/>
          </a:p>
        </p:txBody>
      </p:sp>
      <p:sp>
        <p:nvSpPr>
          <p:cNvPr id="3" name="Shape 1"/>
          <p:cNvSpPr/>
          <p:nvPr/>
        </p:nvSpPr>
        <p:spPr>
          <a:xfrm>
            <a:off x="0" y="-484"/>
            <a:ext cx="9144000" cy="52388"/>
          </a:xfrm>
          <a:prstGeom prst="rect">
            <a:avLst/>
          </a:prstGeom>
          <a:solidFill>
            <a:srgbClr val="D8232A"/>
          </a:solidFill>
          <a:ln/>
        </p:spPr>
        <p:txBody>
          <a:bodyPr/>
          <a:lstStyle/>
          <a:p>
            <a:endParaRPr lang="de-CH"/>
          </a:p>
        </p:txBody>
      </p:sp>
      <p:sp>
        <p:nvSpPr>
          <p:cNvPr id="4" name="Shape 2"/>
          <p:cNvSpPr/>
          <p:nvPr/>
        </p:nvSpPr>
        <p:spPr>
          <a:xfrm>
            <a:off x="558" y="0"/>
            <a:ext cx="200025" cy="5143500"/>
          </a:xfrm>
          <a:prstGeom prst="rect">
            <a:avLst/>
          </a:prstGeom>
          <a:solidFill>
            <a:srgbClr val="002B49"/>
          </a:solidFill>
          <a:ln/>
        </p:spPr>
        <p:txBody>
          <a:bodyPr/>
          <a:lstStyle/>
          <a:p>
            <a:endParaRPr lang="de-CH"/>
          </a:p>
        </p:txBody>
      </p:sp>
      <p:sp>
        <p:nvSpPr>
          <p:cNvPr id="5" name="Text 3"/>
          <p:cNvSpPr/>
          <p:nvPr/>
        </p:nvSpPr>
        <p:spPr>
          <a:xfrm>
            <a:off x="640035" y="266700"/>
            <a:ext cx="1836941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60" b="1" kern="0" spc="156" dirty="0">
                <a:solidFill>
                  <a:srgbClr val="D8232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10 | TYPISIERUNG</a:t>
            </a:r>
            <a:endParaRPr lang="en-US" sz="860" dirty="0"/>
          </a:p>
        </p:txBody>
      </p:sp>
      <p:sp>
        <p:nvSpPr>
          <p:cNvPr id="6" name="Text 4"/>
          <p:cNvSpPr/>
          <p:nvPr/>
        </p:nvSpPr>
        <p:spPr>
          <a:xfrm>
            <a:off x="640035" y="451619"/>
            <a:ext cx="7067483" cy="4429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648"/>
              </a:spcBef>
              <a:buNone/>
            </a:pPr>
            <a:r>
              <a:rPr lang="en-US" sz="2740" b="1" kern="0" spc="-164" dirty="0">
                <a:solidFill>
                  <a:srgbClr val="002B49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 weist einer Ressource einen Typ zu</a:t>
            </a:r>
            <a:endParaRPr lang="en-US" sz="2740" dirty="0"/>
          </a:p>
        </p:txBody>
      </p:sp>
      <p:sp>
        <p:nvSpPr>
          <p:cNvPr id="7" name="Text 5"/>
          <p:cNvSpPr/>
          <p:nvPr/>
        </p:nvSpPr>
        <p:spPr>
          <a:xfrm>
            <a:off x="640035" y="1482030"/>
            <a:ext cx="2888679" cy="20478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90" dirty="0">
                <a:solidFill>
                  <a:srgbClr val="404D56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- a ist die Kurzform für rdf:type</a:t>
            </a:r>
            <a:endParaRPr lang="en-US" sz="1190" dirty="0"/>
          </a:p>
        </p:txBody>
      </p:sp>
      <p:sp>
        <p:nvSpPr>
          <p:cNvPr id="8" name="Text 6"/>
          <p:cNvSpPr/>
          <p:nvPr/>
        </p:nvSpPr>
        <p:spPr>
          <a:xfrm>
            <a:off x="640035" y="1799258"/>
            <a:ext cx="5095473" cy="20478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1013"/>
              </a:spcBef>
              <a:buNone/>
            </a:pPr>
            <a:r>
              <a:rPr lang="en-US" sz="1190" dirty="0">
                <a:solidFill>
                  <a:srgbClr val="404D56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- Eine Ressource wird dadurch einer Klasse zugeordnet</a:t>
            </a:r>
            <a:endParaRPr lang="en-US" sz="1190" dirty="0"/>
          </a:p>
        </p:txBody>
      </p:sp>
      <p:sp>
        <p:nvSpPr>
          <p:cNvPr id="9" name="Text 7"/>
          <p:cNvSpPr/>
          <p:nvPr/>
        </p:nvSpPr>
        <p:spPr>
          <a:xfrm>
            <a:off x="640035" y="2116485"/>
            <a:ext cx="4826251" cy="20478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1013"/>
              </a:spcBef>
              <a:buNone/>
            </a:pPr>
            <a:r>
              <a:rPr lang="en-US" sz="1190" dirty="0">
                <a:solidFill>
                  <a:srgbClr val="404D56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- Klassen bilden die Grundstruktur eines Vokabulars</a:t>
            </a:r>
            <a:endParaRPr lang="en-US" sz="1190" dirty="0"/>
          </a:p>
        </p:txBody>
      </p:sp>
      <p:sp>
        <p:nvSpPr>
          <p:cNvPr id="10" name="Text 8"/>
          <p:cNvSpPr/>
          <p:nvPr/>
        </p:nvSpPr>
        <p:spPr>
          <a:xfrm>
            <a:off x="640035" y="2567062"/>
            <a:ext cx="5803791" cy="20478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1013"/>
              </a:spcBef>
              <a:buNone/>
            </a:pPr>
            <a:r>
              <a:rPr lang="en-US" sz="1190" dirty="0">
                <a:solidFill>
                  <a:srgbClr val="404D56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- Nutzen: Systeme können Ressourcen gruppieren, prüfen und</a:t>
            </a:r>
            <a:endParaRPr lang="en-US" sz="1190" dirty="0"/>
          </a:p>
        </p:txBody>
      </p:sp>
      <p:sp>
        <p:nvSpPr>
          <p:cNvPr id="11" name="Text 9"/>
          <p:cNvSpPr/>
          <p:nvPr/>
        </p:nvSpPr>
        <p:spPr>
          <a:xfrm>
            <a:off x="640035" y="2755702"/>
            <a:ext cx="1549628" cy="20478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1013"/>
              </a:spcBef>
              <a:buNone/>
            </a:pPr>
            <a:r>
              <a:rPr lang="en-US" sz="1190" dirty="0">
                <a:solidFill>
                  <a:srgbClr val="404D56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gezielt abfragen</a:t>
            </a:r>
            <a:endParaRPr lang="en-US" sz="1190" dirty="0"/>
          </a:p>
        </p:txBody>
      </p:sp>
      <p:sp>
        <p:nvSpPr>
          <p:cNvPr id="12" name="Shape 10"/>
          <p:cNvSpPr/>
          <p:nvPr/>
        </p:nvSpPr>
        <p:spPr>
          <a:xfrm>
            <a:off x="5578376" y="1388232"/>
            <a:ext cx="2833687" cy="2109788"/>
          </a:xfrm>
          <a:prstGeom prst="rect">
            <a:avLst/>
          </a:prstGeom>
          <a:solidFill>
            <a:srgbClr val="002B49"/>
          </a:solidFill>
          <a:ln/>
        </p:spPr>
        <p:txBody>
          <a:bodyPr/>
          <a:lstStyle/>
          <a:p>
            <a:endParaRPr lang="de-CH"/>
          </a:p>
        </p:txBody>
      </p:sp>
      <p:sp>
        <p:nvSpPr>
          <p:cNvPr id="13" name="Text 11"/>
          <p:cNvSpPr/>
          <p:nvPr/>
        </p:nvSpPr>
        <p:spPr>
          <a:xfrm>
            <a:off x="5824761" y="1547738"/>
            <a:ext cx="779591" cy="1190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720" kern="0" spc="115" dirty="0">
                <a:solidFill>
                  <a:srgbClr val="879CA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RDF:TYPE</a:t>
            </a:r>
            <a:endParaRPr lang="en-US" sz="720" dirty="0"/>
          </a:p>
        </p:txBody>
      </p:sp>
      <p:sp>
        <p:nvSpPr>
          <p:cNvPr id="14" name="Shape 12"/>
          <p:cNvSpPr/>
          <p:nvPr/>
        </p:nvSpPr>
        <p:spPr>
          <a:xfrm>
            <a:off x="6461782" y="2040210"/>
            <a:ext cx="1066800" cy="376238"/>
          </a:xfrm>
          <a:prstGeom prst="rect">
            <a:avLst/>
          </a:prstGeom>
          <a:ln w="4763">
            <a:solidFill>
              <a:srgbClr val="D8232A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15" name="Text 13"/>
          <p:cNvSpPr/>
          <p:nvPr/>
        </p:nvSpPr>
        <p:spPr>
          <a:xfrm>
            <a:off x="6649566" y="2141860"/>
            <a:ext cx="955752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10" dirty="0">
                <a:solidFill>
                  <a:srgbClr val="F5F7F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:seminar3</a:t>
            </a:r>
            <a:endParaRPr lang="en-US" sz="1010" dirty="0"/>
          </a:p>
        </p:txBody>
      </p:sp>
      <p:sp>
        <p:nvSpPr>
          <p:cNvPr id="16" name="Shape 14"/>
          <p:cNvSpPr/>
          <p:nvPr/>
        </p:nvSpPr>
        <p:spPr>
          <a:xfrm>
            <a:off x="6985657" y="2519362"/>
            <a:ext cx="19050" cy="257175"/>
          </a:xfrm>
          <a:prstGeom prst="rect">
            <a:avLst/>
          </a:prstGeom>
          <a:solidFill>
            <a:srgbClr val="D8232A"/>
          </a:solidFill>
          <a:ln/>
        </p:spPr>
        <p:txBody>
          <a:bodyPr/>
          <a:lstStyle/>
          <a:p>
            <a:endParaRPr lang="de-CH"/>
          </a:p>
        </p:txBody>
      </p:sp>
      <p:sp>
        <p:nvSpPr>
          <p:cNvPr id="17" name="Shape 15"/>
          <p:cNvSpPr/>
          <p:nvPr/>
        </p:nvSpPr>
        <p:spPr>
          <a:xfrm>
            <a:off x="6116501" y="2879452"/>
            <a:ext cx="1757363" cy="376238"/>
          </a:xfrm>
          <a:prstGeom prst="rect">
            <a:avLst/>
          </a:prstGeom>
          <a:ln w="4763">
            <a:solidFill>
              <a:srgbClr val="F5F8FA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18" name="Text 16"/>
          <p:cNvSpPr/>
          <p:nvPr/>
        </p:nvSpPr>
        <p:spPr>
          <a:xfrm>
            <a:off x="6303987" y="2981102"/>
            <a:ext cx="1854257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10" dirty="0">
                <a:solidFill>
                  <a:srgbClr val="F5F7F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:Lehrveranstaltung</a:t>
            </a:r>
            <a:endParaRPr lang="en-US" sz="1010" dirty="0"/>
          </a:p>
        </p:txBody>
      </p:sp>
      <p:sp>
        <p:nvSpPr>
          <p:cNvPr id="19" name="Text 17"/>
          <p:cNvSpPr/>
          <p:nvPr/>
        </p:nvSpPr>
        <p:spPr>
          <a:xfrm>
            <a:off x="3116604" y="3621285"/>
            <a:ext cx="5416314" cy="9990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>
              <a:lnSpc>
                <a:spcPts val="1512"/>
              </a:lnSpc>
            </a:pPr>
            <a:r>
              <a:rPr lang="de-CH" sz="1010" dirty="0">
                <a:solidFill>
                  <a:srgbClr val="D8232A"/>
                </a:solidFill>
                <a:latin typeface="IBM Plex Mono" pitchFamily="34" charset="0"/>
              </a:rPr>
              <a:t>:seminar3 &lt;http://www.w3.org/1999/02/22-rdf-syntax-ns#type&gt; :Lehrveranstaltung .</a:t>
            </a:r>
          </a:p>
          <a:p>
            <a:pPr algn="r">
              <a:lnSpc>
                <a:spcPts val="1512"/>
              </a:lnSpc>
            </a:pPr>
            <a:r>
              <a:rPr lang="de-CH" sz="1010" dirty="0">
                <a:solidFill>
                  <a:srgbClr val="D8232A"/>
                </a:solidFill>
                <a:latin typeface="IBM Plex Mono" pitchFamily="34" charset="0"/>
              </a:rPr>
              <a:t>:seminar3 </a:t>
            </a:r>
            <a:r>
              <a:rPr lang="de-CH" sz="1010" dirty="0" err="1">
                <a:solidFill>
                  <a:srgbClr val="D8232A"/>
                </a:solidFill>
                <a:latin typeface="IBM Plex Mono" pitchFamily="34" charset="0"/>
              </a:rPr>
              <a:t>rdf:type</a:t>
            </a:r>
            <a:r>
              <a:rPr lang="de-CH" sz="1010" dirty="0">
                <a:solidFill>
                  <a:srgbClr val="D8232A"/>
                </a:solidFill>
                <a:latin typeface="IBM Plex Mono" pitchFamily="34" charset="0"/>
              </a:rPr>
              <a:t> :Lehrveranstaltung .</a:t>
            </a:r>
            <a:endParaRPr lang="en-US" sz="1010" dirty="0">
              <a:solidFill>
                <a:srgbClr val="D8232A"/>
              </a:solidFill>
              <a:latin typeface="IBM Plex Mono" pitchFamily="34" charset="0"/>
            </a:endParaRPr>
          </a:p>
          <a:p>
            <a:pPr marL="0" indent="0" algn="r">
              <a:lnSpc>
                <a:spcPts val="1512"/>
              </a:lnSpc>
              <a:buNone/>
            </a:pPr>
            <a:r>
              <a:rPr lang="en-US" sz="1010" dirty="0">
                <a:solidFill>
                  <a:srgbClr val="D8232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:seminar3 a :</a:t>
            </a:r>
            <a:r>
              <a:rPr lang="en-US" sz="1010" dirty="0" err="1">
                <a:solidFill>
                  <a:srgbClr val="D8232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Lehrveranstaltung</a:t>
            </a:r>
            <a:r>
              <a:rPr lang="en-US" sz="1010" dirty="0">
                <a:solidFill>
                  <a:srgbClr val="D8232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.</a:t>
            </a:r>
            <a:endParaRPr lang="en-US" sz="1010" dirty="0"/>
          </a:p>
          <a:p>
            <a:pPr marL="0" indent="0" algn="r">
              <a:lnSpc>
                <a:spcPts val="1512"/>
              </a:lnSpc>
              <a:buNone/>
            </a:pPr>
            <a:endParaRPr lang="en-US" sz="1010" dirty="0"/>
          </a:p>
        </p:txBody>
      </p:sp>
      <p:pic>
        <p:nvPicPr>
          <p:cNvPr id="20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40035" y="2443758"/>
            <a:ext cx="4572000" cy="509587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5F7F9"/>
          </a:solidFill>
          <a:ln/>
        </p:spPr>
        <p:txBody>
          <a:bodyPr/>
          <a:lstStyle/>
          <a:p>
            <a:endParaRPr lang="de-CH"/>
          </a:p>
        </p:txBody>
      </p:sp>
      <p:sp>
        <p:nvSpPr>
          <p:cNvPr id="3" name="Shape 1"/>
          <p:cNvSpPr/>
          <p:nvPr/>
        </p:nvSpPr>
        <p:spPr>
          <a:xfrm>
            <a:off x="0" y="-484"/>
            <a:ext cx="9144000" cy="52388"/>
          </a:xfrm>
          <a:prstGeom prst="rect">
            <a:avLst/>
          </a:prstGeom>
          <a:solidFill>
            <a:srgbClr val="D8232A"/>
          </a:solidFill>
          <a:ln/>
        </p:spPr>
        <p:txBody>
          <a:bodyPr/>
          <a:lstStyle/>
          <a:p>
            <a:endParaRPr lang="de-CH"/>
          </a:p>
        </p:txBody>
      </p:sp>
      <p:sp>
        <p:nvSpPr>
          <p:cNvPr id="4" name="Text 2"/>
          <p:cNvSpPr/>
          <p:nvPr/>
        </p:nvSpPr>
        <p:spPr>
          <a:xfrm>
            <a:off x="7719640" y="261937"/>
            <a:ext cx="1076771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790" kern="0" spc="143" dirty="0">
                <a:solidFill>
                  <a:srgbClr val="66788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11 | WERTE</a:t>
            </a:r>
            <a:endParaRPr lang="en-US" sz="790" dirty="0"/>
          </a:p>
        </p:txBody>
      </p:sp>
      <p:sp>
        <p:nvSpPr>
          <p:cNvPr id="5" name="Text 3"/>
          <p:cNvSpPr/>
          <p:nvPr/>
        </p:nvSpPr>
        <p:spPr>
          <a:xfrm>
            <a:off x="640035" y="307628"/>
            <a:ext cx="5921134" cy="4429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740" b="1" kern="0" spc="-164" dirty="0">
                <a:solidFill>
                  <a:srgbClr val="002B49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Literale tragen konkrete Werte</a:t>
            </a:r>
            <a:endParaRPr lang="en-US" sz="2740" dirty="0"/>
          </a:p>
        </p:txBody>
      </p:sp>
      <p:sp>
        <p:nvSpPr>
          <p:cNvPr id="6" name="Shape 4"/>
          <p:cNvSpPr/>
          <p:nvPr/>
        </p:nvSpPr>
        <p:spPr>
          <a:xfrm>
            <a:off x="640966" y="1440582"/>
            <a:ext cx="3838575" cy="1123950"/>
          </a:xfrm>
          <a:prstGeom prst="rect">
            <a:avLst/>
          </a:prstGeom>
          <a:solidFill>
            <a:srgbClr val="EEF2F4"/>
          </a:solidFill>
          <a:ln/>
        </p:spPr>
        <p:txBody>
          <a:bodyPr/>
          <a:lstStyle/>
          <a:p>
            <a:endParaRPr lang="de-CH"/>
          </a:p>
        </p:txBody>
      </p:sp>
      <p:sp>
        <p:nvSpPr>
          <p:cNvPr id="7" name="Text 5"/>
          <p:cNvSpPr/>
          <p:nvPr/>
        </p:nvSpPr>
        <p:spPr>
          <a:xfrm>
            <a:off x="902345" y="1564332"/>
            <a:ext cx="4178201" cy="20478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90" dirty="0">
                <a:solidFill>
                  <a:srgbClr val="404D56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- Literale beschreiben Zeichenketten, Zahlen,</a:t>
            </a:r>
            <a:endParaRPr lang="en-US" sz="1190" dirty="0"/>
          </a:p>
        </p:txBody>
      </p:sp>
      <p:sp>
        <p:nvSpPr>
          <p:cNvPr id="8" name="Text 6"/>
          <p:cNvSpPr/>
          <p:nvPr/>
        </p:nvSpPr>
        <p:spPr>
          <a:xfrm>
            <a:off x="902345" y="1752972"/>
            <a:ext cx="2610460" cy="20478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90" dirty="0">
                <a:solidFill>
                  <a:srgbClr val="404D56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Daten oder Wahrheitswerte</a:t>
            </a:r>
            <a:endParaRPr lang="en-US" sz="1190" dirty="0"/>
          </a:p>
        </p:txBody>
      </p:sp>
      <p:sp>
        <p:nvSpPr>
          <p:cNvPr id="9" name="Text 7"/>
          <p:cNvSpPr/>
          <p:nvPr/>
        </p:nvSpPr>
        <p:spPr>
          <a:xfrm>
            <a:off x="902345" y="2044452"/>
            <a:ext cx="3129461" cy="20478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810"/>
              </a:spcBef>
              <a:buNone/>
            </a:pPr>
            <a:r>
              <a:rPr lang="en-US" sz="1190" dirty="0">
                <a:solidFill>
                  <a:srgbClr val="404D56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- Ein Literal ist ein Wert und keine</a:t>
            </a:r>
            <a:endParaRPr lang="en-US" sz="1190" dirty="0"/>
          </a:p>
        </p:txBody>
      </p:sp>
      <p:sp>
        <p:nvSpPr>
          <p:cNvPr id="10" name="Text 8"/>
          <p:cNvSpPr/>
          <p:nvPr/>
        </p:nvSpPr>
        <p:spPr>
          <a:xfrm>
            <a:off x="902345" y="2233092"/>
            <a:ext cx="2362036" cy="20478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810"/>
              </a:spcBef>
              <a:buNone/>
            </a:pPr>
            <a:r>
              <a:rPr lang="en-US" sz="1190" dirty="0">
                <a:solidFill>
                  <a:srgbClr val="404D56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eigenständige Ressource</a:t>
            </a:r>
            <a:endParaRPr lang="en-US" sz="1190" dirty="0"/>
          </a:p>
        </p:txBody>
      </p:sp>
      <p:sp>
        <p:nvSpPr>
          <p:cNvPr id="11" name="Shape 9"/>
          <p:cNvSpPr/>
          <p:nvPr/>
        </p:nvSpPr>
        <p:spPr>
          <a:xfrm>
            <a:off x="4664273" y="1440582"/>
            <a:ext cx="3838575" cy="1123950"/>
          </a:xfrm>
          <a:prstGeom prst="rect">
            <a:avLst/>
          </a:prstGeom>
          <a:solidFill>
            <a:srgbClr val="EEF2F4"/>
          </a:solidFill>
          <a:ln/>
        </p:spPr>
        <p:txBody>
          <a:bodyPr/>
          <a:lstStyle/>
          <a:p>
            <a:endParaRPr lang="de-CH"/>
          </a:p>
        </p:txBody>
      </p:sp>
      <p:sp>
        <p:nvSpPr>
          <p:cNvPr id="12" name="Text 10"/>
          <p:cNvSpPr/>
          <p:nvPr/>
        </p:nvSpPr>
        <p:spPr>
          <a:xfrm>
            <a:off x="4925616" y="1564332"/>
            <a:ext cx="3818528" cy="20478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90" dirty="0">
                <a:solidFill>
                  <a:srgbClr val="404D56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- Der Datentyp macht die Bedeutung des</a:t>
            </a:r>
            <a:endParaRPr lang="en-US" sz="1190" dirty="0"/>
          </a:p>
        </p:txBody>
      </p:sp>
      <p:sp>
        <p:nvSpPr>
          <p:cNvPr id="13" name="Text 11"/>
          <p:cNvSpPr/>
          <p:nvPr/>
        </p:nvSpPr>
        <p:spPr>
          <a:xfrm>
            <a:off x="4925616" y="1752972"/>
            <a:ext cx="1399200" cy="20478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90" dirty="0">
                <a:solidFill>
                  <a:srgbClr val="404D56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Wertes explizit</a:t>
            </a:r>
            <a:endParaRPr lang="en-US" sz="1190" dirty="0"/>
          </a:p>
        </p:txBody>
      </p:sp>
      <p:sp>
        <p:nvSpPr>
          <p:cNvPr id="14" name="Text 12"/>
          <p:cNvSpPr/>
          <p:nvPr/>
        </p:nvSpPr>
        <p:spPr>
          <a:xfrm>
            <a:off x="4925616" y="2044452"/>
            <a:ext cx="4356780" cy="20478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810"/>
              </a:spcBef>
              <a:buNone/>
            </a:pPr>
            <a:r>
              <a:rPr lang="en-US" sz="1190" dirty="0">
                <a:solidFill>
                  <a:srgbClr val="404D56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- Nutzen: Anwendungen können Werte korrekt</a:t>
            </a:r>
            <a:endParaRPr lang="en-US" sz="1190" dirty="0"/>
          </a:p>
        </p:txBody>
      </p:sp>
      <p:sp>
        <p:nvSpPr>
          <p:cNvPr id="15" name="Text 13"/>
          <p:cNvSpPr/>
          <p:nvPr/>
        </p:nvSpPr>
        <p:spPr>
          <a:xfrm>
            <a:off x="4925616" y="2233092"/>
            <a:ext cx="3348573" cy="20478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810"/>
              </a:spcBef>
              <a:buNone/>
            </a:pPr>
            <a:r>
              <a:rPr lang="en-US" sz="1190" dirty="0">
                <a:solidFill>
                  <a:srgbClr val="404D56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sortieren, berechnen und validieren</a:t>
            </a:r>
            <a:endParaRPr lang="en-US" sz="1190" dirty="0"/>
          </a:p>
        </p:txBody>
      </p:sp>
      <p:sp>
        <p:nvSpPr>
          <p:cNvPr id="16" name="Shape 14"/>
          <p:cNvSpPr/>
          <p:nvPr/>
        </p:nvSpPr>
        <p:spPr>
          <a:xfrm>
            <a:off x="640482" y="3867596"/>
            <a:ext cx="7862887" cy="762000"/>
          </a:xfrm>
          <a:prstGeom prst="rect">
            <a:avLst/>
          </a:prstGeom>
          <a:solidFill>
            <a:srgbClr val="002B49"/>
          </a:solidFill>
          <a:ln/>
        </p:spPr>
        <p:txBody>
          <a:bodyPr/>
          <a:lstStyle/>
          <a:p>
            <a:endParaRPr lang="de-CH"/>
          </a:p>
        </p:txBody>
      </p:sp>
      <p:sp>
        <p:nvSpPr>
          <p:cNvPr id="17" name="Text 15"/>
          <p:cNvSpPr/>
          <p:nvPr/>
        </p:nvSpPr>
        <p:spPr>
          <a:xfrm>
            <a:off x="896020" y="4027066"/>
            <a:ext cx="2495148" cy="1190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720" kern="0" spc="115" dirty="0">
                <a:solidFill>
                  <a:srgbClr val="879CA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BEISPIEL · TYPISIERTER WERT</a:t>
            </a:r>
            <a:endParaRPr lang="en-US" sz="720" dirty="0"/>
          </a:p>
        </p:txBody>
      </p:sp>
      <p:sp>
        <p:nvSpPr>
          <p:cNvPr id="18" name="Text 16"/>
          <p:cNvSpPr/>
          <p:nvPr/>
        </p:nvSpPr>
        <p:spPr>
          <a:xfrm>
            <a:off x="896020" y="4271814"/>
            <a:ext cx="3048394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810"/>
              </a:spcBef>
              <a:buNone/>
            </a:pPr>
            <a:r>
              <a:rPr lang="en-US" sz="1120" kern="0" spc="-22" dirty="0">
                <a:solidFill>
                  <a:srgbClr val="D8232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:messung4 :temperatur 21.6 .</a:t>
            </a:r>
            <a:endParaRPr lang="en-US" sz="1120" dirty="0"/>
          </a:p>
        </p:txBody>
      </p:sp>
      <p:pic>
        <p:nvPicPr>
          <p:cNvPr id="19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40966" y="1440582"/>
            <a:ext cx="3838575" cy="1123950"/>
          </a:xfrm>
          <a:prstGeom prst="rect">
            <a:avLst/>
          </a:prstGeom>
        </p:spPr>
      </p:pic>
      <p:pic>
        <p:nvPicPr>
          <p:cNvPr id="20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64273" y="1440582"/>
            <a:ext cx="3838575" cy="112395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EF2F4"/>
          </a:solidFill>
          <a:ln/>
        </p:spPr>
        <p:txBody>
          <a:bodyPr/>
          <a:lstStyle/>
          <a:p>
            <a:endParaRPr lang="de-CH"/>
          </a:p>
        </p:txBody>
      </p:sp>
      <p:sp>
        <p:nvSpPr>
          <p:cNvPr id="3" name="Shape 1"/>
          <p:cNvSpPr/>
          <p:nvPr/>
        </p:nvSpPr>
        <p:spPr>
          <a:xfrm>
            <a:off x="0" y="-484"/>
            <a:ext cx="9144000" cy="52388"/>
          </a:xfrm>
          <a:prstGeom prst="rect">
            <a:avLst/>
          </a:prstGeom>
          <a:solidFill>
            <a:srgbClr val="D8232A"/>
          </a:solidFill>
          <a:ln/>
        </p:spPr>
        <p:txBody>
          <a:bodyPr/>
          <a:lstStyle/>
          <a:p>
            <a:endParaRPr lang="de-CH"/>
          </a:p>
        </p:txBody>
      </p:sp>
      <p:sp>
        <p:nvSpPr>
          <p:cNvPr id="4" name="Text 2"/>
          <p:cNvSpPr/>
          <p:nvPr/>
        </p:nvSpPr>
        <p:spPr>
          <a:xfrm>
            <a:off x="640035" y="266700"/>
            <a:ext cx="1503194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60" b="1" kern="0" spc="156" dirty="0">
                <a:solidFill>
                  <a:srgbClr val="D8232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12 | LITERALE</a:t>
            </a:r>
            <a:endParaRPr lang="en-US" sz="860" dirty="0"/>
          </a:p>
        </p:txBody>
      </p:sp>
      <p:sp>
        <p:nvSpPr>
          <p:cNvPr id="5" name="Text 3"/>
          <p:cNvSpPr/>
          <p:nvPr/>
        </p:nvSpPr>
        <p:spPr>
          <a:xfrm>
            <a:off x="640035" y="451619"/>
            <a:ext cx="8150178" cy="4429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648"/>
              </a:spcBef>
              <a:buNone/>
            </a:pPr>
            <a:r>
              <a:rPr lang="en-US" sz="2740" b="1" kern="0" spc="-164" dirty="0">
                <a:solidFill>
                  <a:srgbClr val="002B49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Sprach-Tags halten Mehrsprachigkeit fest</a:t>
            </a:r>
            <a:endParaRPr lang="en-US" sz="2740" dirty="0"/>
          </a:p>
        </p:txBody>
      </p:sp>
      <p:sp>
        <p:nvSpPr>
          <p:cNvPr id="6" name="Text 4"/>
          <p:cNvSpPr/>
          <p:nvPr/>
        </p:nvSpPr>
        <p:spPr>
          <a:xfrm>
            <a:off x="640035" y="1538213"/>
            <a:ext cx="4286838" cy="20478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90" dirty="0">
                <a:solidFill>
                  <a:srgbClr val="404D56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- Ein Sprach-Tag verbindet ein Literal mit einer</a:t>
            </a:r>
            <a:endParaRPr lang="en-US" sz="1190" dirty="0"/>
          </a:p>
        </p:txBody>
      </p:sp>
      <p:sp>
        <p:nvSpPr>
          <p:cNvPr id="7" name="Text 5"/>
          <p:cNvSpPr/>
          <p:nvPr/>
        </p:nvSpPr>
        <p:spPr>
          <a:xfrm>
            <a:off x="640035" y="1726853"/>
            <a:ext cx="798455" cy="20478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90" dirty="0">
                <a:solidFill>
                  <a:srgbClr val="404D56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Sprache</a:t>
            </a:r>
            <a:endParaRPr lang="en-US" sz="1190" dirty="0"/>
          </a:p>
        </p:txBody>
      </p:sp>
      <p:sp>
        <p:nvSpPr>
          <p:cNvPr id="8" name="Text 6"/>
          <p:cNvSpPr/>
          <p:nvPr/>
        </p:nvSpPr>
        <p:spPr>
          <a:xfrm>
            <a:off x="640035" y="2125935"/>
            <a:ext cx="4664504" cy="20478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90" dirty="0">
                <a:solidFill>
                  <a:srgbClr val="404D56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- Unterschiedliche Übersetzungen können parallel</a:t>
            </a:r>
            <a:endParaRPr lang="en-US" sz="1190" dirty="0"/>
          </a:p>
        </p:txBody>
      </p:sp>
      <p:sp>
        <p:nvSpPr>
          <p:cNvPr id="9" name="Text 7"/>
          <p:cNvSpPr/>
          <p:nvPr/>
        </p:nvSpPr>
        <p:spPr>
          <a:xfrm>
            <a:off x="640035" y="2314575"/>
            <a:ext cx="1886858" cy="20478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90" dirty="0">
                <a:solidFill>
                  <a:srgbClr val="404D56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gespeichert werden</a:t>
            </a:r>
            <a:endParaRPr lang="en-US" sz="1190" dirty="0"/>
          </a:p>
        </p:txBody>
      </p:sp>
      <p:sp>
        <p:nvSpPr>
          <p:cNvPr id="10" name="Text 8"/>
          <p:cNvSpPr/>
          <p:nvPr/>
        </p:nvSpPr>
        <p:spPr>
          <a:xfrm>
            <a:off x="640035" y="2713658"/>
            <a:ext cx="3610347" cy="20478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90" dirty="0">
                <a:solidFill>
                  <a:srgbClr val="404D56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- Der Wert bleibt maschinenlesbar und</a:t>
            </a:r>
            <a:endParaRPr lang="en-US" sz="1190" dirty="0"/>
          </a:p>
        </p:txBody>
      </p:sp>
      <p:sp>
        <p:nvSpPr>
          <p:cNvPr id="11" name="Text 9"/>
          <p:cNvSpPr/>
          <p:nvPr/>
        </p:nvSpPr>
        <p:spPr>
          <a:xfrm>
            <a:off x="640035" y="2902297"/>
            <a:ext cx="2137507" cy="20478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90" dirty="0">
                <a:solidFill>
                  <a:srgbClr val="404D56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menschenverständlich</a:t>
            </a:r>
            <a:endParaRPr lang="en-US" sz="1190" dirty="0"/>
          </a:p>
        </p:txBody>
      </p:sp>
      <p:sp>
        <p:nvSpPr>
          <p:cNvPr id="12" name="Text 10"/>
          <p:cNvSpPr/>
          <p:nvPr/>
        </p:nvSpPr>
        <p:spPr>
          <a:xfrm>
            <a:off x="640035" y="3301380"/>
            <a:ext cx="4981515" cy="20478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90" dirty="0">
                <a:solidFill>
                  <a:srgbClr val="404D56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- Nutzen: Suche und Anzeige können sprachabhängig</a:t>
            </a:r>
            <a:endParaRPr lang="en-US" sz="1190" dirty="0"/>
          </a:p>
        </p:txBody>
      </p:sp>
      <p:sp>
        <p:nvSpPr>
          <p:cNvPr id="13" name="Text 11"/>
          <p:cNvSpPr/>
          <p:nvPr/>
        </p:nvSpPr>
        <p:spPr>
          <a:xfrm>
            <a:off x="640035" y="3490020"/>
            <a:ext cx="832507" cy="20478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90" dirty="0">
                <a:solidFill>
                  <a:srgbClr val="404D56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arbeiten</a:t>
            </a:r>
            <a:endParaRPr lang="en-US" sz="1190" dirty="0"/>
          </a:p>
        </p:txBody>
      </p:sp>
      <p:sp>
        <p:nvSpPr>
          <p:cNvPr id="14" name="Shape 12"/>
          <p:cNvSpPr/>
          <p:nvPr/>
        </p:nvSpPr>
        <p:spPr>
          <a:xfrm>
            <a:off x="5121176" y="1388232"/>
            <a:ext cx="3290887" cy="1814513"/>
          </a:xfrm>
          <a:prstGeom prst="rect">
            <a:avLst/>
          </a:prstGeom>
          <a:solidFill>
            <a:srgbClr val="002B49"/>
          </a:solidFill>
          <a:ln/>
          <a:effectLst>
            <a:outerShdw blurRad="101600" dist="103453" dir="2700000" algn="bl" rotWithShape="0">
              <a:srgbClr val="D8232A">
                <a:alpha val="100000"/>
              </a:srgbClr>
            </a:outerShdw>
          </a:effectLst>
        </p:spPr>
        <p:txBody>
          <a:bodyPr/>
          <a:lstStyle/>
          <a:p>
            <a:endParaRPr lang="de-CH"/>
          </a:p>
        </p:txBody>
      </p:sp>
      <p:sp>
        <p:nvSpPr>
          <p:cNvPr id="15" name="Text 13"/>
          <p:cNvSpPr/>
          <p:nvPr/>
        </p:nvSpPr>
        <p:spPr>
          <a:xfrm>
            <a:off x="5376714" y="1573485"/>
            <a:ext cx="1411679" cy="1190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720" kern="0" spc="115" dirty="0">
                <a:solidFill>
                  <a:srgbClr val="879CA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SPRACHVARIANTEN</a:t>
            </a:r>
            <a:endParaRPr lang="en-US" sz="720" dirty="0"/>
          </a:p>
        </p:txBody>
      </p:sp>
      <p:sp>
        <p:nvSpPr>
          <p:cNvPr id="16" name="Text 14"/>
          <p:cNvSpPr/>
          <p:nvPr/>
        </p:nvSpPr>
        <p:spPr>
          <a:xfrm>
            <a:off x="5376714" y="1935361"/>
            <a:ext cx="2955139" cy="6270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75"/>
              </a:lnSpc>
              <a:buNone/>
            </a:pPr>
            <a:r>
              <a:rPr lang="en-US" sz="1040" kern="0" spc="-21" dirty="0">
                <a:solidFill>
                  <a:srgbClr val="F5F7F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:ausstellung :titel</a:t>
            </a:r>
            <a:endParaRPr lang="en-US" sz="1040" dirty="0"/>
          </a:p>
          <a:p>
            <a:pPr marL="0" indent="0" algn="l">
              <a:lnSpc>
                <a:spcPts val="1775"/>
              </a:lnSpc>
              <a:buNone/>
            </a:pPr>
            <a:r>
              <a:rPr lang="en-US" sz="1040" kern="0" spc="-21" dirty="0">
                <a:solidFill>
                  <a:srgbClr val="F5F7F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"Wissensräume"@de, "Spaces of</a:t>
            </a:r>
            <a:endParaRPr lang="en-US" sz="1040" dirty="0"/>
          </a:p>
          <a:p>
            <a:pPr marL="0" indent="0" algn="l">
              <a:lnSpc>
                <a:spcPts val="1775"/>
              </a:lnSpc>
              <a:buNone/>
            </a:pPr>
            <a:r>
              <a:rPr lang="en-US" sz="1040" kern="0" spc="-21" dirty="0">
                <a:solidFill>
                  <a:srgbClr val="F5F7F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Knowledge"@en .</a:t>
            </a:r>
            <a:endParaRPr lang="en-US" sz="1040" dirty="0"/>
          </a:p>
        </p:txBody>
      </p:sp>
      <p:sp>
        <p:nvSpPr>
          <p:cNvPr id="17" name="Text 15"/>
          <p:cNvSpPr/>
          <p:nvPr/>
        </p:nvSpPr>
        <p:spPr>
          <a:xfrm>
            <a:off x="5472857" y="2844031"/>
            <a:ext cx="271038" cy="1190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D8232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@de</a:t>
            </a:r>
            <a:endParaRPr lang="en-US" sz="720" dirty="0"/>
          </a:p>
        </p:txBody>
      </p:sp>
      <p:sp>
        <p:nvSpPr>
          <p:cNvPr id="18" name="Text 16"/>
          <p:cNvSpPr/>
          <p:nvPr/>
        </p:nvSpPr>
        <p:spPr>
          <a:xfrm>
            <a:off x="5921053" y="2844031"/>
            <a:ext cx="271038" cy="1190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ACB9C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@en</a:t>
            </a:r>
            <a:endParaRPr lang="en-US" sz="720" dirty="0"/>
          </a:p>
        </p:txBody>
      </p:sp>
      <p:pic>
        <p:nvPicPr>
          <p:cNvPr id="19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40966" y="1441103"/>
            <a:ext cx="3838575" cy="585788"/>
          </a:xfrm>
          <a:prstGeom prst="rect">
            <a:avLst/>
          </a:prstGeom>
        </p:spPr>
      </p:pic>
      <p:pic>
        <p:nvPicPr>
          <p:cNvPr id="20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40966" y="2028825"/>
            <a:ext cx="3838575" cy="585788"/>
          </a:xfrm>
          <a:prstGeom prst="rect">
            <a:avLst/>
          </a:prstGeom>
        </p:spPr>
      </p:pic>
      <p:pic>
        <p:nvPicPr>
          <p:cNvPr id="21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40966" y="2616547"/>
            <a:ext cx="3838575" cy="585788"/>
          </a:xfrm>
          <a:prstGeom prst="rect">
            <a:avLst/>
          </a:prstGeom>
        </p:spPr>
      </p:pic>
      <p:pic>
        <p:nvPicPr>
          <p:cNvPr id="22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40966" y="3204270"/>
            <a:ext cx="3838575" cy="59055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79539" y="-484"/>
            <a:ext cx="9144000" cy="5143500"/>
          </a:xfrm>
          <a:prstGeom prst="rect">
            <a:avLst/>
          </a:prstGeom>
          <a:solidFill>
            <a:srgbClr val="F5F7F9"/>
          </a:solidFill>
          <a:ln/>
        </p:spPr>
        <p:txBody>
          <a:bodyPr/>
          <a:lstStyle/>
          <a:p>
            <a:endParaRPr lang="de-CH"/>
          </a:p>
        </p:txBody>
      </p:sp>
      <p:sp>
        <p:nvSpPr>
          <p:cNvPr id="3" name="Shape 1"/>
          <p:cNvSpPr/>
          <p:nvPr/>
        </p:nvSpPr>
        <p:spPr>
          <a:xfrm>
            <a:off x="0" y="-484"/>
            <a:ext cx="9144000" cy="52388"/>
          </a:xfrm>
          <a:prstGeom prst="rect">
            <a:avLst/>
          </a:prstGeom>
          <a:solidFill>
            <a:srgbClr val="D8232A"/>
          </a:solidFill>
          <a:ln/>
        </p:spPr>
        <p:txBody>
          <a:bodyPr/>
          <a:lstStyle/>
          <a:p>
            <a:endParaRPr lang="de-CH"/>
          </a:p>
        </p:txBody>
      </p:sp>
      <p:sp>
        <p:nvSpPr>
          <p:cNvPr id="4" name="Shape 2"/>
          <p:cNvSpPr/>
          <p:nvPr/>
        </p:nvSpPr>
        <p:spPr>
          <a:xfrm>
            <a:off x="8943417" y="0"/>
            <a:ext cx="200025" cy="5143500"/>
          </a:xfrm>
          <a:prstGeom prst="rect">
            <a:avLst/>
          </a:prstGeom>
          <a:solidFill>
            <a:srgbClr val="002B49"/>
          </a:solidFill>
          <a:ln/>
        </p:spPr>
        <p:txBody>
          <a:bodyPr/>
          <a:lstStyle/>
          <a:p>
            <a:endParaRPr lang="de-CH"/>
          </a:p>
        </p:txBody>
      </p:sp>
      <p:sp>
        <p:nvSpPr>
          <p:cNvPr id="5" name="Text 3"/>
          <p:cNvSpPr/>
          <p:nvPr/>
        </p:nvSpPr>
        <p:spPr>
          <a:xfrm>
            <a:off x="640035" y="266700"/>
            <a:ext cx="1503194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60" b="1" kern="0" spc="156" dirty="0">
                <a:solidFill>
                  <a:srgbClr val="D8232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13 | STRUKTUR</a:t>
            </a:r>
            <a:endParaRPr lang="en-US" sz="860" dirty="0"/>
          </a:p>
        </p:txBody>
      </p:sp>
      <p:sp>
        <p:nvSpPr>
          <p:cNvPr id="6" name="Text 4"/>
          <p:cNvSpPr/>
          <p:nvPr/>
        </p:nvSpPr>
        <p:spPr>
          <a:xfrm>
            <a:off x="640035" y="451619"/>
            <a:ext cx="8898158" cy="4429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648"/>
              </a:spcBef>
              <a:buNone/>
            </a:pPr>
            <a:r>
              <a:rPr lang="en-US" sz="2740" b="1" kern="0" spc="-164" dirty="0">
                <a:solidFill>
                  <a:srgbClr val="002B49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Blank Nodes modellieren anonyme Strukturen</a:t>
            </a:r>
            <a:endParaRPr lang="en-US" sz="2740" dirty="0"/>
          </a:p>
        </p:txBody>
      </p:sp>
      <p:sp>
        <p:nvSpPr>
          <p:cNvPr id="7" name="Text 5"/>
          <p:cNvSpPr/>
          <p:nvPr/>
        </p:nvSpPr>
        <p:spPr>
          <a:xfrm>
            <a:off x="640035" y="1430610"/>
            <a:ext cx="4529941" cy="20478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90" dirty="0">
                <a:solidFill>
                  <a:srgbClr val="414E57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- Blank Nodes repräsentieren etwas ohne eigene</a:t>
            </a:r>
            <a:endParaRPr lang="en-US" sz="1190" dirty="0"/>
          </a:p>
        </p:txBody>
      </p:sp>
      <p:sp>
        <p:nvSpPr>
          <p:cNvPr id="8" name="Text 6"/>
          <p:cNvSpPr/>
          <p:nvPr/>
        </p:nvSpPr>
        <p:spPr>
          <a:xfrm>
            <a:off x="640035" y="1619250"/>
            <a:ext cx="1044654" cy="20478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90" dirty="0">
                <a:solidFill>
                  <a:srgbClr val="414E57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globale IRI</a:t>
            </a:r>
            <a:endParaRPr lang="en-US" sz="1190" dirty="0"/>
          </a:p>
        </p:txBody>
      </p:sp>
      <p:sp>
        <p:nvSpPr>
          <p:cNvPr id="9" name="Text 7"/>
          <p:cNvSpPr/>
          <p:nvPr/>
        </p:nvSpPr>
        <p:spPr>
          <a:xfrm>
            <a:off x="640035" y="1931268"/>
            <a:ext cx="4428172" cy="20478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972"/>
              </a:spcBef>
              <a:buNone/>
            </a:pPr>
            <a:r>
              <a:rPr lang="en-US" sz="1190" dirty="0">
                <a:solidFill>
                  <a:srgbClr val="414E57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- Sie eignen sich für eingebettete oder nur lokal</a:t>
            </a:r>
            <a:endParaRPr lang="en-US" sz="1190" dirty="0"/>
          </a:p>
        </p:txBody>
      </p:sp>
      <p:sp>
        <p:nvSpPr>
          <p:cNvPr id="10" name="Text 8"/>
          <p:cNvSpPr/>
          <p:nvPr/>
        </p:nvSpPr>
        <p:spPr>
          <a:xfrm>
            <a:off x="640035" y="2119908"/>
            <a:ext cx="1594902" cy="20478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972"/>
              </a:spcBef>
              <a:buNone/>
            </a:pPr>
            <a:r>
              <a:rPr lang="en-US" sz="1190" dirty="0">
                <a:solidFill>
                  <a:srgbClr val="414E57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relevante Details</a:t>
            </a:r>
            <a:endParaRPr lang="en-US" sz="1190" dirty="0"/>
          </a:p>
        </p:txBody>
      </p:sp>
      <p:sp>
        <p:nvSpPr>
          <p:cNvPr id="11" name="Text 9"/>
          <p:cNvSpPr/>
          <p:nvPr/>
        </p:nvSpPr>
        <p:spPr>
          <a:xfrm>
            <a:off x="640035" y="2431926"/>
            <a:ext cx="4669535" cy="20478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972"/>
              </a:spcBef>
              <a:buNone/>
            </a:pPr>
            <a:r>
              <a:rPr lang="en-US" sz="1190" dirty="0">
                <a:solidFill>
                  <a:srgbClr val="414E57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- Die Struktur bleibt Teil des Graphen, obwohl kein</a:t>
            </a:r>
            <a:endParaRPr lang="en-US" sz="1190" dirty="0"/>
          </a:p>
        </p:txBody>
      </p:sp>
      <p:sp>
        <p:nvSpPr>
          <p:cNvPr id="12" name="Text 10"/>
          <p:cNvSpPr/>
          <p:nvPr/>
        </p:nvSpPr>
        <p:spPr>
          <a:xfrm>
            <a:off x="640035" y="2620566"/>
            <a:ext cx="1987272" cy="20478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972"/>
              </a:spcBef>
              <a:buNone/>
            </a:pPr>
            <a:r>
              <a:rPr lang="en-US" sz="1190" dirty="0">
                <a:solidFill>
                  <a:srgbClr val="414E57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Name vergeben wird</a:t>
            </a:r>
            <a:endParaRPr lang="en-US" sz="1190" dirty="0"/>
          </a:p>
        </p:txBody>
      </p:sp>
      <p:sp>
        <p:nvSpPr>
          <p:cNvPr id="13" name="Text 11"/>
          <p:cNvSpPr/>
          <p:nvPr/>
        </p:nvSpPr>
        <p:spPr>
          <a:xfrm>
            <a:off x="640035" y="3060725"/>
            <a:ext cx="4215445" cy="20478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972"/>
              </a:spcBef>
              <a:buNone/>
            </a:pPr>
            <a:r>
              <a:rPr lang="en-US" sz="1190" dirty="0">
                <a:solidFill>
                  <a:srgbClr val="414E57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- Nutzen: Verschachtelte Angaben lassen sich</a:t>
            </a:r>
            <a:endParaRPr lang="en-US" sz="1190" dirty="0"/>
          </a:p>
        </p:txBody>
      </p:sp>
      <p:sp>
        <p:nvSpPr>
          <p:cNvPr id="14" name="Text 12"/>
          <p:cNvSpPr/>
          <p:nvPr/>
        </p:nvSpPr>
        <p:spPr>
          <a:xfrm>
            <a:off x="640035" y="3249364"/>
            <a:ext cx="4238372" cy="20478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972"/>
              </a:spcBef>
              <a:buNone/>
            </a:pPr>
            <a:r>
              <a:rPr lang="en-US" sz="1190" dirty="0">
                <a:solidFill>
                  <a:srgbClr val="414E57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ausdrücken, ohne künstliche IDs zu erzeugen</a:t>
            </a:r>
            <a:endParaRPr lang="en-US" sz="1190" dirty="0"/>
          </a:p>
        </p:txBody>
      </p:sp>
      <p:sp>
        <p:nvSpPr>
          <p:cNvPr id="15" name="Shape 13"/>
          <p:cNvSpPr/>
          <p:nvPr/>
        </p:nvSpPr>
        <p:spPr>
          <a:xfrm>
            <a:off x="5121176" y="1388120"/>
            <a:ext cx="3290887" cy="1409700"/>
          </a:xfrm>
          <a:prstGeom prst="rect">
            <a:avLst/>
          </a:prstGeom>
          <a:solidFill>
            <a:srgbClr val="EEF2F4"/>
          </a:solidFill>
          <a:ln/>
          <a:effectLst>
            <a:outerShdw blurRad="101600" dist="103453" dir="2700000" algn="bl" rotWithShape="0">
              <a:srgbClr val="D8232A">
                <a:alpha val="100000"/>
              </a:srgbClr>
            </a:outerShdw>
          </a:effectLst>
        </p:spPr>
        <p:txBody>
          <a:bodyPr/>
          <a:lstStyle/>
          <a:p>
            <a:endParaRPr lang="de-CH"/>
          </a:p>
        </p:txBody>
      </p:sp>
      <p:sp>
        <p:nvSpPr>
          <p:cNvPr id="16" name="Text 14"/>
          <p:cNvSpPr/>
          <p:nvPr/>
        </p:nvSpPr>
        <p:spPr>
          <a:xfrm>
            <a:off x="5367561" y="1547738"/>
            <a:ext cx="1411679" cy="1190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720" kern="0" spc="115" dirty="0">
                <a:solidFill>
                  <a:srgbClr val="66788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ANONYME ADRESSE</a:t>
            </a:r>
            <a:endParaRPr lang="en-US" sz="720" dirty="0"/>
          </a:p>
        </p:txBody>
      </p:sp>
      <p:sp>
        <p:nvSpPr>
          <p:cNvPr id="17" name="Text 15"/>
          <p:cNvSpPr/>
          <p:nvPr/>
        </p:nvSpPr>
        <p:spPr>
          <a:xfrm>
            <a:off x="5367561" y="1853431"/>
            <a:ext cx="3338416" cy="3714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13"/>
              </a:lnSpc>
              <a:buNone/>
            </a:pPr>
            <a:r>
              <a:rPr lang="en-US" sz="1010" kern="0" spc="-20" dirty="0">
                <a:solidFill>
                  <a:srgbClr val="002B4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:veranstaltung :adresse [ :strasse</a:t>
            </a:r>
            <a:endParaRPr lang="en-US" sz="1010" dirty="0"/>
          </a:p>
          <a:p>
            <a:pPr marL="0" indent="0" algn="l">
              <a:lnSpc>
                <a:spcPts val="1613"/>
              </a:lnSpc>
              <a:buNone/>
            </a:pPr>
            <a:r>
              <a:rPr lang="en-US" sz="1010" kern="0" spc="-20" dirty="0">
                <a:solidFill>
                  <a:srgbClr val="002B4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"Rämistrasse" ; :ort "Zürich" ] .</a:t>
            </a:r>
            <a:endParaRPr lang="en-US" sz="1010" dirty="0"/>
          </a:p>
        </p:txBody>
      </p:sp>
      <p:sp>
        <p:nvSpPr>
          <p:cNvPr id="18" name="Text 16"/>
          <p:cNvSpPr/>
          <p:nvPr/>
        </p:nvSpPr>
        <p:spPr>
          <a:xfrm>
            <a:off x="5367561" y="2510582"/>
            <a:ext cx="2837021" cy="1190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1215"/>
              </a:spcBef>
              <a:buNone/>
            </a:pPr>
            <a:r>
              <a:rPr lang="en-US" sz="720" dirty="0">
                <a:solidFill>
                  <a:srgbClr val="66788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eingebettet · lokal relevant · ohne IRI</a:t>
            </a:r>
            <a:endParaRPr lang="en-US" sz="720" dirty="0"/>
          </a:p>
        </p:txBody>
      </p:sp>
      <p:pic>
        <p:nvPicPr>
          <p:cNvPr id="20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366445" y="2399147"/>
            <a:ext cx="2800350" cy="242888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4407"/>
            <a:ext cx="9144000" cy="5143500"/>
          </a:xfrm>
          <a:prstGeom prst="rect">
            <a:avLst/>
          </a:prstGeom>
          <a:solidFill>
            <a:srgbClr val="002B49"/>
          </a:solidFill>
          <a:ln/>
        </p:spPr>
        <p:txBody>
          <a:bodyPr/>
          <a:lstStyle/>
          <a:p>
            <a:endParaRPr lang="de-CH"/>
          </a:p>
        </p:txBody>
      </p:sp>
      <p:sp>
        <p:nvSpPr>
          <p:cNvPr id="3" name="Shape 1"/>
          <p:cNvSpPr/>
          <p:nvPr/>
        </p:nvSpPr>
        <p:spPr>
          <a:xfrm>
            <a:off x="0" y="-484"/>
            <a:ext cx="9144000" cy="52388"/>
          </a:xfrm>
          <a:prstGeom prst="rect">
            <a:avLst/>
          </a:prstGeom>
          <a:solidFill>
            <a:srgbClr val="D8232A"/>
          </a:solidFill>
          <a:ln/>
        </p:spPr>
        <p:txBody>
          <a:bodyPr/>
          <a:lstStyle/>
          <a:p>
            <a:endParaRPr lang="de-CH"/>
          </a:p>
        </p:txBody>
      </p:sp>
      <p:sp>
        <p:nvSpPr>
          <p:cNvPr id="4" name="Text 2"/>
          <p:cNvSpPr/>
          <p:nvPr/>
        </p:nvSpPr>
        <p:spPr>
          <a:xfrm>
            <a:off x="640035" y="318120"/>
            <a:ext cx="1503194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60" b="1" kern="0" spc="156" dirty="0">
                <a:solidFill>
                  <a:srgbClr val="D8232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14 | STRUKTUR</a:t>
            </a:r>
            <a:endParaRPr lang="en-US" sz="860" dirty="0"/>
          </a:p>
        </p:txBody>
      </p:sp>
      <p:sp>
        <p:nvSpPr>
          <p:cNvPr id="5" name="Text 3"/>
          <p:cNvSpPr/>
          <p:nvPr/>
        </p:nvSpPr>
        <p:spPr>
          <a:xfrm>
            <a:off x="640035" y="503039"/>
            <a:ext cx="6859302" cy="4429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648"/>
              </a:spcBef>
              <a:buNone/>
            </a:pPr>
            <a:r>
              <a:rPr lang="en-US" sz="2740" b="1" kern="0" spc="-164" dirty="0">
                <a:solidFill>
                  <a:srgbClr val="F5F7F9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Collections bilden geordnete Listen</a:t>
            </a:r>
            <a:endParaRPr lang="en-US" sz="2740" dirty="0"/>
          </a:p>
        </p:txBody>
      </p:sp>
      <p:sp>
        <p:nvSpPr>
          <p:cNvPr id="6" name="Text 4"/>
          <p:cNvSpPr/>
          <p:nvPr/>
        </p:nvSpPr>
        <p:spPr>
          <a:xfrm>
            <a:off x="640035" y="1482030"/>
            <a:ext cx="5322324" cy="20478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90" dirty="0">
                <a:solidFill>
                  <a:srgbClr val="CFD8D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- Collections beschreiben eine Reihenfolge statt nur einer</a:t>
            </a:r>
            <a:endParaRPr lang="en-US" sz="1190" dirty="0"/>
          </a:p>
        </p:txBody>
      </p:sp>
      <p:sp>
        <p:nvSpPr>
          <p:cNvPr id="7" name="Text 5"/>
          <p:cNvSpPr/>
          <p:nvPr/>
        </p:nvSpPr>
        <p:spPr>
          <a:xfrm>
            <a:off x="640035" y="1670670"/>
            <a:ext cx="698041" cy="20478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90" dirty="0">
                <a:solidFill>
                  <a:srgbClr val="CFD8D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Menge</a:t>
            </a:r>
            <a:endParaRPr lang="en-US" sz="1190" dirty="0"/>
          </a:p>
        </p:txBody>
      </p:sp>
      <p:sp>
        <p:nvSpPr>
          <p:cNvPr id="8" name="Text 6"/>
          <p:cNvSpPr/>
          <p:nvPr/>
        </p:nvSpPr>
        <p:spPr>
          <a:xfrm>
            <a:off x="640035" y="1987897"/>
            <a:ext cx="5275503" cy="20478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1013"/>
              </a:spcBef>
              <a:buNone/>
            </a:pPr>
            <a:r>
              <a:rPr lang="en-US" sz="1190" dirty="0">
                <a:solidFill>
                  <a:srgbClr val="CFD8D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- Turtle übernimmt die kompakte Schreibweise für Listen</a:t>
            </a:r>
            <a:endParaRPr lang="en-US" sz="1190" dirty="0"/>
          </a:p>
        </p:txBody>
      </p:sp>
      <p:sp>
        <p:nvSpPr>
          <p:cNvPr id="9" name="Text 7"/>
          <p:cNvSpPr/>
          <p:nvPr/>
        </p:nvSpPr>
        <p:spPr>
          <a:xfrm>
            <a:off x="640035" y="2305124"/>
            <a:ext cx="5091120" cy="20478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1013"/>
              </a:spcBef>
              <a:buNone/>
            </a:pPr>
            <a:r>
              <a:rPr lang="en-US" sz="1190" dirty="0">
                <a:solidFill>
                  <a:srgbClr val="CFD8D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- Im RDF-Graph wird die Liste über rdf:first und rdf:rest</a:t>
            </a:r>
            <a:endParaRPr lang="en-US" sz="1190" dirty="0"/>
          </a:p>
        </p:txBody>
      </p:sp>
      <p:sp>
        <p:nvSpPr>
          <p:cNvPr id="10" name="Text 8"/>
          <p:cNvSpPr/>
          <p:nvPr/>
        </p:nvSpPr>
        <p:spPr>
          <a:xfrm>
            <a:off x="640035" y="2493764"/>
            <a:ext cx="1261929" cy="20478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1013"/>
              </a:spcBef>
              <a:buNone/>
            </a:pPr>
            <a:r>
              <a:rPr lang="en-US" sz="1190" dirty="0">
                <a:solidFill>
                  <a:srgbClr val="CFD8D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repräsentiert</a:t>
            </a:r>
            <a:endParaRPr lang="en-US" sz="1190" dirty="0"/>
          </a:p>
        </p:txBody>
      </p:sp>
      <p:sp>
        <p:nvSpPr>
          <p:cNvPr id="11" name="Text 9"/>
          <p:cNvSpPr/>
          <p:nvPr/>
        </p:nvSpPr>
        <p:spPr>
          <a:xfrm>
            <a:off x="640035" y="2944341"/>
            <a:ext cx="5397103" cy="20478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1013"/>
              </a:spcBef>
              <a:buNone/>
            </a:pPr>
            <a:r>
              <a:rPr lang="en-US" sz="1190" dirty="0">
                <a:solidFill>
                  <a:srgbClr val="CFD8D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- Nutzen: Reihenfolgen wie Curricula, Prozessschritte oder</a:t>
            </a:r>
            <a:endParaRPr lang="en-US" sz="1190" dirty="0"/>
          </a:p>
        </p:txBody>
      </p:sp>
      <p:sp>
        <p:nvSpPr>
          <p:cNvPr id="12" name="Text 10"/>
          <p:cNvSpPr/>
          <p:nvPr/>
        </p:nvSpPr>
        <p:spPr>
          <a:xfrm>
            <a:off x="640035" y="3132981"/>
            <a:ext cx="2591209" cy="20478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1013"/>
              </a:spcBef>
              <a:buNone/>
            </a:pPr>
            <a:r>
              <a:rPr lang="en-US" sz="1190" dirty="0">
                <a:solidFill>
                  <a:srgbClr val="CFD8D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Ranglisten bleiben erhalten</a:t>
            </a:r>
            <a:endParaRPr lang="en-US" sz="1190" dirty="0"/>
          </a:p>
        </p:txBody>
      </p:sp>
      <p:sp>
        <p:nvSpPr>
          <p:cNvPr id="13" name="Shape 11"/>
          <p:cNvSpPr/>
          <p:nvPr/>
        </p:nvSpPr>
        <p:spPr>
          <a:xfrm>
            <a:off x="5303081" y="1440731"/>
            <a:ext cx="3109913" cy="1495425"/>
          </a:xfrm>
          <a:prstGeom prst="rect">
            <a:avLst/>
          </a:prstGeom>
          <a:solidFill>
            <a:srgbClr val="F5F7F9"/>
          </a:solidFill>
          <a:ln/>
          <a:effectLst>
            <a:outerShdw blurRad="101600" dist="103453" dir="2700000" algn="bl" rotWithShape="0">
              <a:srgbClr val="D8232A">
                <a:alpha val="100000"/>
              </a:srgbClr>
            </a:outerShdw>
          </a:effectLst>
        </p:spPr>
        <p:txBody>
          <a:bodyPr/>
          <a:lstStyle/>
          <a:p>
            <a:endParaRPr lang="de-CH"/>
          </a:p>
        </p:txBody>
      </p:sp>
      <p:sp>
        <p:nvSpPr>
          <p:cNvPr id="14" name="Text 12"/>
          <p:cNvSpPr/>
          <p:nvPr/>
        </p:nvSpPr>
        <p:spPr>
          <a:xfrm>
            <a:off x="5541243" y="1609427"/>
            <a:ext cx="1321326" cy="1190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720" kern="0" spc="115" dirty="0">
                <a:solidFill>
                  <a:srgbClr val="66788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RDF COLLECTION</a:t>
            </a:r>
            <a:endParaRPr lang="en-US" sz="720" dirty="0"/>
          </a:p>
        </p:txBody>
      </p:sp>
      <p:sp>
        <p:nvSpPr>
          <p:cNvPr id="15" name="Text 13"/>
          <p:cNvSpPr/>
          <p:nvPr/>
        </p:nvSpPr>
        <p:spPr>
          <a:xfrm>
            <a:off x="5541243" y="1971303"/>
            <a:ext cx="3048394" cy="4266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97"/>
              </a:lnSpc>
              <a:buNone/>
            </a:pPr>
            <a:r>
              <a:rPr lang="en-US" sz="1120" kern="0" spc="-22" dirty="0">
                <a:solidFill>
                  <a:srgbClr val="002B4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:modul :enthaelt ( :EinheitA</a:t>
            </a:r>
            <a:endParaRPr lang="en-US" sz="1120" dirty="0"/>
          </a:p>
          <a:p>
            <a:pPr marL="0" indent="0" algn="l">
              <a:lnSpc>
                <a:spcPts val="1897"/>
              </a:lnSpc>
              <a:buNone/>
            </a:pPr>
            <a:r>
              <a:rPr lang="en-US" sz="1120" kern="0" spc="-22" dirty="0">
                <a:solidFill>
                  <a:srgbClr val="002B4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:EinheitB :EinheitC ) .</a:t>
            </a:r>
            <a:endParaRPr lang="en-US" sz="1120" dirty="0"/>
          </a:p>
        </p:txBody>
      </p:sp>
      <p:sp>
        <p:nvSpPr>
          <p:cNvPr id="16" name="Shape 14"/>
          <p:cNvSpPr/>
          <p:nvPr/>
        </p:nvSpPr>
        <p:spPr>
          <a:xfrm>
            <a:off x="5541690" y="2658368"/>
            <a:ext cx="90488" cy="90488"/>
          </a:xfrm>
          <a:prstGeom prst="ellipse">
            <a:avLst/>
          </a:prstGeom>
          <a:solidFill>
            <a:srgbClr val="D8232A"/>
          </a:solidFill>
          <a:ln/>
        </p:spPr>
        <p:txBody>
          <a:bodyPr/>
          <a:lstStyle/>
          <a:p>
            <a:endParaRPr lang="de-CH"/>
          </a:p>
        </p:txBody>
      </p:sp>
      <p:sp>
        <p:nvSpPr>
          <p:cNvPr id="17" name="Text 15"/>
          <p:cNvSpPr/>
          <p:nvPr/>
        </p:nvSpPr>
        <p:spPr>
          <a:xfrm>
            <a:off x="5705773" y="2639839"/>
            <a:ext cx="1981661" cy="1190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1620"/>
              </a:spcBef>
              <a:buNone/>
            </a:pPr>
            <a:r>
              <a:rPr lang="en-US" sz="720" dirty="0">
                <a:solidFill>
                  <a:srgbClr val="D8232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Reihenfolge bleibt Semantik</a:t>
            </a:r>
            <a:endParaRPr lang="en-US" sz="72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61923"/>
          </a:solidFill>
          <a:ln/>
        </p:spPr>
        <p:txBody>
          <a:bodyPr/>
          <a:lstStyle/>
          <a:p>
            <a:endParaRPr lang="de-CH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0" y="5086648"/>
            <a:ext cx="9144000" cy="57150"/>
          </a:xfrm>
          <a:prstGeom prst="rect">
            <a:avLst/>
          </a:prstGeom>
          <a:solidFill>
            <a:srgbClr val="D8232A"/>
          </a:solidFill>
          <a:ln/>
        </p:spPr>
        <p:txBody>
          <a:bodyPr/>
          <a:lstStyle/>
          <a:p>
            <a:endParaRPr lang="de-CH"/>
          </a:p>
        </p:txBody>
      </p:sp>
      <p:sp>
        <p:nvSpPr>
          <p:cNvPr id="5" name="Text 2"/>
          <p:cNvSpPr/>
          <p:nvPr/>
        </p:nvSpPr>
        <p:spPr>
          <a:xfrm>
            <a:off x="7538665" y="364778"/>
            <a:ext cx="1312039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790" kern="0" spc="158" dirty="0">
                <a:solidFill>
                  <a:srgbClr val="8A949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15 / SCHLUSS</a:t>
            </a:r>
            <a:endParaRPr lang="en-US" sz="790" dirty="0"/>
          </a:p>
        </p:txBody>
      </p:sp>
      <p:sp>
        <p:nvSpPr>
          <p:cNvPr id="6" name="Text 3"/>
          <p:cNvSpPr/>
          <p:nvPr/>
        </p:nvSpPr>
        <p:spPr>
          <a:xfrm>
            <a:off x="731490" y="575295"/>
            <a:ext cx="94704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60" b="1" kern="0" spc="156" dirty="0">
                <a:solidFill>
                  <a:srgbClr val="D8232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TRANSFER</a:t>
            </a:r>
            <a:endParaRPr lang="en-US" sz="860" dirty="0"/>
          </a:p>
        </p:txBody>
      </p:sp>
      <p:sp>
        <p:nvSpPr>
          <p:cNvPr id="7" name="Text 4"/>
          <p:cNvSpPr/>
          <p:nvPr/>
        </p:nvSpPr>
        <p:spPr>
          <a:xfrm>
            <a:off x="731490" y="757014"/>
            <a:ext cx="7034979" cy="523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810"/>
              </a:spcBef>
              <a:buNone/>
            </a:pPr>
            <a:r>
              <a:rPr lang="en-US" sz="3240" b="1" kern="0" spc="-211" dirty="0">
                <a:solidFill>
                  <a:srgbClr val="F5F7F9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Von der Syntax zum nutzbaren</a:t>
            </a:r>
            <a:endParaRPr lang="en-US" sz="3240" dirty="0"/>
          </a:p>
        </p:txBody>
      </p:sp>
      <p:sp>
        <p:nvSpPr>
          <p:cNvPr id="8" name="Text 5"/>
          <p:cNvSpPr/>
          <p:nvPr/>
        </p:nvSpPr>
        <p:spPr>
          <a:xfrm>
            <a:off x="731490" y="1135559"/>
            <a:ext cx="3425190" cy="523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810"/>
              </a:spcBef>
              <a:buNone/>
            </a:pPr>
            <a:r>
              <a:rPr lang="en-US" sz="3240" b="1" kern="0" spc="-211" dirty="0">
                <a:solidFill>
                  <a:srgbClr val="F5F7F9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Wissensmodell</a:t>
            </a:r>
            <a:endParaRPr lang="en-US" sz="3240" dirty="0"/>
          </a:p>
        </p:txBody>
      </p:sp>
      <p:sp>
        <p:nvSpPr>
          <p:cNvPr id="9" name="Text 6"/>
          <p:cNvSpPr/>
          <p:nvPr/>
        </p:nvSpPr>
        <p:spPr>
          <a:xfrm>
            <a:off x="731490" y="1976810"/>
            <a:ext cx="4628034" cy="1952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20" dirty="0">
                <a:solidFill>
                  <a:srgbClr val="DDE1E4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- Präfixe und Abkürzungen verbessern die Lesbarkeit</a:t>
            </a:r>
            <a:endParaRPr lang="en-US" sz="1120" dirty="0"/>
          </a:p>
        </p:txBody>
      </p:sp>
      <p:sp>
        <p:nvSpPr>
          <p:cNvPr id="10" name="Text 7"/>
          <p:cNvSpPr/>
          <p:nvPr/>
        </p:nvSpPr>
        <p:spPr>
          <a:xfrm>
            <a:off x="731490" y="2326556"/>
            <a:ext cx="4445682" cy="1952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20" dirty="0">
                <a:solidFill>
                  <a:srgbClr val="DDE1E4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- Typen, Literale und Listen machen Inhalte präzise</a:t>
            </a:r>
            <a:endParaRPr lang="en-US" sz="1120" dirty="0"/>
          </a:p>
        </p:txBody>
      </p:sp>
      <p:sp>
        <p:nvSpPr>
          <p:cNvPr id="11" name="Text 8"/>
          <p:cNvSpPr/>
          <p:nvPr/>
        </p:nvSpPr>
        <p:spPr>
          <a:xfrm>
            <a:off x="731490" y="2676302"/>
            <a:ext cx="5746619" cy="1952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20" dirty="0">
                <a:solidFill>
                  <a:srgbClr val="DDE1E4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- Beziehungen verbinden Fakten zu einem navigierbaren Graphen</a:t>
            </a:r>
            <a:endParaRPr lang="en-US" sz="1120" dirty="0"/>
          </a:p>
        </p:txBody>
      </p:sp>
      <p:sp>
        <p:nvSpPr>
          <p:cNvPr id="12" name="Text 9"/>
          <p:cNvSpPr/>
          <p:nvPr/>
        </p:nvSpPr>
        <p:spPr>
          <a:xfrm>
            <a:off x="731490" y="3026048"/>
            <a:ext cx="6748247" cy="1952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20" dirty="0">
                <a:solidFill>
                  <a:srgbClr val="DDE1E4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- Der theoretische Gewinn: Semantik wird explizit und maschinenverarbeitbar</a:t>
            </a:r>
            <a:endParaRPr lang="en-US" sz="1120" dirty="0"/>
          </a:p>
        </p:txBody>
      </p:sp>
      <p:sp>
        <p:nvSpPr>
          <p:cNvPr id="13" name="Text 10"/>
          <p:cNvSpPr/>
          <p:nvPr/>
        </p:nvSpPr>
        <p:spPr>
          <a:xfrm>
            <a:off x="731490" y="3375794"/>
            <a:ext cx="7858609" cy="1952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20" dirty="0">
                <a:solidFill>
                  <a:srgbClr val="DDE1E4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- Der praktische Gewinn: Daten können integriert, abgefragt und weiterverwendet werden</a:t>
            </a:r>
            <a:endParaRPr lang="en-US" sz="1120" dirty="0"/>
          </a:p>
        </p:txBody>
      </p:sp>
      <p:sp>
        <p:nvSpPr>
          <p:cNvPr id="14" name="Text 11"/>
          <p:cNvSpPr/>
          <p:nvPr/>
        </p:nvSpPr>
        <p:spPr>
          <a:xfrm>
            <a:off x="731490" y="3877121"/>
            <a:ext cx="6678595" cy="2333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1620"/>
              </a:spcBef>
              <a:buNone/>
            </a:pPr>
            <a:r>
              <a:rPr lang="en-US" sz="1440" b="1" dirty="0">
                <a:solidFill>
                  <a:srgbClr val="D8232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Vielen Dank für Ihre Aufmerksamkeit! Fragen &amp; Diskussion.</a:t>
            </a:r>
            <a:endParaRPr lang="en-US" sz="1440" dirty="0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30523" y="1899940"/>
            <a:ext cx="7134225" cy="347663"/>
          </a:xfrm>
          <a:prstGeom prst="rect">
            <a:avLst/>
          </a:prstGeom>
        </p:spPr>
      </p:pic>
      <p:pic>
        <p:nvPicPr>
          <p:cNvPr id="16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30523" y="2249686"/>
            <a:ext cx="7134225" cy="347663"/>
          </a:xfrm>
          <a:prstGeom prst="rect">
            <a:avLst/>
          </a:prstGeom>
        </p:spPr>
      </p:pic>
      <p:pic>
        <p:nvPicPr>
          <p:cNvPr id="17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30523" y="2599432"/>
            <a:ext cx="7134225" cy="347663"/>
          </a:xfrm>
          <a:prstGeom prst="rect">
            <a:avLst/>
          </a:prstGeom>
        </p:spPr>
      </p:pic>
      <p:pic>
        <p:nvPicPr>
          <p:cNvPr id="18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30523" y="2949178"/>
            <a:ext cx="7134225" cy="347663"/>
          </a:xfrm>
          <a:prstGeom prst="rect">
            <a:avLst/>
          </a:prstGeom>
        </p:spPr>
      </p:pic>
      <p:pic>
        <p:nvPicPr>
          <p:cNvPr id="19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30523" y="3298924"/>
            <a:ext cx="7134225" cy="352425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F4F148-2E9D-A5FF-EDC8-5024C70FD3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BCDFAEBE-4F1D-497B-7106-AEADAEE0277B}"/>
              </a:ext>
            </a:extLst>
          </p:cNvPr>
          <p:cNvSpPr/>
          <p:nvPr/>
        </p:nvSpPr>
        <p:spPr>
          <a:xfrm>
            <a:off x="0" y="-56852"/>
            <a:ext cx="9144000" cy="5143500"/>
          </a:xfrm>
          <a:prstGeom prst="rect">
            <a:avLst/>
          </a:prstGeom>
          <a:solidFill>
            <a:srgbClr val="061923"/>
          </a:solidFill>
          <a:ln/>
        </p:spPr>
        <p:txBody>
          <a:bodyPr/>
          <a:lstStyle/>
          <a:p>
            <a:endParaRPr lang="de-CH"/>
          </a:p>
        </p:txBody>
      </p:sp>
      <p:sp>
        <p:nvSpPr>
          <p:cNvPr id="4" name="Shape 1">
            <a:extLst>
              <a:ext uri="{FF2B5EF4-FFF2-40B4-BE49-F238E27FC236}">
                <a16:creationId xmlns:a16="http://schemas.microsoft.com/office/drawing/2014/main" id="{B33EF336-3D33-04F1-DBD9-A2A6B8247B4A}"/>
              </a:ext>
            </a:extLst>
          </p:cNvPr>
          <p:cNvSpPr/>
          <p:nvPr/>
        </p:nvSpPr>
        <p:spPr>
          <a:xfrm>
            <a:off x="0" y="5086648"/>
            <a:ext cx="9144000" cy="57150"/>
          </a:xfrm>
          <a:prstGeom prst="rect">
            <a:avLst/>
          </a:prstGeom>
          <a:solidFill>
            <a:srgbClr val="D8232A"/>
          </a:solidFill>
          <a:ln/>
        </p:spPr>
        <p:txBody>
          <a:bodyPr/>
          <a:lstStyle/>
          <a:p>
            <a:endParaRPr lang="de-CH"/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45AF485B-2FC9-9872-30F4-E6A20C6EBBE0}"/>
              </a:ext>
            </a:extLst>
          </p:cNvPr>
          <p:cNvSpPr/>
          <p:nvPr/>
        </p:nvSpPr>
        <p:spPr>
          <a:xfrm>
            <a:off x="7538665" y="364778"/>
            <a:ext cx="1312039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790" kern="0" spc="158" dirty="0">
                <a:solidFill>
                  <a:srgbClr val="8A949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16 / SCHLUSS</a:t>
            </a:r>
            <a:endParaRPr lang="en-US" sz="790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9AFB47D8-082E-6266-76E5-3C3065354BFA}"/>
              </a:ext>
            </a:extLst>
          </p:cNvPr>
          <p:cNvSpPr/>
          <p:nvPr/>
        </p:nvSpPr>
        <p:spPr>
          <a:xfrm>
            <a:off x="731490" y="575295"/>
            <a:ext cx="94704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60" b="1" kern="0" spc="156" dirty="0">
                <a:solidFill>
                  <a:srgbClr val="D8232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TRANSFER</a:t>
            </a:r>
            <a:endParaRPr lang="en-US" sz="860" dirty="0"/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F672C74D-574F-78A6-7B7C-CFBDBC773AC6}"/>
              </a:ext>
            </a:extLst>
          </p:cNvPr>
          <p:cNvSpPr/>
          <p:nvPr/>
        </p:nvSpPr>
        <p:spPr>
          <a:xfrm>
            <a:off x="731490" y="757014"/>
            <a:ext cx="7034979" cy="523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810"/>
              </a:spcBef>
              <a:buNone/>
            </a:pPr>
            <a:r>
              <a:rPr lang="en-US" sz="3240" b="1" kern="0" spc="-211" dirty="0" err="1">
                <a:solidFill>
                  <a:srgbClr val="F5F7F9"/>
                </a:solidFill>
                <a:latin typeface="Space Grotesk" pitchFamily="34" charset="0"/>
                <a:ea typeface="Space Grotesk" pitchFamily="34" charset="-122"/>
              </a:rPr>
              <a:t>Quellen</a:t>
            </a:r>
            <a:endParaRPr lang="en-US" sz="3240" dirty="0"/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A58A1558-5F83-7F16-C851-6BC2AD59EED3}"/>
              </a:ext>
            </a:extLst>
          </p:cNvPr>
          <p:cNvSpPr/>
          <p:nvPr/>
        </p:nvSpPr>
        <p:spPr>
          <a:xfrm>
            <a:off x="731490" y="1135559"/>
            <a:ext cx="3425190" cy="523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810"/>
              </a:spcBef>
              <a:buNone/>
            </a:pPr>
            <a:endParaRPr lang="en-US" sz="3240" dirty="0"/>
          </a:p>
        </p:txBody>
      </p:sp>
      <p:sp>
        <p:nvSpPr>
          <p:cNvPr id="20" name="Textfeld 19">
            <a:extLst>
              <a:ext uri="{FF2B5EF4-FFF2-40B4-BE49-F238E27FC236}">
                <a16:creationId xmlns:a16="http://schemas.microsoft.com/office/drawing/2014/main" id="{BC7DE684-BA37-CFC5-9BFA-18EA0AA09111}"/>
              </a:ext>
            </a:extLst>
          </p:cNvPr>
          <p:cNvSpPr txBox="1"/>
          <p:nvPr/>
        </p:nvSpPr>
        <p:spPr>
          <a:xfrm>
            <a:off x="656693" y="1391648"/>
            <a:ext cx="718457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CH" dirty="0">
                <a:hlinkClick r:id="rId3"/>
              </a:rPr>
              <a:t>https://www.w3.org/TR/turtle/</a:t>
            </a:r>
            <a:endParaRPr lang="de-CH" dirty="0"/>
          </a:p>
          <a:p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19904149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2498</Words>
  <Application>Microsoft Office PowerPoint</Application>
  <PresentationFormat>Bildschirmpräsentation (16:9)</PresentationFormat>
  <Paragraphs>271</Paragraphs>
  <Slides>16</Slides>
  <Notes>16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16</vt:i4>
      </vt:variant>
    </vt:vector>
  </HeadingPairs>
  <TitlesOfParts>
    <vt:vector size="21" baseType="lpstr">
      <vt:lpstr>-apple-system</vt:lpstr>
      <vt:lpstr>Arial</vt:lpstr>
      <vt:lpstr>IBM Plex Mono</vt:lpstr>
      <vt:lpstr>Space Grotesk</vt:lpstr>
      <vt:lpstr>Office Theme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Schüpbach Michael BLW</cp:lastModifiedBy>
  <cp:revision>6</cp:revision>
  <dcterms:created xsi:type="dcterms:W3CDTF">2026-08-07T08:34:12Z</dcterms:created>
  <dcterms:modified xsi:type="dcterms:W3CDTF">2026-08-11T09:41:47Z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aa112399-b73b-40c1-8af2-919b124b9d91_Enabled">
    <vt:lpwstr>true</vt:lpwstr>
  </property>
  <property fmtid="{D5CDD505-2E9C-101B-9397-08002B2CF9AE}" pid="3" name="MSIP_Label_aa112399-b73b-40c1-8af2-919b124b9d91_SetDate">
    <vt:lpwstr>2026-08-07T08:39:04Z</vt:lpwstr>
  </property>
  <property fmtid="{D5CDD505-2E9C-101B-9397-08002B2CF9AE}" pid="4" name="MSIP_Label_aa112399-b73b-40c1-8af2-919b124b9d91_Method">
    <vt:lpwstr>Privileged</vt:lpwstr>
  </property>
  <property fmtid="{D5CDD505-2E9C-101B-9397-08002B2CF9AE}" pid="5" name="MSIP_Label_aa112399-b73b-40c1-8af2-919b124b9d91_Name">
    <vt:lpwstr>L2</vt:lpwstr>
  </property>
  <property fmtid="{D5CDD505-2E9C-101B-9397-08002B2CF9AE}" pid="6" name="MSIP_Label_aa112399-b73b-40c1-8af2-919b124b9d91_SiteId">
    <vt:lpwstr>6ae27add-8276-4a38-88c1-3a9c1f973767</vt:lpwstr>
  </property>
  <property fmtid="{D5CDD505-2E9C-101B-9397-08002B2CF9AE}" pid="7" name="MSIP_Label_aa112399-b73b-40c1-8af2-919b124b9d91_ActionId">
    <vt:lpwstr>1b206098-81cf-4b20-be56-aa32ce7c573b</vt:lpwstr>
  </property>
  <property fmtid="{D5CDD505-2E9C-101B-9397-08002B2CF9AE}" pid="8" name="MSIP_Label_aa112399-b73b-40c1-8af2-919b124b9d91_ContentBits">
    <vt:lpwstr>0</vt:lpwstr>
  </property>
  <property fmtid="{D5CDD505-2E9C-101B-9397-08002B2CF9AE}" pid="9" name="MSIP_Label_aa112399-b73b-40c1-8af2-919b124b9d91_Tag">
    <vt:lpwstr>10, 0, 1, 1</vt:lpwstr>
  </property>
</Properties>
</file>